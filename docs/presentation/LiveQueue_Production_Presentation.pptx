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4d8c2bc-3198-9f68-289f-6b63c3deef27}">
          <p14:sldIdLst>
            <p14:sldId id="256"/>
            <p14:sldId id="257"/>
            <p14:sldId id="258"/>
            <p14:sldId id="259"/>
          </p14:sldIdLst>
        </p14:section>
        <p14:section name="Architecture" id="{d15e1bf2-6905-9976-f4d8-90d7dcc67188}">
          <p14:sldIdLst>
            <p14:sldId id="260"/>
            <p14:sldId id="261"/>
            <p14:sldId id="270"/>
          </p14:sldIdLst>
        </p14:section>
        <p14:section name="Queue engine" id="{f832b7ad-a739-f5b9-d9db-d793879fcc13}">
          <p14:sldIdLst>
            <p14:sldId id="262"/>
            <p14:sldId id="263"/>
            <p14:sldId id="264"/>
          </p14:sldIdLst>
        </p14:section>
        <p14:section name="Product" id="{0494b43a-bcc9-b5ea-cca3-bafae06a8418}">
          <p14:sldIdLst>
            <p14:sldId id="265"/>
            <p14:sldId id="266"/>
            <p14:sldId id="267"/>
          </p14:sldIdLst>
        </p14:section>
        <p14:section name="Trust" id="{e3957cbe-b583-c2ce-990d-a40eab71f9cd}">
          <p14:sldIdLst>
            <p14:sldId id="268"/>
            <p14:sldId id="269"/>
          </p14:sldIdLst>
        </p14:section>
        <p14:section name="Delivery" id="{6c373a7c-2e38-2607-6e2e-d302581390f3}">
          <p14:sldIdLst>
            <p14:sldId id="271"/>
            <p14:sldId id="272"/>
          </p14:sldIdLst>
        </p14:section>
        <p14:section name="Capacity, cost and scaling" id="{e0a89dc2-51b6-3d79-f3ba-4f16b0ff872e}">
          <p14:sldIdLst>
            <p14:sldId id="273"/>
          </p14:sldIdLst>
        </p14:section>
        <p14:section name="Capacity" id="{98f543c0-5299-cf5f-a23d-3bf375cd7577}">
          <p14:sldIdLst>
            <p14:sldId id="274"/>
            <p14:sldId id="275"/>
            <p14:sldId id="276"/>
            <p14:sldId id="277"/>
            <p14:sldId id="278"/>
          </p14:sldIdLst>
        </p14:section>
        <p14:section name="Scaling" id="{279e3158-b589-93f3-61df-e77ded5be4a0}">
          <p14:sldIdLst>
            <p14:sldId id="279"/>
            <p14:sldId id="280"/>
            <p14:sldId id="281"/>
          </p14:sldIdLst>
        </p14:section>
        <p14:section name="Demo" id="{04698e45-6ab8-3672-69ba-24ac923c5a8b}">
          <p14:sldIdLst>
            <p14:sldId id="282"/>
          </p14:sldIdLst>
        </p14:section>
        <p14:section name="Conclusion" id="{f7ee7eb0-dcb9-acc9-e781-8ba0705fd3cd}">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C2B4B"/>
                </a:solidFill>
                <a:latin typeface="+mn-lt"/>
              </a:defRPr>
            </a:pPr>
            <a:r>
              <a:rPr sz="1100" b="0" i="0" u="none" strike="noStrike">
                <a:solidFill>
                  <a:srgbClr val="0C2B4B"/>
                </a:solidFill>
                <a:latin typeface="+mn-lt"/>
              </a:rPr>
              <a:t>Socket bytes to one staff tab per serve cycle (MEASURED, local)</a:t>
            </a:r>
          </a:p>
        </c:rich>
      </c:tx>
      <c:layout/>
      <c:overlay val="0"/>
    </c:title>
    <c:autoTitleDeleted val="0"/>
    <c:plotArea>
      <c:layout/>
      <c:barChart>
        <c:barDir val="col"/>
        <c:grouping val="clustered"/>
        <c:varyColors val="0"/>
        <c:ser>
          <c:idx val="0"/>
          <c:order val="0"/>
          <c:tx>
            <c:strRef>
              <c:f>Sheet1!$B$1</c:f>
              <c:strCache>
                <c:ptCount val="1"/>
                <c:pt idx="0">
                  <c:v>KB per serve cycle</c:v>
                </c:pt>
              </c:strCache>
            </c:strRef>
          </c:tx>
          <c:spPr>
            <a:solidFill>
              <a:srgbClr val="0F539E"/>
            </a:solidFill>
            <a:effectLst/>
          </c:spPr>
          <c:invertIfNegative val="0"/>
          <c:dLbls>
            <c:numFmt formatCode="#,##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50 waiting</c:v>
                  </c:pt>
                  <c:pt idx="1">
                    <c:v>500 waiting</c:v>
                  </c:pt>
                  <c:pt idx="2">
                    <c:v>2,000 waiting</c:v>
                  </c:pt>
                </c:lvl>
              </c:multiLvlStrCache>
            </c:multiLvlStrRef>
          </c:cat>
          <c:val>
            <c:numRef>
              <c:f>Sheet1!$B$2:$B$4</c:f>
              <c:numCache>
                <c:formatCode>General</c:formatCode>
                <c:ptCount val="3"/>
                <c:pt idx="0">
                  <c:v>53</c:v>
                </c:pt>
                <c:pt idx="1">
                  <c:v>474</c:v>
                </c:pt>
                <c:pt idx="2">
                  <c:v>1884</c:v>
                </c:pt>
              </c:numCache>
            </c:numRef>
          </c:val>
        </c:ser>
        <c:dLbls>
          <c:numFmt formatCode="#,##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LiveQueue in one sentence: a live digital queue for organizations — visitors join from a QR code on Android or iPhone, staff serve from counters in a web dashboard, and everyone sees updates in real time. It is deployed and in production, with Android release v1.0.6 published. Replace the bracketed presenter placeholders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from three viewpoints: visitors don't know how long they will wait and have to stand in a crowd; staff juggle several counters and services without a shared view; administrators can't see or audit what happened. Multi-service visits — e.g. an enquiry followed by a payment — make every one of these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implemented and in production, including the Floating Counter Console, which went live on 9 October 2026. The key idea: one backend owns the queue, and three kinds of client — Android, iPhone browser and the staff dashboard — stay in sync through realtime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split. The Organization Head and Manager govern the whole organization; neither serves people. Each Admin owns an isolated workspace with at most one live queue — that is a product rule enforced by a unique index in the database. Executives belong to exactly one Admin and serve from a counter. Workspace isolation means an Admin never sees another Admin's queue, history, audit or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Three clients. One backend process on Render runs the REST API, the Socket.io server and two schedulers. PostgreSQL on Neon is the single source of truth via Prisma. Static dashboard and portal are served by Cloudflare Pages — note that API traffic goes straight to Render, not through Cloudflare. Notifications fan out to FCM for the Android app, Web Push for iPhone/iPad visitors who added the Safari portal to their Home Screen, and Resend for email. The Floating Counter Console is a fourth staff surface, live in production: it shares the dashboard's session, data cache and Socket.io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lanes. Top: every read and write is a REST request that is authenticated, validated, authorized and usually wrapped in a transaction. Bottom: Socket.io tells clients that something changed. The staff dashboard batches the resulting refetches, so a burst of events costs one reload per view; the Android app and the iPhone/iPad portal apply the event payload directly, which the server builds with the same function as the REST read. Events are never replayed, so after a reconnect every client rejoins its rooms and re-reads the server's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state machine from tokenStateMachine.ts. Visitors can cancel only before service starts. Staff must give a reason to skip. On an ordered journey, completing a step that is not the last returns the token to WAITING for its next step — keeping the original arrival position. Clients only render the state; they never decide transitions.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visitor builds their own ordered journey from the queue's services, starting from the Admin's recommended order. Rules: 1 to 20 steps, a service may repeat but never twice in a row and not beyond its limit. Once the token exists the order is locked. Each step is served by a counter that handles that service. A referral sends the next step to a specific open counter, ahead of normal order but never interrupting anyone; if that counter closes, the referral keeps its priority at another counter that handles the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counter lifecycle. Open requires an operator, Paused keeps the operator, Off releases them. Assigning someone to an Off counter makes it Paused, never Open. Right: the most important design decision — the server decides who is next. Serve next sends only the queue id; the backend picks the earliest eligible person for the caller's own counter inside a transaction that locks the counter and compare-and-swaps the token, so two counters can never claim the same person and every device sees the same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Newest feature — implemented, tested and ready for review on its own branch, not yet deployed. It uses the browser's Document Picture-in-Picture API to keep a tiny console on top of other windows. It is a React portal from the dashboard's own app, so it shares the same session, cache and single Socket.io connection — there is no second dispatcher. Every button calls the same endpoints as the main page. Browsers without the API get an in-page dock that says honestly it cannot stay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 from the iPhone/iPad portal, with a fictional demo organization. One organization QR opens the list of queues; the visitor builds an ordered journey; the tracking page shows position, ETA and step progress live. On Android the Flutter app does the same with FCM notifications. Physical device checks are still pending and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queue event in the backend drives up to four channels. Socket.io updates any open screen instantly. Android devices get Firebase Cloud Messaging; iPhone home-screen web apps get standards Web Push through Apple's push service, signed with our VAPID key. A scheduler checks every minute for people whose turn is close and sends reminders. Email through Resend is for accounts and governance, plus visitor codes only on queues configured that way. Stress that delivery is best-effort — no channel is guaranteed.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makes LiveQueue usable by a real organization with staff turnover. A live queue can never lose its Admin: changing or removing that Admin requires choosing a replacement, and the queue and all Executives move in one transaction. The Head can hand the organization to a successor, verified with their password, an emailed code and a single-use 72-hour link. Every governance change and its audit record are written in the same transaction, and database triggers make history append-only.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controls that exist in code and are covered by tests. Right column: honest limitations. Worth mentioning: preparing this analysis we found every visitor shared one rate-limit bucket behind Render's proxy. That is fixed and live: limits now key on the real client address from Cloudflare's CF-Connecting-IP, with Express trust proxy deliberately left off so forged X-Forwarded-For headers are ignored. Verified in production from two machines on 9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core entities are shown. An Organization has Associates (the staff table), queues and audit history. A queue has services and counters; counters and services are many-to-many, which is how routing works. A token belongs to a queue and has ordered journey steps. Governance tables keep tenures, successions and workspace transfers. Point out the constraints at the bottom — these are what keep the rules true under concurrency.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topology on top: Cloudflare Pages for static files, one Render web service for the API and Socket.io, Neon for PostgreSQL. The backend deliberately runs a single instance because Socket.io has no cross-instance adapter yet. Bottom: the real release process used for v1.0.6 — feature branch and tests, merge to master, Render applies Prisma migrations before the new code starts, smoke checks, then a signed Android dry run that verifies the signer certificate, package, version and production API before 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what was verified automatically from what still needs a physical device. Test counts are for production master after the 9 October rollout. Emphasize: these are correctness tests; they are not load tests, and we have not run a formal load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Everything that follows is labelled: PROVIDER LIMIT from official pages checked on 8 October 2026, HARD LIMIT from our code, MEASURED locally on a development machine, or ESTIMATE. Nothing here is a load-test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points. First, the infrastructure costs nothing today, but the domain may have a separate registration cost that we have not verified. Second, capacity is about concurrency and traffic, not registered accounts: 100,000 accounts are just rows; what matters is how many sockets are open, how many queue events per second, and how long the queues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software limit on people waiting. The cost of each queue event grows with the queue length, because the server recomputes everyone's ETA and sends each waiting person an update. The chart shows bytes one staff dashboard receives per serve cycle, measured locally. We found, in a real browser, that one Serve next with 200 waiting caused hundreds of dashboard requests, and that every iPhone visitor re-read their ticket on every event. Both are fixed and live: one Serve next now costs 2 to 4 dashboard requests and zero visitor re-reads at 50, 200 or 500 waiting. Hence: comfortable up to about 300 to 500 waiting per queue on the free server, Android and iPhone alike — an estimate, not a load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Every row distinguishes the application rule from the infrastructure estimate. One Admin, one live queue is a product rule, not a hosting limit. No limit on organizations does not mean infinite organizations. The platform row is the one faculty will ask about: about twenty-five thousand visits a month on the free tiers, from formulas in the capacity document. SHORT ANSWER if asked: LiveQueue runs entirely on free tiers. There is no software limit on people per queue, queues per organization, or organizations. With the software fixes now live, we estimate the free deployment is comfortable for about five small organizations with similar business hours — about twenty-five thousand visits a month — and about 300 to 500 people waiting per queue. The first likely limit is Neon's free quotas: 5 GB of data transfer and 100 compute-hours a month. The first paid step is Neon Launch, roughly 10 to 20 dollars a month, then Render Starter at 7 dollars to remove cold starts. These are engineering estimates, not load-test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software bottlenecks we found are fixed and live since 9 October: the dashboard refetch storm, the iPhone portal's per-visitor re-reads, and the shared rate-limit bucket. What remains is infrastructure. Number one is Neon's free quotas: 5 GB of data transfer and 100 compute-hours a month — the reminder job queries every minute, so the database stays awake whenever the backend is. Then Render Free's small CPU and one-minute cold start, then Render's 5 GB outbound for long queues watched by many staff tabs, then Resend's 100 emails a day, but only for queues that email every visitor.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free software fixes are done and live, and bought roughly five times more headroom. The first paid step is Neon Launch — pay-as-you-go, about 10 to 20 dollars a month for one small always-busy compute, with 500 GB of egress included. Then Render Starter at 7 dollars for an always-on backend with five times the CPU. Resend Pro only if queues email every visitor. Render prices come from the pricing page as reported by third parties because the official page loads dynamically — confirm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one process holds every socket, so any event it emits reaches everyone. If you simply add a second Render instance, a visitor connected to instance two will not hear an event emitted by instance one. The fix is the Socket.io Redis adapter, which relays events between instances, plus moving rate-limit counters into Redis and handling sticky sessions or WebSocket-only transport. This is future architecture, not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0 was the free deployment before the fixes. Stage 1, software only and still free, is done and live since 9 October 2026 — that is where LiveQueue is today. Stage 2 is the first paid step at roughly 18 to 27 dollars a month. Stage 3 for a growing multi-organization platform. Stage 4 changes the architecture and should only be priced after a load test tells us how big it needs to be. All figures are estimates with pricing checked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each limitation on the left is true today. The right column is clearly future work — none of it is implemented. If asked about the desktop console: browser Picture-in-Picture already gives an always-on-top window with no install; a Tauri or Electron companion is an option only if that proves insufficient.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demo short and in this order. Use a demo organization, never real data. If the backend is asleep, open the dashboard five minutes early to wake it — the cold start is about a minute. If the internet or a provider is down, use the fallback: run locally, or show the recorded screenshots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in one breath: a real problem, solved with a production system — server-authoritative dispatch, realtime sync across three clients, strong governance and security, and an honest, measured scaling path. Then invite questions; the faculty Q&amp;A document has prepared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B4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C2B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82296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ph idx="101" type="body" hasCustomPrompt="1"/>
          </p:nvPr>
        </p:nvSpPr>
        <p:spPr>
          <a:xfrm>
            <a:off x="548640" y="2651760"/>
            <a:ext cx="8046720" cy="731520"/>
          </a:xfrm>
          <a:prstGeom prst="rect">
            <a:avLst/>
          </a:prstGeom>
          <a:noFill/>
          <a:ln/>
        </p:spPr>
        <p:txBody>
          <a:bodyPr wrap="square" rtlCol="0"/>
          <a:lstStyle>
            <a:lvl1pPr indent="0" marL="0">
              <a:buNone/>
              <a:defRPr lang="en-US" sz="1600" dirty="0">
                <a:solidFill>
                  <a:srgbClr val="AECDEB"/>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rtlCol="0"/>
          <a:lstStyle>
            <a:lvl1pPr algn="l" indent="0" marL="0">
              <a:buNone/>
              <a:defRPr lang="en-US" sz="2400" b="1" dirty="0">
                <a:solidFill>
                  <a:schemeClr val="tx2"/>
                </a:solidFill>
              </a:defRPr>
            </a:lvl1pPr>
          </a:lstStyle>
          <a:p>
            <a:pPr algn="l" indent="0" marL="0">
              <a:buNone/>
            </a:pPr>
            <a:endParaRPr lang="en-US" sz="2400" dirty="0"/>
          </a:p>
        </p:txBody>
      </p:sp>
      <p:sp>
        <p:nvSpPr>
          <p:cNvPr id="3" name="Text 0"/>
          <p:cNvSpPr/>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94A3B8"/>
                </a:solidFill>
              </a:rPr>
              <a:t>LiveQueue · Faculty presentation</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502920"/>
            <a:ext cx="2743200" cy="914400"/>
          </a:xfrm>
          <a:prstGeom prst="roundRect">
            <a:avLst>
              <a:gd name="adj" fmla="val 12000"/>
            </a:avLst>
          </a:prstGeom>
          <a:solidFill>
            <a:srgbClr val="FFFFFF"/>
          </a:solidFill>
          <a:ln w="12700">
            <a:solidFill>
              <a:srgbClr val="FFFFFF"/>
            </a:solidFill>
            <a:prstDash val="solid"/>
          </a:ln>
        </p:spPr>
      </p:sp>
      <p:pic>
        <p:nvPicPr>
          <p:cNvPr id="3" name="Image 0" descr="LiveQueue logo">    </p:cNvPr>
          <p:cNvPicPr>
            <a:picLocks noChangeAspect="1"/>
          </p:cNvPicPr>
          <p:nvPr/>
        </p:nvPicPr>
        <p:blipFill>
          <a:blip r:embed="rId1"/>
          <a:stretch>
            <a:fillRect/>
          </a:stretch>
        </p:blipFill>
        <p:spPr>
          <a:xfrm>
            <a:off x="685800" y="566928"/>
            <a:ext cx="2468880" cy="786384"/>
          </a:xfrm>
          <a:prstGeom prst="rect">
            <a:avLst/>
          </a:prstGeom>
        </p:spPr>
      </p:pic>
      <p:sp>
        <p:nvSpPr>
          <p:cNvPr id="4" name="Text 1"/>
          <p:cNvSpPr txBox="1"/>
          <p:nvPr/>
        </p:nvSpPr>
        <p:spPr>
          <a:xfrm>
            <a:off x="548640" y="1783080"/>
            <a:ext cx="8046720" cy="777240"/>
          </a:xfrm>
          <a:prstGeom prst="rect">
            <a:avLst/>
          </a:prstGeom>
          <a:noFill/>
          <a:ln/>
        </p:spPr>
        <p:txBody>
          <a:bodyPr wrap="square" lIns="0" tIns="0" rIns="0" bIns="0" rtlCol="0" anchor="t"/>
          <a:lstStyle/>
          <a:p>
            <a:pPr indent="0" marL="0">
              <a:buNone/>
            </a:pPr>
            <a:r>
              <a:rPr lang="en-US" sz="4400" b="1" dirty="0">
                <a:solidFill>
                  <a:schemeClr val="bg1"/>
                </a:solidFill>
              </a:rPr>
              <a:t>LiveQueue</a:t>
            </a:r>
            <a:endParaRPr lang="en-US" sz="4400" dirty="0"/>
          </a:p>
        </p:txBody>
      </p:sp>
      <p:sp>
        <p:nvSpPr>
          <p:cNvPr id="5" name="Text 2"/>
          <p:cNvSpPr txBox="1"/>
          <p:nvPr/>
        </p:nvSpPr>
        <p:spPr>
          <a:xfrm>
            <a:off x="548640" y="2560320"/>
            <a:ext cx="8046720" cy="457200"/>
          </a:xfrm>
          <a:prstGeom prst="rect">
            <a:avLst/>
          </a:prstGeom>
          <a:noFill/>
          <a:ln/>
        </p:spPr>
        <p:txBody>
          <a:bodyPr wrap="square" lIns="0" tIns="0" rIns="0" bIns="0" rtlCol="0" anchor="t"/>
          <a:lstStyle/>
          <a:p>
            <a:pPr indent="0" marL="0">
              <a:buNone/>
            </a:pPr>
            <a:r>
              <a:rPr lang="en-US" sz="2200" dirty="0">
                <a:solidFill>
                  <a:srgbClr val="AECDEB"/>
                </a:solidFill>
              </a:rPr>
              <a:t>A Real-Time Digital Queue Management Platform</a:t>
            </a:r>
            <a:endParaRPr lang="en-US" sz="2200" dirty="0"/>
          </a:p>
        </p:txBody>
      </p:sp>
      <p:sp>
        <p:nvSpPr>
          <p:cNvPr id="6" name="Text 3"/>
          <p:cNvSpPr txBox="1"/>
          <p:nvPr/>
        </p:nvSpPr>
        <p:spPr>
          <a:xfrm>
            <a:off x="548640" y="3063240"/>
            <a:ext cx="6949440" cy="548640"/>
          </a:xfrm>
          <a:prstGeom prst="rect">
            <a:avLst/>
          </a:prstGeom>
          <a:noFill/>
          <a:ln/>
        </p:spPr>
        <p:txBody>
          <a:bodyPr wrap="square" lIns="0" tIns="0" rIns="0" bIns="0" rtlCol="0" anchor="t"/>
          <a:lstStyle/>
          <a:p>
            <a:pPr indent="0" marL="0">
              <a:buNone/>
            </a:pPr>
            <a:r>
              <a:rPr lang="en-US" sz="1400" dirty="0">
                <a:solidFill>
                  <a:srgbClr val="D7E7F6"/>
                </a:solidFill>
              </a:rPr>
              <a:t>Join from a QR code, wait anywhere, get called the moment it is your turn — with server-authoritative dispatch across many counters.</a:t>
            </a:r>
            <a:endParaRPr lang="en-US" sz="1400" dirty="0"/>
          </a:p>
        </p:txBody>
      </p:sp>
      <p:sp>
        <p:nvSpPr>
          <p:cNvPr id="7" name="Shape 4"/>
          <p:cNvSpPr/>
          <p:nvPr/>
        </p:nvSpPr>
        <p:spPr>
          <a:xfrm>
            <a:off x="548640" y="3794760"/>
            <a:ext cx="2377440" cy="237744"/>
          </a:xfrm>
          <a:prstGeom prst="roundRect">
            <a:avLst>
              <a:gd name="adj" fmla="val 50000"/>
            </a:avLst>
          </a:prstGeom>
          <a:solidFill>
            <a:srgbClr val="DCFCE7"/>
          </a:solidFill>
          <a:ln w="12700">
            <a:solidFill>
              <a:srgbClr val="DCFCE7"/>
            </a:solidFill>
            <a:prstDash val="solid"/>
          </a:ln>
        </p:spPr>
      </p:sp>
      <p:sp>
        <p:nvSpPr>
          <p:cNvPr id="8" name="Text 5"/>
          <p:cNvSpPr txBox="1"/>
          <p:nvPr/>
        </p:nvSpPr>
        <p:spPr>
          <a:xfrm>
            <a:off x="548640" y="3794760"/>
            <a:ext cx="2377440" cy="237744"/>
          </a:xfrm>
          <a:prstGeom prst="rect">
            <a:avLst/>
          </a:prstGeom>
          <a:noFill/>
          <a:ln/>
        </p:spPr>
        <p:txBody>
          <a:bodyPr wrap="square" lIns="0" tIns="0" rIns="0" bIns="0" rtlCol="0" anchor="ctr"/>
          <a:lstStyle/>
          <a:p>
            <a:pPr algn="ctr" indent="0" marL="0">
              <a:buNone/>
            </a:pPr>
            <a:r>
              <a:rPr lang="en-US" sz="900" b="1" dirty="0">
                <a:solidFill>
                  <a:srgbClr val="15803D"/>
                </a:solidFill>
              </a:rPr>
              <a:t>In production · Android v1.0.6</a:t>
            </a:r>
            <a:endParaRPr lang="en-US" sz="900" dirty="0"/>
          </a:p>
        </p:txBody>
      </p:sp>
      <p:sp>
        <p:nvSpPr>
          <p:cNvPr id="9" name="Text 6"/>
          <p:cNvSpPr txBox="1"/>
          <p:nvPr/>
        </p:nvSpPr>
        <p:spPr>
          <a:xfrm>
            <a:off x="548640" y="4343400"/>
            <a:ext cx="8046720" cy="274320"/>
          </a:xfrm>
          <a:prstGeom prst="rect">
            <a:avLst/>
          </a:prstGeom>
          <a:noFill/>
          <a:ln/>
        </p:spPr>
        <p:txBody>
          <a:bodyPr wrap="square" lIns="0" tIns="0" rIns="0" bIns="0" rtlCol="0" anchor="t"/>
          <a:lstStyle/>
          <a:p>
            <a:pPr indent="0" marL="0">
              <a:buNone/>
            </a:pPr>
            <a:r>
              <a:rPr lang="en-US" sz="1100" dirty="0">
                <a:solidFill>
                  <a:srgbClr val="7BA9D8"/>
                </a:solidFill>
              </a:rPr>
              <a:t>Presenter: [Your name]   ·   Supervisor: [Name]   ·   [Department, University]   ·   [Date]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Queues are still physical and uncertain</a:t>
            </a:r>
            <a:endParaRPr lang="en-US" sz="2400" dirty="0"/>
          </a:p>
        </p:txBody>
      </p:sp>
      <p:sp>
        <p:nvSpPr>
          <p:cNvPr id="4" name="Shape 1"/>
          <p:cNvSpPr/>
          <p:nvPr/>
        </p:nvSpPr>
        <p:spPr>
          <a:xfrm>
            <a:off x="457200" y="1051560"/>
            <a:ext cx="2606040" cy="2514600"/>
          </a:xfrm>
          <a:prstGeom prst="roundRect">
            <a:avLst>
              <a:gd name="adj" fmla="val 2909"/>
            </a:avLst>
          </a:prstGeom>
          <a:solidFill>
            <a:srgbClr val="F8FAFC"/>
          </a:solidFill>
          <a:ln w="9525">
            <a:solidFill>
              <a:srgbClr val="CBD5E1"/>
            </a:solidFill>
            <a:prstDash val="solid"/>
          </a:ln>
        </p:spPr>
      </p:sp>
      <p:sp>
        <p:nvSpPr>
          <p:cNvPr id="5" name="Shape 2"/>
          <p:cNvSpPr/>
          <p:nvPr/>
        </p:nvSpPr>
        <p:spPr>
          <a:xfrm>
            <a:off x="640080" y="1234440"/>
            <a:ext cx="384048" cy="384048"/>
          </a:xfrm>
          <a:prstGeom prst="ellipse">
            <a:avLst/>
          </a:prstGeom>
          <a:solidFill>
            <a:srgbClr val="EEF5FC"/>
          </a:solidFill>
          <a:ln w="12700">
            <a:solidFill>
              <a:srgbClr val="D7E7F6"/>
            </a:solidFill>
            <a:prstDash val="solid"/>
          </a:ln>
        </p:spPr>
      </p:sp>
      <p:sp>
        <p:nvSpPr>
          <p:cNvPr id="6" name="Text 3"/>
          <p:cNvSpPr txBox="1"/>
          <p:nvPr/>
        </p:nvSpPr>
        <p:spPr>
          <a:xfrm>
            <a:off x="640080" y="123444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7" name="Text 4"/>
          <p:cNvSpPr txBox="1"/>
          <p:nvPr/>
        </p:nvSpPr>
        <p:spPr>
          <a:xfrm>
            <a:off x="1143000" y="1261872"/>
            <a:ext cx="1828800" cy="347472"/>
          </a:xfrm>
          <a:prstGeom prst="rect">
            <a:avLst/>
          </a:prstGeom>
          <a:noFill/>
          <a:ln/>
        </p:spPr>
        <p:txBody>
          <a:bodyPr wrap="square" lIns="0" tIns="0" rIns="0" bIns="0" rtlCol="0" anchor="ctr"/>
          <a:lstStyle/>
          <a:p>
            <a:pPr indent="0" marL="0">
              <a:buNone/>
            </a:pPr>
            <a:r>
              <a:rPr lang="en-US" sz="1600" b="1" dirty="0">
                <a:solidFill>
                  <a:schemeClr val="tx2"/>
                </a:solidFill>
              </a:rPr>
              <a:t>Visitors</a:t>
            </a:r>
            <a:endParaRPr lang="en-US" sz="1600" dirty="0"/>
          </a:p>
        </p:txBody>
      </p:sp>
      <p:sp>
        <p:nvSpPr>
          <p:cNvPr id="8" name="Text 5"/>
          <p:cNvSpPr txBox="1"/>
          <p:nvPr/>
        </p:nvSpPr>
        <p:spPr>
          <a:xfrm>
            <a:off x="640080" y="1783080"/>
            <a:ext cx="2286000" cy="16916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Stand in a crowd for an unknown time</a:t>
            </a:r>
            <a:endParaRPr lang="en-US" sz="1300" dirty="0"/>
          </a:p>
          <a:p>
            <a:pPr marL="177800" indent="-177800">
              <a:spcAft>
                <a:spcPts val="500"/>
              </a:spcAft>
              <a:buSzPct val="100000"/>
              <a:buChar char="•"/>
            </a:pPr>
            <a:r>
              <a:rPr lang="en-US" sz="1300" dirty="0">
                <a:solidFill>
                  <a:schemeClr val="tx1"/>
                </a:solidFill>
              </a:rPr>
              <a:t>No live update, easy to miss a call</a:t>
            </a:r>
            <a:endParaRPr lang="en-US" sz="1300" dirty="0"/>
          </a:p>
          <a:p>
            <a:pPr marL="177800" indent="-177800">
              <a:spcAft>
                <a:spcPts val="500"/>
              </a:spcAft>
              <a:buSzPct val="100000"/>
              <a:buChar char="•"/>
            </a:pPr>
            <a:r>
              <a:rPr lang="en-US" sz="1300" dirty="0">
                <a:solidFill>
                  <a:schemeClr val="tx1"/>
                </a:solidFill>
              </a:rPr>
              <a:t>Multi-step visits restart the wait</a:t>
            </a:r>
            <a:endParaRPr lang="en-US" sz="1300" dirty="0"/>
          </a:p>
        </p:txBody>
      </p:sp>
      <p:sp>
        <p:nvSpPr>
          <p:cNvPr id="9" name="Shape 6"/>
          <p:cNvSpPr/>
          <p:nvPr/>
        </p:nvSpPr>
        <p:spPr>
          <a:xfrm>
            <a:off x="3246120" y="1051560"/>
            <a:ext cx="2606040" cy="2514600"/>
          </a:xfrm>
          <a:prstGeom prst="roundRect">
            <a:avLst>
              <a:gd name="adj" fmla="val 2909"/>
            </a:avLst>
          </a:prstGeom>
          <a:solidFill>
            <a:srgbClr val="F8FAFC"/>
          </a:solidFill>
          <a:ln w="9525">
            <a:solidFill>
              <a:srgbClr val="CBD5E1"/>
            </a:solidFill>
            <a:prstDash val="solid"/>
          </a:ln>
        </p:spPr>
      </p:sp>
      <p:sp>
        <p:nvSpPr>
          <p:cNvPr id="10" name="Shape 7"/>
          <p:cNvSpPr/>
          <p:nvPr/>
        </p:nvSpPr>
        <p:spPr>
          <a:xfrm>
            <a:off x="3429000" y="1234440"/>
            <a:ext cx="384048" cy="384048"/>
          </a:xfrm>
          <a:prstGeom prst="ellipse">
            <a:avLst/>
          </a:prstGeom>
          <a:solidFill>
            <a:srgbClr val="EEF5FC"/>
          </a:solidFill>
          <a:ln w="12700">
            <a:solidFill>
              <a:srgbClr val="D7E7F6"/>
            </a:solidFill>
            <a:prstDash val="solid"/>
          </a:ln>
        </p:spPr>
      </p:sp>
      <p:sp>
        <p:nvSpPr>
          <p:cNvPr id="11" name="Text 8"/>
          <p:cNvSpPr txBox="1"/>
          <p:nvPr/>
        </p:nvSpPr>
        <p:spPr>
          <a:xfrm>
            <a:off x="3429000" y="123444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12" name="Text 9"/>
          <p:cNvSpPr txBox="1"/>
          <p:nvPr/>
        </p:nvSpPr>
        <p:spPr>
          <a:xfrm>
            <a:off x="3931920" y="1261872"/>
            <a:ext cx="1828800" cy="347472"/>
          </a:xfrm>
          <a:prstGeom prst="rect">
            <a:avLst/>
          </a:prstGeom>
          <a:noFill/>
          <a:ln/>
        </p:spPr>
        <p:txBody>
          <a:bodyPr wrap="square" lIns="0" tIns="0" rIns="0" bIns="0" rtlCol="0" anchor="ctr"/>
          <a:lstStyle/>
          <a:p>
            <a:pPr indent="0" marL="0">
              <a:buNone/>
            </a:pPr>
            <a:r>
              <a:rPr lang="en-US" sz="1600" b="1" dirty="0">
                <a:solidFill>
                  <a:schemeClr val="tx2"/>
                </a:solidFill>
              </a:rPr>
              <a:t>Counter staff</a:t>
            </a:r>
            <a:endParaRPr lang="en-US" sz="1600" dirty="0"/>
          </a:p>
        </p:txBody>
      </p:sp>
      <p:sp>
        <p:nvSpPr>
          <p:cNvPr id="13" name="Text 10"/>
          <p:cNvSpPr txBox="1"/>
          <p:nvPr/>
        </p:nvSpPr>
        <p:spPr>
          <a:xfrm>
            <a:off x="3429000" y="1783080"/>
            <a:ext cx="2286000" cy="16916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Who is next? Who was here first?</a:t>
            </a:r>
            <a:endParaRPr lang="en-US" sz="1300" dirty="0"/>
          </a:p>
          <a:p>
            <a:pPr marL="177800" indent="-177800">
              <a:spcAft>
                <a:spcPts val="500"/>
              </a:spcAft>
              <a:buSzPct val="100000"/>
              <a:buChar char="•"/>
            </a:pPr>
            <a:r>
              <a:rPr lang="en-US" sz="1300" dirty="0">
                <a:solidFill>
                  <a:schemeClr val="tx1"/>
                </a:solidFill>
              </a:rPr>
              <a:t>Several counters, several services</a:t>
            </a:r>
            <a:endParaRPr lang="en-US" sz="1300" dirty="0"/>
          </a:p>
          <a:p>
            <a:pPr marL="177800" indent="-177800">
              <a:spcAft>
                <a:spcPts val="500"/>
              </a:spcAft>
              <a:buSzPct val="100000"/>
              <a:buChar char="•"/>
            </a:pPr>
            <a:r>
              <a:rPr lang="en-US" sz="1300" dirty="0">
                <a:solidFill>
                  <a:schemeClr val="tx1"/>
                </a:solidFill>
              </a:rPr>
              <a:t>Hand-offs between counters are informal</a:t>
            </a:r>
            <a:endParaRPr lang="en-US" sz="1300" dirty="0"/>
          </a:p>
        </p:txBody>
      </p:sp>
      <p:sp>
        <p:nvSpPr>
          <p:cNvPr id="14" name="Shape 11"/>
          <p:cNvSpPr/>
          <p:nvPr/>
        </p:nvSpPr>
        <p:spPr>
          <a:xfrm>
            <a:off x="6035040" y="1051560"/>
            <a:ext cx="2606040" cy="2514600"/>
          </a:xfrm>
          <a:prstGeom prst="roundRect">
            <a:avLst>
              <a:gd name="adj" fmla="val 2909"/>
            </a:avLst>
          </a:prstGeom>
          <a:solidFill>
            <a:srgbClr val="F8FAFC"/>
          </a:solidFill>
          <a:ln w="9525">
            <a:solidFill>
              <a:srgbClr val="CBD5E1"/>
            </a:solidFill>
            <a:prstDash val="solid"/>
          </a:ln>
        </p:spPr>
      </p:sp>
      <p:sp>
        <p:nvSpPr>
          <p:cNvPr id="15" name="Shape 12"/>
          <p:cNvSpPr/>
          <p:nvPr/>
        </p:nvSpPr>
        <p:spPr>
          <a:xfrm>
            <a:off x="6217920" y="1234440"/>
            <a:ext cx="384048" cy="384048"/>
          </a:xfrm>
          <a:prstGeom prst="ellipse">
            <a:avLst/>
          </a:prstGeom>
          <a:solidFill>
            <a:srgbClr val="EEF5FC"/>
          </a:solidFill>
          <a:ln w="12700">
            <a:solidFill>
              <a:srgbClr val="D7E7F6"/>
            </a:solidFill>
            <a:prstDash val="solid"/>
          </a:ln>
        </p:spPr>
      </p:sp>
      <p:sp>
        <p:nvSpPr>
          <p:cNvPr id="16" name="Text 13"/>
          <p:cNvSpPr txBox="1"/>
          <p:nvPr/>
        </p:nvSpPr>
        <p:spPr>
          <a:xfrm>
            <a:off x="6217920" y="123444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17" name="Text 14"/>
          <p:cNvSpPr txBox="1"/>
          <p:nvPr/>
        </p:nvSpPr>
        <p:spPr>
          <a:xfrm>
            <a:off x="6720840" y="1261872"/>
            <a:ext cx="1828800" cy="347472"/>
          </a:xfrm>
          <a:prstGeom prst="rect">
            <a:avLst/>
          </a:prstGeom>
          <a:noFill/>
          <a:ln/>
        </p:spPr>
        <p:txBody>
          <a:bodyPr wrap="square" lIns="0" tIns="0" rIns="0" bIns="0" rtlCol="0" anchor="ctr"/>
          <a:lstStyle/>
          <a:p>
            <a:pPr indent="0" marL="0">
              <a:buNone/>
            </a:pPr>
            <a:r>
              <a:rPr lang="en-US" sz="1600" b="1" dirty="0">
                <a:solidFill>
                  <a:schemeClr val="tx2"/>
                </a:solidFill>
              </a:rPr>
              <a:t>Administrators</a:t>
            </a:r>
            <a:endParaRPr lang="en-US" sz="1600" dirty="0"/>
          </a:p>
        </p:txBody>
      </p:sp>
      <p:sp>
        <p:nvSpPr>
          <p:cNvPr id="18" name="Text 15"/>
          <p:cNvSpPr txBox="1"/>
          <p:nvPr/>
        </p:nvSpPr>
        <p:spPr>
          <a:xfrm>
            <a:off x="6217920" y="1783080"/>
            <a:ext cx="2286000" cy="16916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No visibility of load or idle counters</a:t>
            </a:r>
            <a:endParaRPr lang="en-US" sz="1300" dirty="0"/>
          </a:p>
          <a:p>
            <a:pPr marL="177800" indent="-177800">
              <a:spcAft>
                <a:spcPts val="500"/>
              </a:spcAft>
              <a:buSzPct val="100000"/>
              <a:buChar char="•"/>
            </a:pPr>
            <a:r>
              <a:rPr lang="en-US" sz="1300" dirty="0">
                <a:solidFill>
                  <a:schemeClr val="tx1"/>
                </a:solidFill>
              </a:rPr>
              <a:t>No record of who served whom</a:t>
            </a:r>
            <a:endParaRPr lang="en-US" sz="1300" dirty="0"/>
          </a:p>
          <a:p>
            <a:pPr marL="177800" indent="-177800">
              <a:spcAft>
                <a:spcPts val="500"/>
              </a:spcAft>
              <a:buSzPct val="100000"/>
              <a:buChar char="•"/>
            </a:pPr>
            <a:r>
              <a:rPr lang="en-US" sz="1300" dirty="0">
                <a:solidFill>
                  <a:schemeClr val="tx1"/>
                </a:solidFill>
              </a:rPr>
              <a:t>Hard to run several desks or teams</a:t>
            </a:r>
            <a:endParaRPr lang="en-US" sz="1300" dirty="0"/>
          </a:p>
        </p:txBody>
      </p:sp>
      <p:sp>
        <p:nvSpPr>
          <p:cNvPr id="19" name="Shape 16"/>
          <p:cNvSpPr/>
          <p:nvPr/>
        </p:nvSpPr>
        <p:spPr>
          <a:xfrm>
            <a:off x="457200" y="3840480"/>
            <a:ext cx="8183880" cy="640080"/>
          </a:xfrm>
          <a:prstGeom prst="roundRect">
            <a:avLst>
              <a:gd name="adj" fmla="val 11429"/>
            </a:avLst>
          </a:prstGeom>
          <a:solidFill>
            <a:srgbClr val="EEF5FC"/>
          </a:solidFill>
          <a:ln w="9525">
            <a:solidFill>
              <a:srgbClr val="D7E7F6"/>
            </a:solidFill>
            <a:prstDash val="solid"/>
          </a:ln>
        </p:spPr>
      </p:sp>
      <p:sp>
        <p:nvSpPr>
          <p:cNvPr id="20" name="Text 17"/>
          <p:cNvSpPr txBox="1"/>
          <p:nvPr/>
        </p:nvSpPr>
        <p:spPr>
          <a:xfrm>
            <a:off x="640080" y="3886200"/>
            <a:ext cx="7863840" cy="548640"/>
          </a:xfrm>
          <a:prstGeom prst="rect">
            <a:avLst/>
          </a:prstGeom>
          <a:noFill/>
          <a:ln/>
        </p:spPr>
        <p:txBody>
          <a:bodyPr wrap="square" lIns="0" tIns="0" rIns="0" bIns="0" rtlCol="0" anchor="ctr"/>
          <a:lstStyle/>
          <a:p>
            <a:pPr indent="0" marL="0">
              <a:buNone/>
            </a:pPr>
            <a:r>
              <a:rPr lang="en-US" sz="1300" b="1" dirty="0">
                <a:solidFill>
                  <a:schemeClr val="tx1"/>
                </a:solidFill>
              </a:rPr>
              <a:t>Multi-service visits </a:t>
            </a:r>
            <a:pPr indent="0" marL="0">
              <a:buNone/>
            </a:pPr>
            <a:r>
              <a:rPr lang="en-US" sz="1300" dirty="0">
                <a:solidFill>
                  <a:schemeClr val="tx1"/>
                </a:solidFill>
              </a:rPr>
              <a:t>(e.g. an enquiry, then a payment) make every one of these worse.</a:t>
            </a:r>
            <a:endParaRPr lang="en-US" sz="13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One live queue, shared by every device</a:t>
            </a:r>
            <a:endParaRPr lang="en-US" sz="2400" dirty="0"/>
          </a:p>
        </p:txBody>
      </p:sp>
      <p:sp>
        <p:nvSpPr>
          <p:cNvPr id="4" name="Shape 1"/>
          <p:cNvSpPr/>
          <p:nvPr/>
        </p:nvSpPr>
        <p:spPr>
          <a:xfrm>
            <a:off x="457200" y="1051560"/>
            <a:ext cx="1938528" cy="1508760"/>
          </a:xfrm>
          <a:prstGeom prst="roundRect">
            <a:avLst>
              <a:gd name="adj" fmla="val 4848"/>
            </a:avLst>
          </a:prstGeom>
          <a:solidFill>
            <a:srgbClr val="F8FAFC"/>
          </a:solidFill>
          <a:ln w="9525">
            <a:solidFill>
              <a:srgbClr val="CBD5E1"/>
            </a:solidFill>
            <a:prstDash val="solid"/>
          </a:ln>
        </p:spPr>
      </p:sp>
      <p:sp>
        <p:nvSpPr>
          <p:cNvPr id="5" name="Text 2"/>
          <p:cNvSpPr txBox="1"/>
          <p:nvPr/>
        </p:nvSpPr>
        <p:spPr>
          <a:xfrm>
            <a:off x="594360" y="1216152"/>
            <a:ext cx="1691640" cy="502920"/>
          </a:xfrm>
          <a:prstGeom prst="rect">
            <a:avLst/>
          </a:prstGeom>
          <a:noFill/>
          <a:ln/>
        </p:spPr>
        <p:txBody>
          <a:bodyPr wrap="square" lIns="0" tIns="0" rIns="0" bIns="0" rtlCol="0" anchor="t"/>
          <a:lstStyle/>
          <a:p>
            <a:pPr indent="0" marL="0">
              <a:buNone/>
            </a:pPr>
            <a:r>
              <a:rPr lang="en-US" sz="1400" b="1" dirty="0">
                <a:solidFill>
                  <a:schemeClr val="tx2"/>
                </a:solidFill>
              </a:rPr>
              <a:t>Organizations &amp; roles</a:t>
            </a:r>
            <a:endParaRPr lang="en-US" sz="1400" dirty="0"/>
          </a:p>
        </p:txBody>
      </p:sp>
      <p:sp>
        <p:nvSpPr>
          <p:cNvPr id="6" name="Text 3"/>
          <p:cNvSpPr txBox="1"/>
          <p:nvPr/>
        </p:nvSpPr>
        <p:spPr>
          <a:xfrm>
            <a:off x="594360" y="1764792"/>
            <a:ext cx="1691640" cy="731520"/>
          </a:xfrm>
          <a:prstGeom prst="rect">
            <a:avLst/>
          </a:prstGeom>
          <a:noFill/>
          <a:ln/>
        </p:spPr>
        <p:txBody>
          <a:bodyPr wrap="square" lIns="0" tIns="0" rIns="0" bIns="0" rtlCol="0" anchor="t"/>
          <a:lstStyle/>
          <a:p>
            <a:pPr indent="0" marL="0">
              <a:buNone/>
            </a:pPr>
            <a:r>
              <a:rPr lang="en-US" sz="1100" dirty="0">
                <a:solidFill>
                  <a:srgbClr val="475569"/>
                </a:solidFill>
              </a:rPr>
              <a:t>Head, Manager, Admin workspaces, Executives</a:t>
            </a:r>
            <a:endParaRPr lang="en-US" sz="1100" dirty="0"/>
          </a:p>
        </p:txBody>
      </p:sp>
      <p:sp>
        <p:nvSpPr>
          <p:cNvPr id="7" name="Shape 4"/>
          <p:cNvSpPr/>
          <p:nvPr/>
        </p:nvSpPr>
        <p:spPr>
          <a:xfrm>
            <a:off x="2542032" y="1051560"/>
            <a:ext cx="1938528" cy="1508760"/>
          </a:xfrm>
          <a:prstGeom prst="roundRect">
            <a:avLst>
              <a:gd name="adj" fmla="val 4848"/>
            </a:avLst>
          </a:prstGeom>
          <a:solidFill>
            <a:srgbClr val="F8FAFC"/>
          </a:solidFill>
          <a:ln w="9525">
            <a:solidFill>
              <a:srgbClr val="CBD5E1"/>
            </a:solidFill>
            <a:prstDash val="solid"/>
          </a:ln>
        </p:spPr>
      </p:sp>
      <p:sp>
        <p:nvSpPr>
          <p:cNvPr id="8" name="Text 5"/>
          <p:cNvSpPr txBox="1"/>
          <p:nvPr/>
        </p:nvSpPr>
        <p:spPr>
          <a:xfrm>
            <a:off x="2679192" y="1216152"/>
            <a:ext cx="1691640" cy="502920"/>
          </a:xfrm>
          <a:prstGeom prst="rect">
            <a:avLst/>
          </a:prstGeom>
          <a:noFill/>
          <a:ln/>
        </p:spPr>
        <p:txBody>
          <a:bodyPr wrap="square" lIns="0" tIns="0" rIns="0" bIns="0" rtlCol="0" anchor="t"/>
          <a:lstStyle/>
          <a:p>
            <a:pPr indent="0" marL="0">
              <a:buNone/>
            </a:pPr>
            <a:r>
              <a:rPr lang="en-US" sz="1400" b="1" dirty="0">
                <a:solidFill>
                  <a:schemeClr val="tx2"/>
                </a:solidFill>
              </a:rPr>
              <a:t>Queues &amp; counters</a:t>
            </a:r>
            <a:endParaRPr lang="en-US" sz="1400" dirty="0"/>
          </a:p>
        </p:txBody>
      </p:sp>
      <p:sp>
        <p:nvSpPr>
          <p:cNvPr id="9" name="Text 6"/>
          <p:cNvSpPr txBox="1"/>
          <p:nvPr/>
        </p:nvSpPr>
        <p:spPr>
          <a:xfrm>
            <a:off x="2679192" y="1764792"/>
            <a:ext cx="1691640" cy="731520"/>
          </a:xfrm>
          <a:prstGeom prst="rect">
            <a:avLst/>
          </a:prstGeom>
          <a:noFill/>
          <a:ln/>
        </p:spPr>
        <p:txBody>
          <a:bodyPr wrap="square" lIns="0" tIns="0" rIns="0" bIns="0" rtlCol="0" anchor="t"/>
          <a:lstStyle/>
          <a:p>
            <a:pPr indent="0" marL="0">
              <a:buNone/>
            </a:pPr>
            <a:r>
              <a:rPr lang="en-US" sz="1100" dirty="0">
                <a:solidFill>
                  <a:srgbClr val="475569"/>
                </a:solidFill>
              </a:rPr>
              <a:t>Many counters per queue · Open / Paused / Off</a:t>
            </a:r>
            <a:endParaRPr lang="en-US" sz="1100" dirty="0"/>
          </a:p>
        </p:txBody>
      </p:sp>
      <p:sp>
        <p:nvSpPr>
          <p:cNvPr id="10" name="Shape 7"/>
          <p:cNvSpPr/>
          <p:nvPr/>
        </p:nvSpPr>
        <p:spPr>
          <a:xfrm>
            <a:off x="4626864" y="1051560"/>
            <a:ext cx="1938528" cy="1508760"/>
          </a:xfrm>
          <a:prstGeom prst="roundRect">
            <a:avLst>
              <a:gd name="adj" fmla="val 4848"/>
            </a:avLst>
          </a:prstGeom>
          <a:solidFill>
            <a:srgbClr val="F8FAFC"/>
          </a:solidFill>
          <a:ln w="9525">
            <a:solidFill>
              <a:srgbClr val="CBD5E1"/>
            </a:solidFill>
            <a:prstDash val="solid"/>
          </a:ln>
        </p:spPr>
      </p:sp>
      <p:sp>
        <p:nvSpPr>
          <p:cNvPr id="11" name="Text 8"/>
          <p:cNvSpPr txBox="1"/>
          <p:nvPr/>
        </p:nvSpPr>
        <p:spPr>
          <a:xfrm>
            <a:off x="4764024" y="1216152"/>
            <a:ext cx="1691640" cy="502920"/>
          </a:xfrm>
          <a:prstGeom prst="rect">
            <a:avLst/>
          </a:prstGeom>
          <a:noFill/>
          <a:ln/>
        </p:spPr>
        <p:txBody>
          <a:bodyPr wrap="square" lIns="0" tIns="0" rIns="0" bIns="0" rtlCol="0" anchor="t"/>
          <a:lstStyle/>
          <a:p>
            <a:pPr indent="0" marL="0">
              <a:buNone/>
            </a:pPr>
            <a:r>
              <a:rPr lang="en-US" sz="1400" b="1" dirty="0">
                <a:solidFill>
                  <a:schemeClr val="tx2"/>
                </a:solidFill>
              </a:rPr>
              <a:t>QR entry</a:t>
            </a:r>
            <a:endParaRPr lang="en-US" sz="1400" dirty="0"/>
          </a:p>
        </p:txBody>
      </p:sp>
      <p:sp>
        <p:nvSpPr>
          <p:cNvPr id="12" name="Text 9"/>
          <p:cNvSpPr txBox="1"/>
          <p:nvPr/>
        </p:nvSpPr>
        <p:spPr>
          <a:xfrm>
            <a:off x="4764024" y="1764792"/>
            <a:ext cx="1691640" cy="731520"/>
          </a:xfrm>
          <a:prstGeom prst="rect">
            <a:avLst/>
          </a:prstGeom>
          <a:noFill/>
          <a:ln/>
        </p:spPr>
        <p:txBody>
          <a:bodyPr wrap="square" lIns="0" tIns="0" rIns="0" bIns="0" rtlCol="0" anchor="t"/>
          <a:lstStyle/>
          <a:p>
            <a:pPr indent="0" marL="0">
              <a:buNone/>
            </a:pPr>
            <a:r>
              <a:rPr lang="en-US" sz="1100" dirty="0">
                <a:solidFill>
                  <a:srgbClr val="475569"/>
                </a:solidFill>
              </a:rPr>
              <a:t>One organization QR → choose a queue</a:t>
            </a:r>
            <a:endParaRPr lang="en-US" sz="1100" dirty="0"/>
          </a:p>
        </p:txBody>
      </p:sp>
      <p:sp>
        <p:nvSpPr>
          <p:cNvPr id="13" name="Shape 10"/>
          <p:cNvSpPr/>
          <p:nvPr/>
        </p:nvSpPr>
        <p:spPr>
          <a:xfrm>
            <a:off x="6711696" y="1051560"/>
            <a:ext cx="1938528" cy="1508760"/>
          </a:xfrm>
          <a:prstGeom prst="roundRect">
            <a:avLst>
              <a:gd name="adj" fmla="val 4848"/>
            </a:avLst>
          </a:prstGeom>
          <a:solidFill>
            <a:srgbClr val="F8FAFC"/>
          </a:solidFill>
          <a:ln w="9525">
            <a:solidFill>
              <a:srgbClr val="CBD5E1"/>
            </a:solidFill>
            <a:prstDash val="solid"/>
          </a:ln>
        </p:spPr>
      </p:sp>
      <p:sp>
        <p:nvSpPr>
          <p:cNvPr id="14" name="Text 11"/>
          <p:cNvSpPr txBox="1"/>
          <p:nvPr/>
        </p:nvSpPr>
        <p:spPr>
          <a:xfrm>
            <a:off x="6848856" y="1216152"/>
            <a:ext cx="1691640" cy="502920"/>
          </a:xfrm>
          <a:prstGeom prst="rect">
            <a:avLst/>
          </a:prstGeom>
          <a:noFill/>
          <a:ln/>
        </p:spPr>
        <p:txBody>
          <a:bodyPr wrap="square" lIns="0" tIns="0" rIns="0" bIns="0" rtlCol="0" anchor="t"/>
          <a:lstStyle/>
          <a:p>
            <a:pPr indent="0" marL="0">
              <a:buNone/>
            </a:pPr>
            <a:r>
              <a:rPr lang="en-US" sz="1400" b="1" dirty="0">
                <a:solidFill>
                  <a:schemeClr val="tx2"/>
                </a:solidFill>
              </a:rPr>
              <a:t>Ordered journeys</a:t>
            </a:r>
            <a:endParaRPr lang="en-US" sz="1400" dirty="0"/>
          </a:p>
        </p:txBody>
      </p:sp>
      <p:sp>
        <p:nvSpPr>
          <p:cNvPr id="15" name="Text 12"/>
          <p:cNvSpPr txBox="1"/>
          <p:nvPr/>
        </p:nvSpPr>
        <p:spPr>
          <a:xfrm>
            <a:off x="6848856" y="1764792"/>
            <a:ext cx="1691640" cy="731520"/>
          </a:xfrm>
          <a:prstGeom prst="rect">
            <a:avLst/>
          </a:prstGeom>
          <a:noFill/>
          <a:ln/>
        </p:spPr>
        <p:txBody>
          <a:bodyPr wrap="square" lIns="0" tIns="0" rIns="0" bIns="0" rtlCol="0" anchor="t"/>
          <a:lstStyle/>
          <a:p>
            <a:pPr indent="0" marL="0">
              <a:buNone/>
            </a:pPr>
            <a:r>
              <a:rPr lang="en-US" sz="1100" dirty="0">
                <a:solidFill>
                  <a:srgbClr val="475569"/>
                </a:solidFill>
              </a:rPr>
              <a:t>Several services in a chosen order · referrals</a:t>
            </a:r>
            <a:endParaRPr lang="en-US" sz="1100" dirty="0"/>
          </a:p>
        </p:txBody>
      </p:sp>
      <p:sp>
        <p:nvSpPr>
          <p:cNvPr id="16" name="Shape 13"/>
          <p:cNvSpPr/>
          <p:nvPr/>
        </p:nvSpPr>
        <p:spPr>
          <a:xfrm>
            <a:off x="457200" y="2743200"/>
            <a:ext cx="1938528" cy="1508760"/>
          </a:xfrm>
          <a:prstGeom prst="roundRect">
            <a:avLst>
              <a:gd name="adj" fmla="val 4848"/>
            </a:avLst>
          </a:prstGeom>
          <a:solidFill>
            <a:srgbClr val="F8FAFC"/>
          </a:solidFill>
          <a:ln w="9525">
            <a:solidFill>
              <a:srgbClr val="CBD5E1"/>
            </a:solidFill>
            <a:prstDash val="solid"/>
          </a:ln>
        </p:spPr>
      </p:sp>
      <p:sp>
        <p:nvSpPr>
          <p:cNvPr id="17" name="Text 14"/>
          <p:cNvSpPr txBox="1"/>
          <p:nvPr/>
        </p:nvSpPr>
        <p:spPr>
          <a:xfrm>
            <a:off x="594360" y="2907792"/>
            <a:ext cx="1691640" cy="502920"/>
          </a:xfrm>
          <a:prstGeom prst="rect">
            <a:avLst/>
          </a:prstGeom>
          <a:noFill/>
          <a:ln/>
        </p:spPr>
        <p:txBody>
          <a:bodyPr wrap="square" lIns="0" tIns="0" rIns="0" bIns="0" rtlCol="0" anchor="t"/>
          <a:lstStyle/>
          <a:p>
            <a:pPr indent="0" marL="0">
              <a:buNone/>
            </a:pPr>
            <a:r>
              <a:rPr lang="en-US" sz="1400" b="1" dirty="0">
                <a:solidFill>
                  <a:schemeClr val="tx2"/>
                </a:solidFill>
              </a:rPr>
              <a:t>Live updates</a:t>
            </a:r>
            <a:endParaRPr lang="en-US" sz="1400" dirty="0"/>
          </a:p>
        </p:txBody>
      </p:sp>
      <p:sp>
        <p:nvSpPr>
          <p:cNvPr id="18" name="Text 15"/>
          <p:cNvSpPr txBox="1"/>
          <p:nvPr/>
        </p:nvSpPr>
        <p:spPr>
          <a:xfrm>
            <a:off x="594360" y="3456432"/>
            <a:ext cx="1691640" cy="731520"/>
          </a:xfrm>
          <a:prstGeom prst="rect">
            <a:avLst/>
          </a:prstGeom>
          <a:noFill/>
          <a:ln/>
        </p:spPr>
        <p:txBody>
          <a:bodyPr wrap="square" lIns="0" tIns="0" rIns="0" bIns="0" rtlCol="0" anchor="t"/>
          <a:lstStyle/>
          <a:p>
            <a:pPr indent="0" marL="0">
              <a:buNone/>
            </a:pPr>
            <a:r>
              <a:rPr lang="en-US" sz="1100" dirty="0">
                <a:solidFill>
                  <a:srgbClr val="475569"/>
                </a:solidFill>
              </a:rPr>
              <a:t>Socket.io: position, ETA, called, done</a:t>
            </a:r>
            <a:endParaRPr lang="en-US" sz="1100" dirty="0"/>
          </a:p>
        </p:txBody>
      </p:sp>
      <p:sp>
        <p:nvSpPr>
          <p:cNvPr id="19" name="Shape 16"/>
          <p:cNvSpPr/>
          <p:nvPr/>
        </p:nvSpPr>
        <p:spPr>
          <a:xfrm>
            <a:off x="2542032" y="2743200"/>
            <a:ext cx="1938528" cy="1508760"/>
          </a:xfrm>
          <a:prstGeom prst="roundRect">
            <a:avLst>
              <a:gd name="adj" fmla="val 4848"/>
            </a:avLst>
          </a:prstGeom>
          <a:solidFill>
            <a:srgbClr val="F8FAFC"/>
          </a:solidFill>
          <a:ln w="9525">
            <a:solidFill>
              <a:srgbClr val="CBD5E1"/>
            </a:solidFill>
            <a:prstDash val="solid"/>
          </a:ln>
        </p:spPr>
      </p:sp>
      <p:sp>
        <p:nvSpPr>
          <p:cNvPr id="20" name="Text 17"/>
          <p:cNvSpPr txBox="1"/>
          <p:nvPr/>
        </p:nvSpPr>
        <p:spPr>
          <a:xfrm>
            <a:off x="2679192" y="2907792"/>
            <a:ext cx="1691640" cy="502920"/>
          </a:xfrm>
          <a:prstGeom prst="rect">
            <a:avLst/>
          </a:prstGeom>
          <a:noFill/>
          <a:ln/>
        </p:spPr>
        <p:txBody>
          <a:bodyPr wrap="square" lIns="0" tIns="0" rIns="0" bIns="0" rtlCol="0" anchor="t"/>
          <a:lstStyle/>
          <a:p>
            <a:pPr indent="0" marL="0">
              <a:buNone/>
            </a:pPr>
            <a:r>
              <a:rPr lang="en-US" sz="1400" b="1" dirty="0">
                <a:solidFill>
                  <a:schemeClr val="tx2"/>
                </a:solidFill>
              </a:rPr>
              <a:t>Notifications</a:t>
            </a:r>
            <a:endParaRPr lang="en-US" sz="1400" dirty="0"/>
          </a:p>
        </p:txBody>
      </p:sp>
      <p:sp>
        <p:nvSpPr>
          <p:cNvPr id="21" name="Text 18"/>
          <p:cNvSpPr txBox="1"/>
          <p:nvPr/>
        </p:nvSpPr>
        <p:spPr>
          <a:xfrm>
            <a:off x="2679192" y="3456432"/>
            <a:ext cx="1691640" cy="731520"/>
          </a:xfrm>
          <a:prstGeom prst="rect">
            <a:avLst/>
          </a:prstGeom>
          <a:noFill/>
          <a:ln/>
        </p:spPr>
        <p:txBody>
          <a:bodyPr wrap="square" lIns="0" tIns="0" rIns="0" bIns="0" rtlCol="0" anchor="t"/>
          <a:lstStyle/>
          <a:p>
            <a:pPr indent="0" marL="0">
              <a:buNone/>
            </a:pPr>
            <a:r>
              <a:rPr lang="en-US" sz="1100" dirty="0">
                <a:solidFill>
                  <a:srgbClr val="475569"/>
                </a:solidFill>
              </a:rPr>
              <a:t>Android FCM · iPhone Web Push · email</a:t>
            </a:r>
            <a:endParaRPr lang="en-US" sz="1100" dirty="0"/>
          </a:p>
        </p:txBody>
      </p:sp>
      <p:sp>
        <p:nvSpPr>
          <p:cNvPr id="22" name="Shape 19"/>
          <p:cNvSpPr/>
          <p:nvPr/>
        </p:nvSpPr>
        <p:spPr>
          <a:xfrm>
            <a:off x="4626864" y="2743200"/>
            <a:ext cx="1938528" cy="1508760"/>
          </a:xfrm>
          <a:prstGeom prst="roundRect">
            <a:avLst>
              <a:gd name="adj" fmla="val 4848"/>
            </a:avLst>
          </a:prstGeom>
          <a:solidFill>
            <a:srgbClr val="F8FAFC"/>
          </a:solidFill>
          <a:ln w="9525">
            <a:solidFill>
              <a:srgbClr val="CBD5E1"/>
            </a:solidFill>
            <a:prstDash val="solid"/>
          </a:ln>
        </p:spPr>
      </p:sp>
      <p:sp>
        <p:nvSpPr>
          <p:cNvPr id="23" name="Text 20"/>
          <p:cNvSpPr txBox="1"/>
          <p:nvPr/>
        </p:nvSpPr>
        <p:spPr>
          <a:xfrm>
            <a:off x="4764024" y="2907792"/>
            <a:ext cx="1691640" cy="502920"/>
          </a:xfrm>
          <a:prstGeom prst="rect">
            <a:avLst/>
          </a:prstGeom>
          <a:noFill/>
          <a:ln/>
        </p:spPr>
        <p:txBody>
          <a:bodyPr wrap="square" lIns="0" tIns="0" rIns="0" bIns="0" rtlCol="0" anchor="t"/>
          <a:lstStyle/>
          <a:p>
            <a:pPr indent="0" marL="0">
              <a:buNone/>
            </a:pPr>
            <a:r>
              <a:rPr lang="en-US" sz="1400" b="1" dirty="0">
                <a:solidFill>
                  <a:schemeClr val="tx2"/>
                </a:solidFill>
              </a:rPr>
              <a:t>Governance &amp; audit</a:t>
            </a:r>
            <a:endParaRPr lang="en-US" sz="1400" dirty="0"/>
          </a:p>
        </p:txBody>
      </p:sp>
      <p:sp>
        <p:nvSpPr>
          <p:cNvPr id="24" name="Text 21"/>
          <p:cNvSpPr txBox="1"/>
          <p:nvPr/>
        </p:nvSpPr>
        <p:spPr>
          <a:xfrm>
            <a:off x="4764024" y="3456432"/>
            <a:ext cx="1691640" cy="731520"/>
          </a:xfrm>
          <a:prstGeom prst="rect">
            <a:avLst/>
          </a:prstGeom>
          <a:noFill/>
          <a:ln/>
        </p:spPr>
        <p:txBody>
          <a:bodyPr wrap="square" lIns="0" tIns="0" rIns="0" bIns="0" rtlCol="0" anchor="t"/>
          <a:lstStyle/>
          <a:p>
            <a:pPr indent="0" marL="0">
              <a:buNone/>
            </a:pPr>
            <a:r>
              <a:rPr lang="en-US" sz="1100" dirty="0">
                <a:solidFill>
                  <a:srgbClr val="475569"/>
                </a:solidFill>
              </a:rPr>
              <a:t>Admin replacement · Head succession · immutable history</a:t>
            </a:r>
            <a:endParaRPr lang="en-US" sz="1100" dirty="0"/>
          </a:p>
        </p:txBody>
      </p:sp>
      <p:sp>
        <p:nvSpPr>
          <p:cNvPr id="25" name="Shape 22"/>
          <p:cNvSpPr/>
          <p:nvPr/>
        </p:nvSpPr>
        <p:spPr>
          <a:xfrm>
            <a:off x="6711696" y="2743200"/>
            <a:ext cx="1938528" cy="1508760"/>
          </a:xfrm>
          <a:prstGeom prst="roundRect">
            <a:avLst>
              <a:gd name="adj" fmla="val 4848"/>
            </a:avLst>
          </a:prstGeom>
          <a:solidFill>
            <a:srgbClr val="EEF5FC"/>
          </a:solidFill>
          <a:ln w="9525">
            <a:solidFill>
              <a:srgbClr val="D7E7F6"/>
            </a:solidFill>
            <a:prstDash val="solid"/>
          </a:ln>
        </p:spPr>
      </p:sp>
      <p:sp>
        <p:nvSpPr>
          <p:cNvPr id="26" name="Text 23"/>
          <p:cNvSpPr txBox="1"/>
          <p:nvPr/>
        </p:nvSpPr>
        <p:spPr>
          <a:xfrm>
            <a:off x="6848856" y="2907792"/>
            <a:ext cx="1691640" cy="502920"/>
          </a:xfrm>
          <a:prstGeom prst="rect">
            <a:avLst/>
          </a:prstGeom>
          <a:noFill/>
          <a:ln/>
        </p:spPr>
        <p:txBody>
          <a:bodyPr wrap="square" lIns="0" tIns="0" rIns="0" bIns="0" rtlCol="0" anchor="t"/>
          <a:lstStyle/>
          <a:p>
            <a:pPr indent="0" marL="0">
              <a:buNone/>
            </a:pPr>
            <a:r>
              <a:rPr lang="en-US" sz="1400" b="1" dirty="0">
                <a:solidFill>
                  <a:schemeClr val="tx2"/>
                </a:solidFill>
              </a:rPr>
              <a:t>Floating Counter Console</a:t>
            </a:r>
            <a:endParaRPr lang="en-US" sz="1400" dirty="0"/>
          </a:p>
        </p:txBody>
      </p:sp>
      <p:sp>
        <p:nvSpPr>
          <p:cNvPr id="27" name="Text 24"/>
          <p:cNvSpPr txBox="1"/>
          <p:nvPr/>
        </p:nvSpPr>
        <p:spPr>
          <a:xfrm>
            <a:off x="6848856" y="3456432"/>
            <a:ext cx="1691640" cy="731520"/>
          </a:xfrm>
          <a:prstGeom prst="rect">
            <a:avLst/>
          </a:prstGeom>
          <a:noFill/>
          <a:ln/>
        </p:spPr>
        <p:txBody>
          <a:bodyPr wrap="square" lIns="0" tIns="0" rIns="0" bIns="0" rtlCol="0" anchor="t"/>
          <a:lstStyle/>
          <a:p>
            <a:pPr indent="0" marL="0">
              <a:buNone/>
            </a:pPr>
            <a:r>
              <a:rPr lang="en-US" sz="1100" dirty="0">
                <a:solidFill>
                  <a:srgbClr val="475569"/>
                </a:solidFill>
              </a:rPr>
              <a:t>Always-visible serving controls (live)</a:t>
            </a:r>
            <a:endParaRPr lang="en-US" sz="1100" dirty="0"/>
          </a:p>
        </p:txBody>
      </p:sp>
      <p:sp>
        <p:nvSpPr>
          <p:cNvPr id="28" name="Text 25"/>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1100" dirty="0">
                <a:solidFill>
                  <a:srgbClr val="64748B"/>
                </a:solidFill>
              </a:rPr>
              <a:t>Clients: Flutter Android app · React staff dashboard · iPhone/iPad Safari portal (PWA)</a:t>
            </a:r>
            <a:endParaRPr lang="en-US" sz="11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Four roles: governance and operations</a:t>
            </a:r>
            <a:endParaRPr lang="en-US" sz="2400" dirty="0"/>
          </a:p>
        </p:txBody>
      </p:sp>
      <p:sp>
        <p:nvSpPr>
          <p:cNvPr id="4" name="Shape 1"/>
          <p:cNvSpPr/>
          <p:nvPr/>
        </p:nvSpPr>
        <p:spPr>
          <a:xfrm>
            <a:off x="457200" y="1005840"/>
            <a:ext cx="5394960" cy="1143000"/>
          </a:xfrm>
          <a:prstGeom prst="roundRect">
            <a:avLst>
              <a:gd name="adj" fmla="val 6400"/>
            </a:avLst>
          </a:prstGeom>
          <a:solidFill>
            <a:srgbClr val="EEF5FC"/>
          </a:solidFill>
          <a:ln w="9525">
            <a:solidFill>
              <a:srgbClr val="D7E7F6"/>
            </a:solidFill>
            <a:prstDash val="solid"/>
          </a:ln>
        </p:spPr>
      </p:sp>
      <p:sp>
        <p:nvSpPr>
          <p:cNvPr id="5" name="Text 2"/>
          <p:cNvSpPr txBox="1"/>
          <p:nvPr/>
        </p:nvSpPr>
        <p:spPr>
          <a:xfrm>
            <a:off x="594360" y="1051560"/>
            <a:ext cx="1828800" cy="228600"/>
          </a:xfrm>
          <a:prstGeom prst="rect">
            <a:avLst/>
          </a:prstGeom>
          <a:noFill/>
          <a:ln/>
        </p:spPr>
        <p:txBody>
          <a:bodyPr wrap="square" lIns="0" tIns="0" rIns="0" bIns="0" rtlCol="0" anchor="t"/>
          <a:lstStyle/>
          <a:p>
            <a:pPr indent="0" marL="0">
              <a:buNone/>
            </a:pPr>
            <a:r>
              <a:rPr lang="en-US" sz="900" b="1" dirty="0">
                <a:solidFill>
                  <a:schemeClr val="accent1"/>
                </a:solidFill>
              </a:rPr>
              <a:t>GOVERNANCE</a:t>
            </a:r>
            <a:endParaRPr lang="en-US" sz="900" dirty="0"/>
          </a:p>
        </p:txBody>
      </p:sp>
      <p:sp>
        <p:nvSpPr>
          <p:cNvPr id="6" name="Shape 3"/>
          <p:cNvSpPr/>
          <p:nvPr/>
        </p:nvSpPr>
        <p:spPr>
          <a:xfrm>
            <a:off x="731520" y="1325880"/>
            <a:ext cx="2286000" cy="685800"/>
          </a:xfrm>
          <a:prstGeom prst="roundRect">
            <a:avLst>
              <a:gd name="adj" fmla="val 10667"/>
            </a:avLst>
          </a:prstGeom>
          <a:solidFill>
            <a:srgbClr val="0C2B4B"/>
          </a:solidFill>
          <a:ln w="9525">
            <a:solidFill>
              <a:srgbClr val="0C2B4B"/>
            </a:solidFill>
            <a:prstDash val="solid"/>
          </a:ln>
        </p:spPr>
      </p:sp>
      <p:sp>
        <p:nvSpPr>
          <p:cNvPr id="7" name="Text 4"/>
          <p:cNvSpPr txBox="1"/>
          <p:nvPr/>
        </p:nvSpPr>
        <p:spPr>
          <a:xfrm>
            <a:off x="822960" y="1380744"/>
            <a:ext cx="2103120" cy="576072"/>
          </a:xfrm>
          <a:prstGeom prst="rect">
            <a:avLst/>
          </a:prstGeom>
          <a:noFill/>
          <a:ln/>
        </p:spPr>
        <p:txBody>
          <a:bodyPr wrap="square" lIns="0" tIns="0" rIns="0" bIns="0" rtlCol="0" anchor="ctr"/>
          <a:lstStyle/>
          <a:p>
            <a:pPr algn="ctr" indent="0" marL="0">
              <a:buNone/>
            </a:pPr>
            <a:r>
              <a:rPr lang="en-US" sz="1200" b="1" dirty="0">
                <a:solidFill>
                  <a:schemeClr val="bg1"/>
                </a:solidFill>
              </a:rPr>
              <a:t>Organization Head</a:t>
            </a:r>
            <a:endParaRPr lang="en-US" sz="1200" dirty="0"/>
          </a:p>
          <a:p>
            <a:pPr algn="ctr" indent="0" marL="0">
              <a:buNone/>
            </a:pPr>
            <a:r>
              <a:rPr lang="en-US" sz="1000" dirty="0">
                <a:solidFill>
                  <a:srgbClr val="D7E7F6"/>
                </a:solidFill>
              </a:rPr>
              <a:t>Whole organization · exactly one</a:t>
            </a:r>
            <a:endParaRPr lang="en-US" sz="1200" dirty="0"/>
          </a:p>
        </p:txBody>
      </p:sp>
      <p:sp>
        <p:nvSpPr>
          <p:cNvPr id="8" name="Shape 5"/>
          <p:cNvSpPr/>
          <p:nvPr/>
        </p:nvSpPr>
        <p:spPr>
          <a:xfrm>
            <a:off x="3291840" y="1325880"/>
            <a:ext cx="2286000" cy="685800"/>
          </a:xfrm>
          <a:prstGeom prst="roundRect">
            <a:avLst>
              <a:gd name="adj" fmla="val 10667"/>
            </a:avLst>
          </a:prstGeom>
          <a:solidFill>
            <a:srgbClr val="FFFFFF"/>
          </a:solidFill>
          <a:ln w="9525">
            <a:solidFill>
              <a:srgbClr val="CBD5E1"/>
            </a:solidFill>
            <a:prstDash val="solid"/>
          </a:ln>
        </p:spPr>
      </p:sp>
      <p:sp>
        <p:nvSpPr>
          <p:cNvPr id="9" name="Text 6"/>
          <p:cNvSpPr txBox="1"/>
          <p:nvPr/>
        </p:nvSpPr>
        <p:spPr>
          <a:xfrm>
            <a:off x="3383280" y="1380744"/>
            <a:ext cx="2103120" cy="576072"/>
          </a:xfrm>
          <a:prstGeom prst="rect">
            <a:avLst/>
          </a:prstGeom>
          <a:noFill/>
          <a:ln/>
        </p:spPr>
        <p:txBody>
          <a:bodyPr wrap="square" lIns="0" tIns="0" rIns="0" bIns="0" rtlCol="0" anchor="ctr"/>
          <a:lstStyle/>
          <a:p>
            <a:pPr algn="ctr" indent="0" marL="0">
              <a:buNone/>
            </a:pPr>
            <a:r>
              <a:rPr lang="en-US" sz="1200" b="1" dirty="0">
                <a:solidFill>
                  <a:schemeClr val="tx1"/>
                </a:solidFill>
              </a:rPr>
              <a:t>Organization Manager</a:t>
            </a:r>
            <a:endParaRPr lang="en-US" sz="1200" dirty="0"/>
          </a:p>
          <a:p>
            <a:pPr algn="ctr" indent="0" marL="0">
              <a:buNone/>
            </a:pPr>
            <a:r>
              <a:rPr lang="en-US" sz="1000" dirty="0">
                <a:solidFill>
                  <a:srgbClr val="475569"/>
                </a:solidFill>
              </a:rPr>
              <a:t>Org-wide reports &amp; audit · no serving</a:t>
            </a:r>
            <a:endParaRPr lang="en-US" sz="1200" dirty="0"/>
          </a:p>
        </p:txBody>
      </p:sp>
      <p:sp>
        <p:nvSpPr>
          <p:cNvPr id="10" name="Shape 7"/>
          <p:cNvSpPr/>
          <p:nvPr/>
        </p:nvSpPr>
        <p:spPr>
          <a:xfrm>
            <a:off x="457200" y="2331720"/>
            <a:ext cx="5394960" cy="2240280"/>
          </a:xfrm>
          <a:prstGeom prst="roundRect">
            <a:avLst>
              <a:gd name="adj" fmla="val 3265"/>
            </a:avLst>
          </a:prstGeom>
          <a:solidFill>
            <a:srgbClr val="F8FAFC"/>
          </a:solidFill>
          <a:ln w="9525">
            <a:solidFill>
              <a:srgbClr val="CBD5E1"/>
            </a:solidFill>
            <a:prstDash val="solid"/>
          </a:ln>
        </p:spPr>
      </p:sp>
      <p:sp>
        <p:nvSpPr>
          <p:cNvPr id="11" name="Text 8"/>
          <p:cNvSpPr txBox="1"/>
          <p:nvPr/>
        </p:nvSpPr>
        <p:spPr>
          <a:xfrm>
            <a:off x="594360" y="2377440"/>
            <a:ext cx="3657600" cy="228600"/>
          </a:xfrm>
          <a:prstGeom prst="rect">
            <a:avLst/>
          </a:prstGeom>
          <a:noFill/>
          <a:ln/>
        </p:spPr>
        <p:txBody>
          <a:bodyPr wrap="square" lIns="0" tIns="0" rIns="0" bIns="0" rtlCol="0" anchor="t"/>
          <a:lstStyle/>
          <a:p>
            <a:pPr indent="0" marL="0">
              <a:buNone/>
            </a:pPr>
            <a:r>
              <a:rPr lang="en-US" sz="900" b="1" dirty="0">
                <a:solidFill>
                  <a:schemeClr val="accent2"/>
                </a:solidFill>
              </a:rPr>
              <a:t>OPERATIONS — isolated Admin workspaces</a:t>
            </a:r>
            <a:endParaRPr lang="en-US" sz="900" dirty="0"/>
          </a:p>
        </p:txBody>
      </p:sp>
      <p:sp>
        <p:nvSpPr>
          <p:cNvPr id="12" name="Shape 9"/>
          <p:cNvSpPr/>
          <p:nvPr/>
        </p:nvSpPr>
        <p:spPr>
          <a:xfrm>
            <a:off x="685800" y="2697480"/>
            <a:ext cx="2331720" cy="566928"/>
          </a:xfrm>
          <a:prstGeom prst="roundRect">
            <a:avLst>
              <a:gd name="adj" fmla="val 12903"/>
            </a:avLst>
          </a:prstGeom>
          <a:solidFill>
            <a:srgbClr val="FFFFFF"/>
          </a:solidFill>
          <a:ln w="9525">
            <a:solidFill>
              <a:srgbClr val="0F539E"/>
            </a:solidFill>
            <a:prstDash val="solid"/>
          </a:ln>
        </p:spPr>
      </p:sp>
      <p:sp>
        <p:nvSpPr>
          <p:cNvPr id="13" name="Text 10"/>
          <p:cNvSpPr txBox="1"/>
          <p:nvPr/>
        </p:nvSpPr>
        <p:spPr>
          <a:xfrm>
            <a:off x="777240" y="2752344"/>
            <a:ext cx="2148840" cy="457200"/>
          </a:xfrm>
          <a:prstGeom prst="rect">
            <a:avLst/>
          </a:prstGeom>
          <a:noFill/>
          <a:ln/>
        </p:spPr>
        <p:txBody>
          <a:bodyPr wrap="square" lIns="0" tIns="0" rIns="0" bIns="0" rtlCol="0" anchor="ctr"/>
          <a:lstStyle/>
          <a:p>
            <a:pPr algn="ctr" indent="0" marL="0">
              <a:buNone/>
            </a:pPr>
            <a:r>
              <a:rPr lang="en-US" sz="1200" b="1" dirty="0">
                <a:solidFill>
                  <a:schemeClr val="tx1"/>
                </a:solidFill>
              </a:rPr>
              <a:t>Admin A</a:t>
            </a:r>
            <a:endParaRPr lang="en-US" sz="1200" dirty="0"/>
          </a:p>
          <a:p>
            <a:pPr algn="ctr" indent="0" marL="0">
              <a:buNone/>
            </a:pPr>
            <a:r>
              <a:rPr lang="en-US" sz="1000" dirty="0">
                <a:solidFill>
                  <a:srgbClr val="475569"/>
                </a:solidFill>
              </a:rPr>
              <a:t>Owns ≤ 1 live queue</a:t>
            </a:r>
            <a:endParaRPr lang="en-US" sz="1200" dirty="0"/>
          </a:p>
        </p:txBody>
      </p:sp>
      <p:sp>
        <p:nvSpPr>
          <p:cNvPr id="14" name="Shape 11"/>
          <p:cNvSpPr/>
          <p:nvPr/>
        </p:nvSpPr>
        <p:spPr>
          <a:xfrm>
            <a:off x="685800" y="3520440"/>
            <a:ext cx="1097280" cy="502920"/>
          </a:xfrm>
          <a:prstGeom prst="roundRect">
            <a:avLst>
              <a:gd name="adj" fmla="val 14545"/>
            </a:avLst>
          </a:prstGeom>
          <a:solidFill>
            <a:srgbClr val="FFFFFF"/>
          </a:solidFill>
          <a:ln w="9525">
            <a:solidFill>
              <a:srgbClr val="CBD5E1"/>
            </a:solidFill>
            <a:prstDash val="solid"/>
          </a:ln>
        </p:spPr>
      </p:sp>
      <p:sp>
        <p:nvSpPr>
          <p:cNvPr id="15" name="Text 12"/>
          <p:cNvSpPr txBox="1"/>
          <p:nvPr/>
        </p:nvSpPr>
        <p:spPr>
          <a:xfrm>
            <a:off x="758952" y="3520440"/>
            <a:ext cx="950976" cy="502920"/>
          </a:xfrm>
          <a:prstGeom prst="rect">
            <a:avLst/>
          </a:prstGeom>
          <a:noFill/>
          <a:ln/>
        </p:spPr>
        <p:txBody>
          <a:bodyPr wrap="square" lIns="0" tIns="0" rIns="0" bIns="0" rtlCol="0" anchor="ctr"/>
          <a:lstStyle/>
          <a:p>
            <a:pPr algn="ctr" indent="0" marL="0">
              <a:buNone/>
            </a:pPr>
            <a:r>
              <a:rPr lang="en-US" sz="1050" b="1" dirty="0">
                <a:solidFill>
                  <a:schemeClr val="tx1"/>
                </a:solidFill>
              </a:rPr>
              <a:t>Executive</a:t>
            </a:r>
            <a:endParaRPr lang="en-US" sz="1050" dirty="0"/>
          </a:p>
        </p:txBody>
      </p:sp>
      <p:sp>
        <p:nvSpPr>
          <p:cNvPr id="16" name="Shape 13"/>
          <p:cNvSpPr/>
          <p:nvPr/>
        </p:nvSpPr>
        <p:spPr>
          <a:xfrm>
            <a:off x="1920240" y="3520440"/>
            <a:ext cx="1097280" cy="502920"/>
          </a:xfrm>
          <a:prstGeom prst="roundRect">
            <a:avLst>
              <a:gd name="adj" fmla="val 14545"/>
            </a:avLst>
          </a:prstGeom>
          <a:solidFill>
            <a:srgbClr val="FFFFFF"/>
          </a:solidFill>
          <a:ln w="9525">
            <a:solidFill>
              <a:srgbClr val="CBD5E1"/>
            </a:solidFill>
            <a:prstDash val="solid"/>
          </a:ln>
        </p:spPr>
      </p:sp>
      <p:sp>
        <p:nvSpPr>
          <p:cNvPr id="17" name="Text 14"/>
          <p:cNvSpPr txBox="1"/>
          <p:nvPr/>
        </p:nvSpPr>
        <p:spPr>
          <a:xfrm>
            <a:off x="1993392" y="3520440"/>
            <a:ext cx="950976" cy="502920"/>
          </a:xfrm>
          <a:prstGeom prst="rect">
            <a:avLst/>
          </a:prstGeom>
          <a:noFill/>
          <a:ln/>
        </p:spPr>
        <p:txBody>
          <a:bodyPr wrap="square" lIns="0" tIns="0" rIns="0" bIns="0" rtlCol="0" anchor="ctr"/>
          <a:lstStyle/>
          <a:p>
            <a:pPr algn="ctr" indent="0" marL="0">
              <a:buNone/>
            </a:pPr>
            <a:r>
              <a:rPr lang="en-US" sz="1050" b="1" dirty="0">
                <a:solidFill>
                  <a:schemeClr val="tx1"/>
                </a:solidFill>
              </a:rPr>
              <a:t>Executive</a:t>
            </a:r>
            <a:endParaRPr lang="en-US" sz="1050" dirty="0"/>
          </a:p>
        </p:txBody>
      </p:sp>
      <p:sp>
        <p:nvSpPr>
          <p:cNvPr id="18" name="Shape 15"/>
          <p:cNvSpPr/>
          <p:nvPr/>
        </p:nvSpPr>
        <p:spPr>
          <a:xfrm>
            <a:off x="1234440" y="3264408"/>
            <a:ext cx="914" cy="256032"/>
          </a:xfrm>
          <a:prstGeom prst="line">
            <a:avLst/>
          </a:prstGeom>
          <a:noFill/>
          <a:ln w="12700">
            <a:solidFill>
              <a:srgbClr val="475569"/>
            </a:solidFill>
            <a:prstDash val="solid"/>
            <a:tailEnd type="triangle"/>
          </a:ln>
        </p:spPr>
      </p:sp>
      <p:sp>
        <p:nvSpPr>
          <p:cNvPr id="19" name="Shape 16"/>
          <p:cNvSpPr/>
          <p:nvPr/>
        </p:nvSpPr>
        <p:spPr>
          <a:xfrm>
            <a:off x="2468880" y="3264408"/>
            <a:ext cx="914" cy="256032"/>
          </a:xfrm>
          <a:prstGeom prst="line">
            <a:avLst/>
          </a:prstGeom>
          <a:noFill/>
          <a:ln w="12700">
            <a:solidFill>
              <a:srgbClr val="475569"/>
            </a:solidFill>
            <a:prstDash val="solid"/>
            <a:tailEnd type="triangle"/>
          </a:ln>
        </p:spPr>
      </p:sp>
      <p:sp>
        <p:nvSpPr>
          <p:cNvPr id="20" name="Text 17"/>
          <p:cNvSpPr txBox="1"/>
          <p:nvPr/>
        </p:nvSpPr>
        <p:spPr>
          <a:xfrm>
            <a:off x="685800" y="4114800"/>
            <a:ext cx="2331720" cy="274320"/>
          </a:xfrm>
          <a:prstGeom prst="rect">
            <a:avLst/>
          </a:prstGeom>
          <a:noFill/>
          <a:ln/>
        </p:spPr>
        <p:txBody>
          <a:bodyPr wrap="square" lIns="0" tIns="0" rIns="0" bIns="0" rtlCol="0" anchor="t"/>
          <a:lstStyle/>
          <a:p>
            <a:pPr algn="ctr" indent="0" marL="0">
              <a:buNone/>
            </a:pPr>
            <a:r>
              <a:rPr lang="en-US" sz="1000" dirty="0">
                <a:solidFill>
                  <a:srgbClr val="475569"/>
                </a:solidFill>
              </a:rPr>
              <a:t>Queue: Student Services</a:t>
            </a:r>
            <a:endParaRPr lang="en-US" sz="1000" dirty="0"/>
          </a:p>
        </p:txBody>
      </p:sp>
      <p:sp>
        <p:nvSpPr>
          <p:cNvPr id="21" name="Shape 18"/>
          <p:cNvSpPr/>
          <p:nvPr/>
        </p:nvSpPr>
        <p:spPr>
          <a:xfrm>
            <a:off x="3291840" y="2697480"/>
            <a:ext cx="2331720" cy="566928"/>
          </a:xfrm>
          <a:prstGeom prst="roundRect">
            <a:avLst>
              <a:gd name="adj" fmla="val 12903"/>
            </a:avLst>
          </a:prstGeom>
          <a:solidFill>
            <a:srgbClr val="FFFFFF"/>
          </a:solidFill>
          <a:ln w="9525">
            <a:solidFill>
              <a:srgbClr val="0F539E"/>
            </a:solidFill>
            <a:prstDash val="solid"/>
          </a:ln>
        </p:spPr>
      </p:sp>
      <p:sp>
        <p:nvSpPr>
          <p:cNvPr id="22" name="Text 19"/>
          <p:cNvSpPr txBox="1"/>
          <p:nvPr/>
        </p:nvSpPr>
        <p:spPr>
          <a:xfrm>
            <a:off x="3383280" y="2752344"/>
            <a:ext cx="2148840" cy="457200"/>
          </a:xfrm>
          <a:prstGeom prst="rect">
            <a:avLst/>
          </a:prstGeom>
          <a:noFill/>
          <a:ln/>
        </p:spPr>
        <p:txBody>
          <a:bodyPr wrap="square" lIns="0" tIns="0" rIns="0" bIns="0" rtlCol="0" anchor="ctr"/>
          <a:lstStyle/>
          <a:p>
            <a:pPr algn="ctr" indent="0" marL="0">
              <a:buNone/>
            </a:pPr>
            <a:r>
              <a:rPr lang="en-US" sz="1200" b="1" dirty="0">
                <a:solidFill>
                  <a:schemeClr val="tx1"/>
                </a:solidFill>
              </a:rPr>
              <a:t>Admin B</a:t>
            </a:r>
            <a:endParaRPr lang="en-US" sz="1200" dirty="0"/>
          </a:p>
          <a:p>
            <a:pPr algn="ctr" indent="0" marL="0">
              <a:buNone/>
            </a:pPr>
            <a:r>
              <a:rPr lang="en-US" sz="1000" dirty="0">
                <a:solidFill>
                  <a:srgbClr val="475569"/>
                </a:solidFill>
              </a:rPr>
              <a:t>Owns ≤ 1 live queue</a:t>
            </a:r>
            <a:endParaRPr lang="en-US" sz="1200" dirty="0"/>
          </a:p>
        </p:txBody>
      </p:sp>
      <p:sp>
        <p:nvSpPr>
          <p:cNvPr id="23" name="Shape 20"/>
          <p:cNvSpPr/>
          <p:nvPr/>
        </p:nvSpPr>
        <p:spPr>
          <a:xfrm>
            <a:off x="3291840" y="3520440"/>
            <a:ext cx="1097280" cy="502920"/>
          </a:xfrm>
          <a:prstGeom prst="roundRect">
            <a:avLst>
              <a:gd name="adj" fmla="val 14545"/>
            </a:avLst>
          </a:prstGeom>
          <a:solidFill>
            <a:srgbClr val="FFFFFF"/>
          </a:solidFill>
          <a:ln w="9525">
            <a:solidFill>
              <a:srgbClr val="CBD5E1"/>
            </a:solidFill>
            <a:prstDash val="solid"/>
          </a:ln>
        </p:spPr>
      </p:sp>
      <p:sp>
        <p:nvSpPr>
          <p:cNvPr id="24" name="Text 21"/>
          <p:cNvSpPr txBox="1"/>
          <p:nvPr/>
        </p:nvSpPr>
        <p:spPr>
          <a:xfrm>
            <a:off x="3364992" y="3520440"/>
            <a:ext cx="950976" cy="502920"/>
          </a:xfrm>
          <a:prstGeom prst="rect">
            <a:avLst/>
          </a:prstGeom>
          <a:noFill/>
          <a:ln/>
        </p:spPr>
        <p:txBody>
          <a:bodyPr wrap="square" lIns="0" tIns="0" rIns="0" bIns="0" rtlCol="0" anchor="ctr"/>
          <a:lstStyle/>
          <a:p>
            <a:pPr algn="ctr" indent="0" marL="0">
              <a:buNone/>
            </a:pPr>
            <a:r>
              <a:rPr lang="en-US" sz="1050" b="1" dirty="0">
                <a:solidFill>
                  <a:schemeClr val="tx1"/>
                </a:solidFill>
              </a:rPr>
              <a:t>Executive</a:t>
            </a:r>
            <a:endParaRPr lang="en-US" sz="1050" dirty="0"/>
          </a:p>
        </p:txBody>
      </p:sp>
      <p:sp>
        <p:nvSpPr>
          <p:cNvPr id="25" name="Shape 22"/>
          <p:cNvSpPr/>
          <p:nvPr/>
        </p:nvSpPr>
        <p:spPr>
          <a:xfrm>
            <a:off x="4526280" y="3520440"/>
            <a:ext cx="1097280" cy="502920"/>
          </a:xfrm>
          <a:prstGeom prst="roundRect">
            <a:avLst>
              <a:gd name="adj" fmla="val 14545"/>
            </a:avLst>
          </a:prstGeom>
          <a:solidFill>
            <a:srgbClr val="FFFFFF"/>
          </a:solidFill>
          <a:ln w="9525">
            <a:solidFill>
              <a:srgbClr val="CBD5E1"/>
            </a:solidFill>
            <a:prstDash val="solid"/>
          </a:ln>
        </p:spPr>
      </p:sp>
      <p:sp>
        <p:nvSpPr>
          <p:cNvPr id="26" name="Text 23"/>
          <p:cNvSpPr txBox="1"/>
          <p:nvPr/>
        </p:nvSpPr>
        <p:spPr>
          <a:xfrm>
            <a:off x="4599432" y="3520440"/>
            <a:ext cx="950976" cy="502920"/>
          </a:xfrm>
          <a:prstGeom prst="rect">
            <a:avLst/>
          </a:prstGeom>
          <a:noFill/>
          <a:ln/>
        </p:spPr>
        <p:txBody>
          <a:bodyPr wrap="square" lIns="0" tIns="0" rIns="0" bIns="0" rtlCol="0" anchor="ctr"/>
          <a:lstStyle/>
          <a:p>
            <a:pPr algn="ctr" indent="0" marL="0">
              <a:buNone/>
            </a:pPr>
            <a:r>
              <a:rPr lang="en-US" sz="1050" b="1" dirty="0">
                <a:solidFill>
                  <a:schemeClr val="tx1"/>
                </a:solidFill>
              </a:rPr>
              <a:t>Executive</a:t>
            </a:r>
            <a:endParaRPr lang="en-US" sz="1050" dirty="0"/>
          </a:p>
        </p:txBody>
      </p:sp>
      <p:sp>
        <p:nvSpPr>
          <p:cNvPr id="27" name="Shape 24"/>
          <p:cNvSpPr/>
          <p:nvPr/>
        </p:nvSpPr>
        <p:spPr>
          <a:xfrm>
            <a:off x="3840480" y="3264408"/>
            <a:ext cx="914" cy="256032"/>
          </a:xfrm>
          <a:prstGeom prst="line">
            <a:avLst/>
          </a:prstGeom>
          <a:noFill/>
          <a:ln w="12700">
            <a:solidFill>
              <a:srgbClr val="475569"/>
            </a:solidFill>
            <a:prstDash val="solid"/>
            <a:tailEnd type="triangle"/>
          </a:ln>
        </p:spPr>
      </p:sp>
      <p:sp>
        <p:nvSpPr>
          <p:cNvPr id="28" name="Shape 25"/>
          <p:cNvSpPr/>
          <p:nvPr/>
        </p:nvSpPr>
        <p:spPr>
          <a:xfrm>
            <a:off x="5074920" y="3264408"/>
            <a:ext cx="914" cy="256032"/>
          </a:xfrm>
          <a:prstGeom prst="line">
            <a:avLst/>
          </a:prstGeom>
          <a:noFill/>
          <a:ln w="12700">
            <a:solidFill>
              <a:srgbClr val="475569"/>
            </a:solidFill>
            <a:prstDash val="solid"/>
            <a:tailEnd type="triangle"/>
          </a:ln>
        </p:spPr>
      </p:sp>
      <p:sp>
        <p:nvSpPr>
          <p:cNvPr id="29" name="Text 26"/>
          <p:cNvSpPr txBox="1"/>
          <p:nvPr/>
        </p:nvSpPr>
        <p:spPr>
          <a:xfrm>
            <a:off x="3291840" y="4114800"/>
            <a:ext cx="2331720" cy="274320"/>
          </a:xfrm>
          <a:prstGeom prst="rect">
            <a:avLst/>
          </a:prstGeom>
          <a:noFill/>
          <a:ln/>
        </p:spPr>
        <p:txBody>
          <a:bodyPr wrap="square" lIns="0" tIns="0" rIns="0" bIns="0" rtlCol="0" anchor="t"/>
          <a:lstStyle/>
          <a:p>
            <a:pPr algn="ctr" indent="0" marL="0">
              <a:buNone/>
            </a:pPr>
            <a:r>
              <a:rPr lang="en-US" sz="1000" dirty="0">
                <a:solidFill>
                  <a:srgbClr val="475569"/>
                </a:solidFill>
              </a:rPr>
              <a:t>Queue: Library Desk</a:t>
            </a:r>
            <a:endParaRPr lang="en-US" sz="1000" dirty="0"/>
          </a:p>
        </p:txBody>
      </p:sp>
      <p:sp>
        <p:nvSpPr>
          <p:cNvPr id="30" name="Text 27"/>
          <p:cNvSpPr txBox="1"/>
          <p:nvPr/>
        </p:nvSpPr>
        <p:spPr>
          <a:xfrm>
            <a:off x="2331720" y="4315968"/>
            <a:ext cx="2011680" cy="228600"/>
          </a:xfrm>
          <a:prstGeom prst="rect">
            <a:avLst/>
          </a:prstGeom>
          <a:noFill/>
          <a:ln/>
        </p:spPr>
        <p:txBody>
          <a:bodyPr wrap="square" lIns="0" tIns="0" rIns="0" bIns="0" rtlCol="0" anchor="t"/>
          <a:lstStyle/>
          <a:p>
            <a:pPr algn="ctr" indent="0" marL="0">
              <a:buNone/>
            </a:pPr>
            <a:r>
              <a:rPr lang="en-US" sz="900" dirty="0">
                <a:solidFill>
                  <a:srgbClr val="B91C1C"/>
                </a:solidFill>
              </a:rPr>
              <a:t>✕ no cross-workspace access</a:t>
            </a:r>
            <a:endParaRPr lang="en-US" sz="900" dirty="0"/>
          </a:p>
        </p:txBody>
      </p:sp>
      <p:sp>
        <p:nvSpPr>
          <p:cNvPr id="31" name="Text 28"/>
          <p:cNvSpPr txBox="1"/>
          <p:nvPr/>
        </p:nvSpPr>
        <p:spPr>
          <a:xfrm>
            <a:off x="6126480" y="1051560"/>
            <a:ext cx="2606040" cy="3474720"/>
          </a:xfrm>
          <a:prstGeom prst="rect">
            <a:avLst/>
          </a:prstGeom>
          <a:noFill/>
          <a:ln/>
        </p:spPr>
        <p:txBody>
          <a:bodyPr wrap="square" lIns="0" tIns="0" rIns="0" bIns="0" rtlCol="0" anchor="t"/>
          <a:lstStyle/>
          <a:p>
            <a:pPr indent="0" marL="0">
              <a:spcAft>
                <a:spcPts val="600"/>
              </a:spcAft>
              <a:buNone/>
            </a:pPr>
            <a:r>
              <a:rPr lang="en-US" sz="1300" b="1" dirty="0">
                <a:solidFill>
                  <a:schemeClr val="tx2"/>
                </a:solidFill>
              </a:rPr>
              <a:t>Product rules (enforced in the database)</a:t>
            </a:r>
            <a:endParaRPr lang="en-US" sz="1200" dirty="0"/>
          </a:p>
          <a:p>
            <a:pPr marL="152400" indent="-152400">
              <a:spcAft>
                <a:spcPts val="600"/>
              </a:spcAft>
              <a:buSzPct val="100000"/>
              <a:buChar char="•"/>
            </a:pPr>
            <a:r>
              <a:rPr lang="en-US" sz="1200" dirty="0">
                <a:solidFill>
                  <a:schemeClr val="tx1"/>
                </a:solidFill>
              </a:rPr>
              <a:t>One Head per organization</a:t>
            </a:r>
            <a:endParaRPr lang="en-US" sz="1200" dirty="0"/>
          </a:p>
          <a:p>
            <a:pPr marL="152400" indent="-152400">
              <a:spcAft>
                <a:spcPts val="600"/>
              </a:spcAft>
              <a:buSzPct val="100000"/>
              <a:buChar char="•"/>
            </a:pPr>
            <a:r>
              <a:rPr lang="en-US" sz="1200" dirty="0">
                <a:solidFill>
                  <a:schemeClr val="tx1"/>
                </a:solidFill>
              </a:rPr>
              <a:t>One live queue per Admin</a:t>
            </a:r>
            <a:endParaRPr lang="en-US" sz="1200" dirty="0"/>
          </a:p>
          <a:p>
            <a:pPr marL="152400" indent="-152400">
              <a:spcAft>
                <a:spcPts val="600"/>
              </a:spcAft>
              <a:buSzPct val="100000"/>
              <a:buChar char="•"/>
            </a:pPr>
            <a:r>
              <a:rPr lang="en-US" sz="1200" dirty="0">
                <a:solidFill>
                  <a:schemeClr val="tx1"/>
                </a:solidFill>
              </a:rPr>
              <a:t>A live queue always keeps its Admin</a:t>
            </a:r>
            <a:endParaRPr lang="en-US" sz="1200" dirty="0"/>
          </a:p>
          <a:p>
            <a:pPr marL="152400" indent="-152400">
              <a:spcAft>
                <a:spcPts val="600"/>
              </a:spcAft>
              <a:buSzPct val="100000"/>
              <a:buChar char="•"/>
            </a:pPr>
            <a:r>
              <a:rPr lang="en-US" sz="1200" dirty="0">
                <a:solidFill>
                  <a:schemeClr val="tx1"/>
                </a:solidFill>
              </a:rPr>
              <a:t>Executives belong to one workspace</a:t>
            </a:r>
            <a:endParaRPr lang="en-US" sz="1200" dirty="0"/>
          </a:p>
          <a:p>
            <a:pPr marL="152400" indent="-152400">
              <a:spcAft>
                <a:spcPts val="600"/>
              </a:spcAft>
              <a:buSzPct val="100000"/>
              <a:buChar char="•"/>
            </a:pPr>
            <a:r>
              <a:rPr lang="en-US" sz="1200" dirty="0">
                <a:solidFill>
                  <a:schemeClr val="tx1"/>
                </a:solidFill>
              </a:rPr>
              <a:t>Permissions derive from role only</a:t>
            </a:r>
            <a:endParaRPr lang="en-US" sz="12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System architecture</a:t>
            </a:r>
            <a:endParaRPr lang="en-US" sz="2400" dirty="0"/>
          </a:p>
        </p:txBody>
      </p:sp>
      <p:sp>
        <p:nvSpPr>
          <p:cNvPr id="4" name="Shape 1"/>
          <p:cNvSpPr/>
          <p:nvPr/>
        </p:nvSpPr>
        <p:spPr>
          <a:xfrm>
            <a:off x="365760" y="960120"/>
            <a:ext cx="1920240" cy="566928"/>
          </a:xfrm>
          <a:prstGeom prst="roundRect">
            <a:avLst>
              <a:gd name="adj" fmla="val 12903"/>
            </a:avLst>
          </a:prstGeom>
          <a:solidFill>
            <a:srgbClr val="F8FAFC"/>
          </a:solidFill>
          <a:ln w="9525">
            <a:solidFill>
              <a:srgbClr val="CBD5E1"/>
            </a:solidFill>
            <a:prstDash val="solid"/>
          </a:ln>
        </p:spPr>
      </p:sp>
      <p:sp>
        <p:nvSpPr>
          <p:cNvPr id="5" name="Text 2"/>
          <p:cNvSpPr txBox="1"/>
          <p:nvPr/>
        </p:nvSpPr>
        <p:spPr>
          <a:xfrm>
            <a:off x="457200" y="1014984"/>
            <a:ext cx="1737360" cy="457200"/>
          </a:xfrm>
          <a:prstGeom prst="rect">
            <a:avLst/>
          </a:prstGeom>
          <a:noFill/>
          <a:ln/>
        </p:spPr>
        <p:txBody>
          <a:bodyPr wrap="square" lIns="0" tIns="0" rIns="0" bIns="0" rtlCol="0" anchor="ctr"/>
          <a:lstStyle/>
          <a:p>
            <a:pPr algn="ctr" indent="0" marL="0">
              <a:buNone/>
            </a:pPr>
            <a:r>
              <a:rPr lang="en-US" sz="1200" b="1" dirty="0">
                <a:solidFill>
                  <a:schemeClr val="tx1"/>
                </a:solidFill>
              </a:rPr>
              <a:t>Android app</a:t>
            </a:r>
            <a:endParaRPr lang="en-US" sz="1200" dirty="0"/>
          </a:p>
          <a:p>
            <a:pPr algn="ctr" indent="0" marL="0">
              <a:buNone/>
            </a:pPr>
            <a:r>
              <a:rPr lang="en-US" sz="1000" dirty="0">
                <a:solidFill>
                  <a:srgbClr val="475569"/>
                </a:solidFill>
              </a:rPr>
              <a:t>Flutter · visitors</a:t>
            </a:r>
            <a:endParaRPr lang="en-US" sz="1200" dirty="0"/>
          </a:p>
        </p:txBody>
      </p:sp>
      <p:sp>
        <p:nvSpPr>
          <p:cNvPr id="6" name="Shape 3"/>
          <p:cNvSpPr/>
          <p:nvPr/>
        </p:nvSpPr>
        <p:spPr>
          <a:xfrm>
            <a:off x="365760" y="1645920"/>
            <a:ext cx="1920240" cy="566928"/>
          </a:xfrm>
          <a:prstGeom prst="roundRect">
            <a:avLst>
              <a:gd name="adj" fmla="val 12903"/>
            </a:avLst>
          </a:prstGeom>
          <a:solidFill>
            <a:srgbClr val="F8FAFC"/>
          </a:solidFill>
          <a:ln w="9525">
            <a:solidFill>
              <a:srgbClr val="CBD5E1"/>
            </a:solidFill>
            <a:prstDash val="solid"/>
          </a:ln>
        </p:spPr>
      </p:sp>
      <p:sp>
        <p:nvSpPr>
          <p:cNvPr id="7" name="Text 4"/>
          <p:cNvSpPr txBox="1"/>
          <p:nvPr/>
        </p:nvSpPr>
        <p:spPr>
          <a:xfrm>
            <a:off x="457200" y="1700784"/>
            <a:ext cx="1737360" cy="457200"/>
          </a:xfrm>
          <a:prstGeom prst="rect">
            <a:avLst/>
          </a:prstGeom>
          <a:noFill/>
          <a:ln/>
        </p:spPr>
        <p:txBody>
          <a:bodyPr wrap="square" lIns="0" tIns="0" rIns="0" bIns="0" rtlCol="0" anchor="ctr"/>
          <a:lstStyle/>
          <a:p>
            <a:pPr algn="ctr" indent="0" marL="0">
              <a:buNone/>
            </a:pPr>
            <a:r>
              <a:rPr lang="en-US" sz="1200" b="1" dirty="0">
                <a:solidFill>
                  <a:schemeClr val="tx1"/>
                </a:solidFill>
              </a:rPr>
              <a:t>iPhone/iPad portal</a:t>
            </a:r>
            <a:endParaRPr lang="en-US" sz="1200" dirty="0"/>
          </a:p>
          <a:p>
            <a:pPr algn="ctr" indent="0" marL="0">
              <a:buNone/>
            </a:pPr>
            <a:r>
              <a:rPr lang="en-US" sz="1000" dirty="0">
                <a:solidFill>
                  <a:srgbClr val="475569"/>
                </a:solidFill>
              </a:rPr>
              <a:t>Safari PWA · visitors</a:t>
            </a:r>
            <a:endParaRPr lang="en-US" sz="1200" dirty="0"/>
          </a:p>
        </p:txBody>
      </p:sp>
      <p:sp>
        <p:nvSpPr>
          <p:cNvPr id="8" name="Shape 5"/>
          <p:cNvSpPr/>
          <p:nvPr/>
        </p:nvSpPr>
        <p:spPr>
          <a:xfrm>
            <a:off x="365760" y="2331720"/>
            <a:ext cx="1920240" cy="566928"/>
          </a:xfrm>
          <a:prstGeom prst="roundRect">
            <a:avLst>
              <a:gd name="adj" fmla="val 12903"/>
            </a:avLst>
          </a:prstGeom>
          <a:solidFill>
            <a:srgbClr val="F8FAFC"/>
          </a:solidFill>
          <a:ln w="9525">
            <a:solidFill>
              <a:srgbClr val="CBD5E1"/>
            </a:solidFill>
            <a:prstDash val="solid"/>
          </a:ln>
        </p:spPr>
      </p:sp>
      <p:sp>
        <p:nvSpPr>
          <p:cNvPr id="9" name="Text 6"/>
          <p:cNvSpPr txBox="1"/>
          <p:nvPr/>
        </p:nvSpPr>
        <p:spPr>
          <a:xfrm>
            <a:off x="457200" y="2386584"/>
            <a:ext cx="1737360" cy="457200"/>
          </a:xfrm>
          <a:prstGeom prst="rect">
            <a:avLst/>
          </a:prstGeom>
          <a:noFill/>
          <a:ln/>
        </p:spPr>
        <p:txBody>
          <a:bodyPr wrap="square" lIns="0" tIns="0" rIns="0" bIns="0" rtlCol="0" anchor="ctr"/>
          <a:lstStyle/>
          <a:p>
            <a:pPr algn="ctr" indent="0" marL="0">
              <a:buNone/>
            </a:pPr>
            <a:r>
              <a:rPr lang="en-US" sz="1200" b="1" dirty="0">
                <a:solidFill>
                  <a:schemeClr val="tx1"/>
                </a:solidFill>
              </a:rPr>
              <a:t>Staff dashboard</a:t>
            </a:r>
            <a:endParaRPr lang="en-US" sz="1200" dirty="0"/>
          </a:p>
          <a:p>
            <a:pPr algn="ctr" indent="0" marL="0">
              <a:buNone/>
            </a:pPr>
            <a:r>
              <a:rPr lang="en-US" sz="1000" dirty="0">
                <a:solidFill>
                  <a:srgbClr val="475569"/>
                </a:solidFill>
              </a:rPr>
              <a:t>React + Vite</a:t>
            </a:r>
            <a:endParaRPr lang="en-US" sz="1200" dirty="0"/>
          </a:p>
        </p:txBody>
      </p:sp>
      <p:sp>
        <p:nvSpPr>
          <p:cNvPr id="10" name="Shape 7"/>
          <p:cNvSpPr/>
          <p:nvPr/>
        </p:nvSpPr>
        <p:spPr>
          <a:xfrm>
            <a:off x="365760" y="3017520"/>
            <a:ext cx="1920240" cy="566928"/>
          </a:xfrm>
          <a:prstGeom prst="roundRect">
            <a:avLst>
              <a:gd name="adj" fmla="val 12903"/>
            </a:avLst>
          </a:prstGeom>
          <a:solidFill>
            <a:srgbClr val="EEF5FC"/>
          </a:solidFill>
          <a:ln w="9525">
            <a:solidFill>
              <a:srgbClr val="D7E7F6"/>
            </a:solidFill>
            <a:prstDash val="solid"/>
          </a:ln>
        </p:spPr>
      </p:sp>
      <p:sp>
        <p:nvSpPr>
          <p:cNvPr id="11" name="Text 8"/>
          <p:cNvSpPr txBox="1"/>
          <p:nvPr/>
        </p:nvSpPr>
        <p:spPr>
          <a:xfrm>
            <a:off x="457200" y="3072384"/>
            <a:ext cx="1737360" cy="457200"/>
          </a:xfrm>
          <a:prstGeom prst="rect">
            <a:avLst/>
          </a:prstGeom>
          <a:noFill/>
          <a:ln/>
        </p:spPr>
        <p:txBody>
          <a:bodyPr wrap="square" lIns="0" tIns="0" rIns="0" bIns="0" rtlCol="0" anchor="ctr"/>
          <a:lstStyle/>
          <a:p>
            <a:pPr algn="ctr" indent="0" marL="0">
              <a:buNone/>
            </a:pPr>
            <a:r>
              <a:rPr lang="en-US" sz="1200" b="1" dirty="0">
                <a:solidFill>
                  <a:schemeClr val="tx1"/>
                </a:solidFill>
              </a:rPr>
              <a:t>Floating Counter Console</a:t>
            </a:r>
            <a:endParaRPr lang="en-US" sz="1200" dirty="0"/>
          </a:p>
          <a:p>
            <a:pPr algn="ctr" indent="0" marL="0">
              <a:buNone/>
            </a:pPr>
            <a:r>
              <a:rPr lang="en-US" sz="1000" dirty="0">
                <a:solidFill>
                  <a:srgbClr val="475569"/>
                </a:solidFill>
              </a:rPr>
              <a:t>Document PiP · fallback dock</a:t>
            </a:r>
            <a:endParaRPr lang="en-US" sz="1200" dirty="0"/>
          </a:p>
        </p:txBody>
      </p:sp>
      <p:sp>
        <p:nvSpPr>
          <p:cNvPr id="12" name="Shape 9"/>
          <p:cNvSpPr/>
          <p:nvPr/>
        </p:nvSpPr>
        <p:spPr>
          <a:xfrm>
            <a:off x="365760" y="3840480"/>
            <a:ext cx="1920240" cy="566928"/>
          </a:xfrm>
          <a:prstGeom prst="roundRect">
            <a:avLst>
              <a:gd name="adj" fmla="val 12903"/>
            </a:avLst>
          </a:prstGeom>
          <a:solidFill>
            <a:srgbClr val="FFFFFF"/>
          </a:solidFill>
          <a:ln w="9525">
            <a:solidFill>
              <a:srgbClr val="25A596"/>
            </a:solidFill>
            <a:prstDash val="solid"/>
          </a:ln>
        </p:spPr>
      </p:sp>
      <p:sp>
        <p:nvSpPr>
          <p:cNvPr id="13" name="Text 10"/>
          <p:cNvSpPr txBox="1"/>
          <p:nvPr/>
        </p:nvSpPr>
        <p:spPr>
          <a:xfrm>
            <a:off x="457200" y="3895344"/>
            <a:ext cx="1737360" cy="457200"/>
          </a:xfrm>
          <a:prstGeom prst="rect">
            <a:avLst/>
          </a:prstGeom>
          <a:noFill/>
          <a:ln/>
        </p:spPr>
        <p:txBody>
          <a:bodyPr wrap="square" lIns="0" tIns="0" rIns="0" bIns="0" rtlCol="0" anchor="ctr"/>
          <a:lstStyle/>
          <a:p>
            <a:pPr algn="ctr" indent="0" marL="0">
              <a:buNone/>
            </a:pPr>
            <a:r>
              <a:rPr lang="en-US" sz="1200" b="1" dirty="0">
                <a:solidFill>
                  <a:schemeClr val="tx1"/>
                </a:solidFill>
              </a:rPr>
              <a:t>Cloudflare Pages</a:t>
            </a:r>
            <a:endParaRPr lang="en-US" sz="1200" dirty="0"/>
          </a:p>
          <a:p>
            <a:pPr algn="ctr" indent="0" marL="0">
              <a:buNone/>
            </a:pPr>
            <a:r>
              <a:rPr lang="en-US" sz="1000" dirty="0">
                <a:solidFill>
                  <a:srgbClr val="475569"/>
                </a:solidFill>
              </a:rPr>
              <a:t>Static dashboard + portal</a:t>
            </a:r>
            <a:endParaRPr lang="en-US" sz="1200" dirty="0"/>
          </a:p>
        </p:txBody>
      </p:sp>
      <p:sp>
        <p:nvSpPr>
          <p:cNvPr id="14" name="Shape 11"/>
          <p:cNvSpPr/>
          <p:nvPr/>
        </p:nvSpPr>
        <p:spPr>
          <a:xfrm>
            <a:off x="3063240" y="960120"/>
            <a:ext cx="2834640" cy="2788920"/>
          </a:xfrm>
          <a:prstGeom prst="roundRect">
            <a:avLst>
              <a:gd name="adj" fmla="val 2623"/>
            </a:avLst>
          </a:prstGeom>
          <a:solidFill>
            <a:srgbClr val="EEF5FC"/>
          </a:solidFill>
          <a:ln w="15875">
            <a:solidFill>
              <a:srgbClr val="0F539E"/>
            </a:solidFill>
            <a:prstDash val="solid"/>
          </a:ln>
        </p:spPr>
      </p:sp>
      <p:sp>
        <p:nvSpPr>
          <p:cNvPr id="15" name="Text 12"/>
          <p:cNvSpPr txBox="1"/>
          <p:nvPr/>
        </p:nvSpPr>
        <p:spPr>
          <a:xfrm>
            <a:off x="3154680" y="1005840"/>
            <a:ext cx="2651760" cy="274320"/>
          </a:xfrm>
          <a:prstGeom prst="rect">
            <a:avLst/>
          </a:prstGeom>
          <a:noFill/>
          <a:ln/>
        </p:spPr>
        <p:txBody>
          <a:bodyPr wrap="square" lIns="0" tIns="0" rIns="0" bIns="0" rtlCol="0" anchor="t"/>
          <a:lstStyle/>
          <a:p>
            <a:pPr algn="ctr" indent="0" marL="0">
              <a:buNone/>
            </a:pPr>
            <a:r>
              <a:rPr lang="en-US" sz="1200" b="1" dirty="0">
                <a:solidFill>
                  <a:schemeClr val="accent1"/>
                </a:solidFill>
              </a:rPr>
              <a:t>Render · one web service</a:t>
            </a:r>
            <a:endParaRPr lang="en-US" sz="1200" dirty="0"/>
          </a:p>
        </p:txBody>
      </p:sp>
      <p:sp>
        <p:nvSpPr>
          <p:cNvPr id="16" name="Shape 13"/>
          <p:cNvSpPr/>
          <p:nvPr/>
        </p:nvSpPr>
        <p:spPr>
          <a:xfrm>
            <a:off x="3246120" y="1371600"/>
            <a:ext cx="2468880" cy="502920"/>
          </a:xfrm>
          <a:prstGeom prst="roundRect">
            <a:avLst>
              <a:gd name="adj" fmla="val 14545"/>
            </a:avLst>
          </a:prstGeom>
          <a:solidFill>
            <a:srgbClr val="FFFFFF"/>
          </a:solidFill>
          <a:ln w="9525">
            <a:solidFill>
              <a:srgbClr val="CBD5E1"/>
            </a:solidFill>
            <a:prstDash val="solid"/>
          </a:ln>
        </p:spPr>
      </p:sp>
      <p:sp>
        <p:nvSpPr>
          <p:cNvPr id="17" name="Text 14"/>
          <p:cNvSpPr txBox="1"/>
          <p:nvPr/>
        </p:nvSpPr>
        <p:spPr>
          <a:xfrm>
            <a:off x="3337560" y="1426464"/>
            <a:ext cx="2286000" cy="393192"/>
          </a:xfrm>
          <a:prstGeom prst="rect">
            <a:avLst/>
          </a:prstGeom>
          <a:noFill/>
          <a:ln/>
        </p:spPr>
        <p:txBody>
          <a:bodyPr wrap="square" lIns="0" tIns="0" rIns="0" bIns="0" rtlCol="0" anchor="ctr"/>
          <a:lstStyle/>
          <a:p>
            <a:pPr algn="ctr" indent="0" marL="0">
              <a:buNone/>
            </a:pPr>
            <a:r>
              <a:rPr lang="en-US" sz="1200" b="1" dirty="0">
                <a:solidFill>
                  <a:schemeClr val="tx1"/>
                </a:solidFill>
              </a:rPr>
              <a:t>Express REST API</a:t>
            </a:r>
            <a:endParaRPr lang="en-US" sz="1200" dirty="0"/>
          </a:p>
          <a:p>
            <a:pPr algn="ctr" indent="0" marL="0">
              <a:buNone/>
            </a:pPr>
            <a:r>
              <a:rPr lang="en-US" sz="1000" dirty="0">
                <a:solidFill>
                  <a:srgbClr val="475569"/>
                </a:solidFill>
              </a:rPr>
              <a:t>Node.js · TypeScript · Zod</a:t>
            </a:r>
            <a:endParaRPr lang="en-US" sz="1200" dirty="0"/>
          </a:p>
        </p:txBody>
      </p:sp>
      <p:sp>
        <p:nvSpPr>
          <p:cNvPr id="18" name="Shape 15"/>
          <p:cNvSpPr/>
          <p:nvPr/>
        </p:nvSpPr>
        <p:spPr>
          <a:xfrm>
            <a:off x="3246120" y="1965960"/>
            <a:ext cx="2468880" cy="502920"/>
          </a:xfrm>
          <a:prstGeom prst="roundRect">
            <a:avLst>
              <a:gd name="adj" fmla="val 14545"/>
            </a:avLst>
          </a:prstGeom>
          <a:solidFill>
            <a:srgbClr val="FFFFFF"/>
          </a:solidFill>
          <a:ln w="9525">
            <a:solidFill>
              <a:srgbClr val="CBD5E1"/>
            </a:solidFill>
            <a:prstDash val="solid"/>
          </a:ln>
        </p:spPr>
      </p:sp>
      <p:sp>
        <p:nvSpPr>
          <p:cNvPr id="19" name="Text 16"/>
          <p:cNvSpPr txBox="1"/>
          <p:nvPr/>
        </p:nvSpPr>
        <p:spPr>
          <a:xfrm>
            <a:off x="3337560" y="2020824"/>
            <a:ext cx="2286000" cy="393192"/>
          </a:xfrm>
          <a:prstGeom prst="rect">
            <a:avLst/>
          </a:prstGeom>
          <a:noFill/>
          <a:ln/>
        </p:spPr>
        <p:txBody>
          <a:bodyPr wrap="square" lIns="0" tIns="0" rIns="0" bIns="0" rtlCol="0" anchor="ctr"/>
          <a:lstStyle/>
          <a:p>
            <a:pPr algn="ctr" indent="0" marL="0">
              <a:buNone/>
            </a:pPr>
            <a:r>
              <a:rPr lang="en-US" sz="1200" b="1" dirty="0">
                <a:solidFill>
                  <a:schemeClr val="tx1"/>
                </a:solidFill>
              </a:rPr>
              <a:t>Socket.io server</a:t>
            </a:r>
            <a:endParaRPr lang="en-US" sz="1200" dirty="0"/>
          </a:p>
          <a:p>
            <a:pPr algn="ctr" indent="0" marL="0">
              <a:buNone/>
            </a:pPr>
            <a:r>
              <a:rPr lang="en-US" sz="1000" dirty="0">
                <a:solidFill>
                  <a:srgbClr val="475569"/>
                </a:solidFill>
              </a:rPr>
              <a:t>org / workspace / token rooms</a:t>
            </a:r>
            <a:endParaRPr lang="en-US" sz="1200" dirty="0"/>
          </a:p>
        </p:txBody>
      </p:sp>
      <p:sp>
        <p:nvSpPr>
          <p:cNvPr id="20" name="Shape 17"/>
          <p:cNvSpPr/>
          <p:nvPr/>
        </p:nvSpPr>
        <p:spPr>
          <a:xfrm>
            <a:off x="3246120" y="2560320"/>
            <a:ext cx="2468880" cy="502920"/>
          </a:xfrm>
          <a:prstGeom prst="roundRect">
            <a:avLst>
              <a:gd name="adj" fmla="val 14545"/>
            </a:avLst>
          </a:prstGeom>
          <a:solidFill>
            <a:srgbClr val="FFFFFF"/>
          </a:solidFill>
          <a:ln w="9525">
            <a:solidFill>
              <a:srgbClr val="CBD5E1"/>
            </a:solidFill>
            <a:prstDash val="solid"/>
          </a:ln>
        </p:spPr>
      </p:sp>
      <p:sp>
        <p:nvSpPr>
          <p:cNvPr id="21" name="Text 18"/>
          <p:cNvSpPr txBox="1"/>
          <p:nvPr/>
        </p:nvSpPr>
        <p:spPr>
          <a:xfrm>
            <a:off x="3337560" y="2615184"/>
            <a:ext cx="2286000" cy="393192"/>
          </a:xfrm>
          <a:prstGeom prst="rect">
            <a:avLst/>
          </a:prstGeom>
          <a:noFill/>
          <a:ln/>
        </p:spPr>
        <p:txBody>
          <a:bodyPr wrap="square" lIns="0" tIns="0" rIns="0" bIns="0" rtlCol="0" anchor="ctr"/>
          <a:lstStyle/>
          <a:p>
            <a:pPr algn="ctr" indent="0" marL="0">
              <a:buNone/>
            </a:pPr>
            <a:r>
              <a:rPr lang="en-US" sz="1200" b="1" dirty="0">
                <a:solidFill>
                  <a:schemeClr val="tx1"/>
                </a:solidFill>
              </a:rPr>
              <a:t>Authorization + business rules</a:t>
            </a:r>
            <a:endParaRPr lang="en-US" sz="1200" dirty="0"/>
          </a:p>
          <a:p>
            <a:pPr algn="ctr" indent="0" marL="0">
              <a:buNone/>
            </a:pPr>
            <a:r>
              <a:rPr lang="en-US" sz="1000" dirty="0">
                <a:solidFill>
                  <a:srgbClr val="475569"/>
                </a:solidFill>
              </a:rPr>
              <a:t>dispatch · journeys · governance</a:t>
            </a:r>
            <a:endParaRPr lang="en-US" sz="1200" dirty="0"/>
          </a:p>
        </p:txBody>
      </p:sp>
      <p:sp>
        <p:nvSpPr>
          <p:cNvPr id="22" name="Shape 19"/>
          <p:cNvSpPr/>
          <p:nvPr/>
        </p:nvSpPr>
        <p:spPr>
          <a:xfrm>
            <a:off x="3246120" y="3154680"/>
            <a:ext cx="2468880" cy="457200"/>
          </a:xfrm>
          <a:prstGeom prst="roundRect">
            <a:avLst>
              <a:gd name="adj" fmla="val 16000"/>
            </a:avLst>
          </a:prstGeom>
          <a:solidFill>
            <a:srgbClr val="FFFFFF"/>
          </a:solidFill>
          <a:ln w="9525">
            <a:solidFill>
              <a:srgbClr val="CBD5E1"/>
            </a:solidFill>
            <a:prstDash val="solid"/>
          </a:ln>
        </p:spPr>
      </p:sp>
      <p:sp>
        <p:nvSpPr>
          <p:cNvPr id="23" name="Text 20"/>
          <p:cNvSpPr txBox="1"/>
          <p:nvPr/>
        </p:nvSpPr>
        <p:spPr>
          <a:xfrm>
            <a:off x="3319272" y="3154680"/>
            <a:ext cx="2322576" cy="457200"/>
          </a:xfrm>
          <a:prstGeom prst="rect">
            <a:avLst/>
          </a:prstGeom>
          <a:noFill/>
          <a:ln/>
        </p:spPr>
        <p:txBody>
          <a:bodyPr wrap="square" lIns="0" tIns="0" rIns="0" bIns="0" rtlCol="0" anchor="ctr"/>
          <a:lstStyle/>
          <a:p>
            <a:pPr algn="ctr" indent="0" marL="0">
              <a:buNone/>
            </a:pPr>
            <a:r>
              <a:rPr lang="en-US" sz="1100" b="1" dirty="0">
                <a:solidFill>
                  <a:schemeClr val="tx1"/>
                </a:solidFill>
              </a:rPr>
              <a:t>Schedulers (node-cron)</a:t>
            </a:r>
            <a:endParaRPr lang="en-US" sz="1100" dirty="0"/>
          </a:p>
        </p:txBody>
      </p:sp>
      <p:sp>
        <p:nvSpPr>
          <p:cNvPr id="24" name="Shape 21"/>
          <p:cNvSpPr/>
          <p:nvPr/>
        </p:nvSpPr>
        <p:spPr>
          <a:xfrm>
            <a:off x="3246120" y="3931920"/>
            <a:ext cx="2468880" cy="566928"/>
          </a:xfrm>
          <a:prstGeom prst="roundRect">
            <a:avLst>
              <a:gd name="adj" fmla="val 12903"/>
            </a:avLst>
          </a:prstGeom>
          <a:solidFill>
            <a:srgbClr val="0C2B4B"/>
          </a:solidFill>
          <a:ln w="9525">
            <a:solidFill>
              <a:srgbClr val="0C2B4B"/>
            </a:solidFill>
            <a:prstDash val="solid"/>
          </a:ln>
        </p:spPr>
      </p:sp>
      <p:sp>
        <p:nvSpPr>
          <p:cNvPr id="25" name="Text 22"/>
          <p:cNvSpPr txBox="1"/>
          <p:nvPr/>
        </p:nvSpPr>
        <p:spPr>
          <a:xfrm>
            <a:off x="3337560" y="3986784"/>
            <a:ext cx="2286000" cy="457200"/>
          </a:xfrm>
          <a:prstGeom prst="rect">
            <a:avLst/>
          </a:prstGeom>
          <a:noFill/>
          <a:ln/>
        </p:spPr>
        <p:txBody>
          <a:bodyPr wrap="square" lIns="0" tIns="0" rIns="0" bIns="0" rtlCol="0" anchor="ctr"/>
          <a:lstStyle/>
          <a:p>
            <a:pPr algn="ctr" indent="0" marL="0">
              <a:buNone/>
            </a:pPr>
            <a:r>
              <a:rPr lang="en-US" sz="1200" b="1" dirty="0">
                <a:solidFill>
                  <a:schemeClr val="bg1"/>
                </a:solidFill>
              </a:rPr>
              <a:t>Neon PostgreSQL</a:t>
            </a:r>
            <a:endParaRPr lang="en-US" sz="1200" dirty="0"/>
          </a:p>
          <a:p>
            <a:pPr algn="ctr" indent="0" marL="0">
              <a:buNone/>
            </a:pPr>
            <a:r>
              <a:rPr lang="en-US" sz="1000" dirty="0">
                <a:solidFill>
                  <a:srgbClr val="D7E7F6"/>
                </a:solidFill>
              </a:rPr>
              <a:t>via Prisma · constraints &amp; triggers</a:t>
            </a:r>
            <a:endParaRPr lang="en-US" sz="1200" dirty="0"/>
          </a:p>
        </p:txBody>
      </p:sp>
      <p:sp>
        <p:nvSpPr>
          <p:cNvPr id="26" name="Shape 23"/>
          <p:cNvSpPr/>
          <p:nvPr/>
        </p:nvSpPr>
        <p:spPr>
          <a:xfrm>
            <a:off x="4480560" y="3749040"/>
            <a:ext cx="914" cy="182880"/>
          </a:xfrm>
          <a:prstGeom prst="line">
            <a:avLst/>
          </a:prstGeom>
          <a:noFill/>
          <a:ln w="15875">
            <a:solidFill>
              <a:srgbClr val="475569"/>
            </a:solidFill>
            <a:prstDash val="solid"/>
            <a:headEnd type="triangle"/>
            <a:tailEnd type="triangle"/>
          </a:ln>
        </p:spPr>
      </p:sp>
      <p:sp>
        <p:nvSpPr>
          <p:cNvPr id="27" name="Shape 24"/>
          <p:cNvSpPr/>
          <p:nvPr/>
        </p:nvSpPr>
        <p:spPr>
          <a:xfrm>
            <a:off x="2286000" y="1243584"/>
            <a:ext cx="777240" cy="914"/>
          </a:xfrm>
          <a:prstGeom prst="line">
            <a:avLst/>
          </a:prstGeom>
          <a:noFill/>
          <a:ln w="15875">
            <a:solidFill>
              <a:srgbClr val="0F539E"/>
            </a:solidFill>
            <a:prstDash val="solid"/>
            <a:headEnd type="triangle"/>
            <a:tailEnd type="triangle"/>
          </a:ln>
        </p:spPr>
      </p:sp>
      <p:sp>
        <p:nvSpPr>
          <p:cNvPr id="28" name="Shape 25"/>
          <p:cNvSpPr/>
          <p:nvPr/>
        </p:nvSpPr>
        <p:spPr>
          <a:xfrm>
            <a:off x="2286000" y="1929384"/>
            <a:ext cx="777240" cy="914"/>
          </a:xfrm>
          <a:prstGeom prst="line">
            <a:avLst/>
          </a:prstGeom>
          <a:noFill/>
          <a:ln w="15875">
            <a:solidFill>
              <a:srgbClr val="0F539E"/>
            </a:solidFill>
            <a:prstDash val="solid"/>
            <a:headEnd type="triangle"/>
            <a:tailEnd type="triangle"/>
          </a:ln>
        </p:spPr>
      </p:sp>
      <p:sp>
        <p:nvSpPr>
          <p:cNvPr id="29" name="Shape 26"/>
          <p:cNvSpPr/>
          <p:nvPr/>
        </p:nvSpPr>
        <p:spPr>
          <a:xfrm>
            <a:off x="2286000" y="2615184"/>
            <a:ext cx="777240" cy="914"/>
          </a:xfrm>
          <a:prstGeom prst="line">
            <a:avLst/>
          </a:prstGeom>
          <a:noFill/>
          <a:ln w="15875">
            <a:solidFill>
              <a:srgbClr val="0F539E"/>
            </a:solidFill>
            <a:prstDash val="solid"/>
            <a:headEnd type="triangle"/>
            <a:tailEnd type="triangle"/>
          </a:ln>
        </p:spPr>
      </p:sp>
      <p:sp>
        <p:nvSpPr>
          <p:cNvPr id="30" name="Shape 27"/>
          <p:cNvSpPr/>
          <p:nvPr/>
        </p:nvSpPr>
        <p:spPr>
          <a:xfrm>
            <a:off x="2286000" y="3300984"/>
            <a:ext cx="777240" cy="914"/>
          </a:xfrm>
          <a:prstGeom prst="line">
            <a:avLst/>
          </a:prstGeom>
          <a:noFill/>
          <a:ln w="15875">
            <a:solidFill>
              <a:srgbClr val="0F539E"/>
            </a:solidFill>
            <a:prstDash val="solid"/>
            <a:headEnd type="triangle"/>
            <a:tailEnd type="triangle"/>
          </a:ln>
        </p:spPr>
      </p:sp>
      <p:sp>
        <p:nvSpPr>
          <p:cNvPr id="31" name="Shape 28"/>
          <p:cNvSpPr/>
          <p:nvPr/>
        </p:nvSpPr>
        <p:spPr>
          <a:xfrm>
            <a:off x="2286000" y="4123944"/>
            <a:ext cx="457200" cy="914"/>
          </a:xfrm>
          <a:prstGeom prst="line">
            <a:avLst/>
          </a:prstGeom>
          <a:noFill/>
          <a:ln w="15875">
            <a:solidFill>
              <a:srgbClr val="94A3B8"/>
            </a:solidFill>
            <a:prstDash val="dash"/>
            <a:tailEnd type="triangle"/>
          </a:ln>
        </p:spPr>
      </p:sp>
      <p:sp>
        <p:nvSpPr>
          <p:cNvPr id="32" name="Text 29"/>
          <p:cNvSpPr txBox="1"/>
          <p:nvPr/>
        </p:nvSpPr>
        <p:spPr>
          <a:xfrm>
            <a:off x="2331720" y="4160520"/>
            <a:ext cx="548640" cy="182880"/>
          </a:xfrm>
          <a:prstGeom prst="rect">
            <a:avLst/>
          </a:prstGeom>
          <a:noFill/>
          <a:ln/>
        </p:spPr>
        <p:txBody>
          <a:bodyPr wrap="square" lIns="0" tIns="0" rIns="0" bIns="0" rtlCol="0" anchor="t"/>
          <a:lstStyle/>
          <a:p>
            <a:pPr indent="0" marL="0">
              <a:buNone/>
            </a:pPr>
            <a:r>
              <a:rPr lang="en-US" sz="800" dirty="0">
                <a:solidFill>
                  <a:srgbClr val="64748B"/>
                </a:solidFill>
              </a:rPr>
              <a:t>assets</a:t>
            </a:r>
            <a:endParaRPr lang="en-US" sz="800" dirty="0"/>
          </a:p>
        </p:txBody>
      </p:sp>
      <p:sp>
        <p:nvSpPr>
          <p:cNvPr id="33" name="Shape 30"/>
          <p:cNvSpPr/>
          <p:nvPr/>
        </p:nvSpPr>
        <p:spPr>
          <a:xfrm>
            <a:off x="6629400" y="1188720"/>
            <a:ext cx="2103120" cy="566928"/>
          </a:xfrm>
          <a:prstGeom prst="roundRect">
            <a:avLst>
              <a:gd name="adj" fmla="val 12903"/>
            </a:avLst>
          </a:prstGeom>
          <a:solidFill>
            <a:srgbClr val="F8FAFC"/>
          </a:solidFill>
          <a:ln w="9525">
            <a:solidFill>
              <a:srgbClr val="CBD5E1"/>
            </a:solidFill>
            <a:prstDash val="solid"/>
          </a:ln>
        </p:spPr>
      </p:sp>
      <p:sp>
        <p:nvSpPr>
          <p:cNvPr id="34" name="Text 31"/>
          <p:cNvSpPr txBox="1"/>
          <p:nvPr/>
        </p:nvSpPr>
        <p:spPr>
          <a:xfrm>
            <a:off x="6720840" y="1243584"/>
            <a:ext cx="1920240" cy="457200"/>
          </a:xfrm>
          <a:prstGeom prst="rect">
            <a:avLst/>
          </a:prstGeom>
          <a:noFill/>
          <a:ln/>
        </p:spPr>
        <p:txBody>
          <a:bodyPr wrap="square" lIns="0" tIns="0" rIns="0" bIns="0" rtlCol="0" anchor="ctr"/>
          <a:lstStyle/>
          <a:p>
            <a:pPr algn="ctr" indent="0" marL="0">
              <a:buNone/>
            </a:pPr>
            <a:r>
              <a:rPr lang="en-US" sz="1200" b="1" dirty="0">
                <a:solidFill>
                  <a:schemeClr val="tx1"/>
                </a:solidFill>
              </a:rPr>
              <a:t>Firebase Cloud Messaging</a:t>
            </a:r>
            <a:endParaRPr lang="en-US" sz="1200" dirty="0"/>
          </a:p>
          <a:p>
            <a:pPr algn="ctr" indent="0" marL="0">
              <a:buNone/>
            </a:pPr>
            <a:r>
              <a:rPr lang="en-US" sz="1000" dirty="0">
                <a:solidFill>
                  <a:srgbClr val="475569"/>
                </a:solidFill>
              </a:rPr>
              <a:t>Android push</a:t>
            </a:r>
            <a:endParaRPr lang="en-US" sz="1200" dirty="0"/>
          </a:p>
        </p:txBody>
      </p:sp>
      <p:sp>
        <p:nvSpPr>
          <p:cNvPr id="35" name="Shape 32"/>
          <p:cNvSpPr/>
          <p:nvPr/>
        </p:nvSpPr>
        <p:spPr>
          <a:xfrm>
            <a:off x="6629400" y="1874520"/>
            <a:ext cx="2103120" cy="658368"/>
          </a:xfrm>
          <a:prstGeom prst="roundRect">
            <a:avLst>
              <a:gd name="adj" fmla="val 11111"/>
            </a:avLst>
          </a:prstGeom>
          <a:solidFill>
            <a:srgbClr val="F8FAFC"/>
          </a:solidFill>
          <a:ln w="9525">
            <a:solidFill>
              <a:srgbClr val="CBD5E1"/>
            </a:solidFill>
            <a:prstDash val="solid"/>
          </a:ln>
        </p:spPr>
      </p:sp>
      <p:sp>
        <p:nvSpPr>
          <p:cNvPr id="36" name="Text 33"/>
          <p:cNvSpPr txBox="1"/>
          <p:nvPr/>
        </p:nvSpPr>
        <p:spPr>
          <a:xfrm>
            <a:off x="6720840" y="1929384"/>
            <a:ext cx="1920240" cy="548640"/>
          </a:xfrm>
          <a:prstGeom prst="rect">
            <a:avLst/>
          </a:prstGeom>
          <a:noFill/>
          <a:ln/>
        </p:spPr>
        <p:txBody>
          <a:bodyPr wrap="square" lIns="0" tIns="0" rIns="0" bIns="0" rtlCol="0" anchor="ctr"/>
          <a:lstStyle/>
          <a:p>
            <a:pPr algn="ctr" indent="0" marL="0">
              <a:buNone/>
            </a:pPr>
            <a:r>
              <a:rPr lang="en-US" sz="1200" b="1" dirty="0">
                <a:solidFill>
                  <a:schemeClr val="tx1"/>
                </a:solidFill>
              </a:rPr>
              <a:t>Web Push</a:t>
            </a:r>
            <a:endParaRPr lang="en-US" sz="1200" dirty="0"/>
          </a:p>
          <a:p>
            <a:pPr algn="ctr" indent="0" marL="0">
              <a:buNone/>
            </a:pPr>
            <a:r>
              <a:rPr lang="en-US" sz="950" dirty="0">
                <a:solidFill>
                  <a:srgbClr val="475569"/>
                </a:solidFill>
              </a:rPr>
              <a:t>iPhone/iPad Safari (Home Screen PWA)</a:t>
            </a:r>
            <a:endParaRPr lang="en-US" sz="1200" dirty="0"/>
          </a:p>
          <a:p>
            <a:pPr algn="ctr" indent="0" marL="0">
              <a:buNone/>
            </a:pPr>
            <a:r>
              <a:rPr lang="en-US" sz="950" dirty="0">
                <a:solidFill>
                  <a:srgbClr val="475569"/>
                </a:solidFill>
              </a:rPr>
              <a:t>VAPID-based notifications</a:t>
            </a:r>
            <a:endParaRPr lang="en-US" sz="1200" dirty="0"/>
          </a:p>
        </p:txBody>
      </p:sp>
      <p:sp>
        <p:nvSpPr>
          <p:cNvPr id="37" name="Shape 34"/>
          <p:cNvSpPr/>
          <p:nvPr/>
        </p:nvSpPr>
        <p:spPr>
          <a:xfrm>
            <a:off x="6629400" y="2651760"/>
            <a:ext cx="2103120" cy="566928"/>
          </a:xfrm>
          <a:prstGeom prst="roundRect">
            <a:avLst>
              <a:gd name="adj" fmla="val 12903"/>
            </a:avLst>
          </a:prstGeom>
          <a:solidFill>
            <a:srgbClr val="F8FAFC"/>
          </a:solidFill>
          <a:ln w="9525">
            <a:solidFill>
              <a:srgbClr val="CBD5E1"/>
            </a:solidFill>
            <a:prstDash val="solid"/>
          </a:ln>
        </p:spPr>
      </p:sp>
      <p:sp>
        <p:nvSpPr>
          <p:cNvPr id="38" name="Text 35"/>
          <p:cNvSpPr txBox="1"/>
          <p:nvPr/>
        </p:nvSpPr>
        <p:spPr>
          <a:xfrm>
            <a:off x="6720840" y="2706624"/>
            <a:ext cx="1920240" cy="457200"/>
          </a:xfrm>
          <a:prstGeom prst="rect">
            <a:avLst/>
          </a:prstGeom>
          <a:noFill/>
          <a:ln/>
        </p:spPr>
        <p:txBody>
          <a:bodyPr wrap="square" lIns="0" tIns="0" rIns="0" bIns="0" rtlCol="0" anchor="ctr"/>
          <a:lstStyle/>
          <a:p>
            <a:pPr algn="ctr" indent="0" marL="0">
              <a:buNone/>
            </a:pPr>
            <a:r>
              <a:rPr lang="en-US" sz="1200" b="1" dirty="0">
                <a:solidFill>
                  <a:schemeClr val="tx1"/>
                </a:solidFill>
              </a:rPr>
              <a:t>Resend</a:t>
            </a:r>
            <a:endParaRPr lang="en-US" sz="1200" dirty="0"/>
          </a:p>
          <a:p>
            <a:pPr algn="ctr" indent="0" marL="0">
              <a:buNone/>
            </a:pPr>
            <a:r>
              <a:rPr lang="en-US" sz="1000" dirty="0">
                <a:solidFill>
                  <a:srgbClr val="475569"/>
                </a:solidFill>
              </a:rPr>
              <a:t>Transactional email</a:t>
            </a:r>
            <a:endParaRPr lang="en-US" sz="1200" dirty="0"/>
          </a:p>
        </p:txBody>
      </p:sp>
      <p:sp>
        <p:nvSpPr>
          <p:cNvPr id="39" name="Shape 36"/>
          <p:cNvSpPr/>
          <p:nvPr/>
        </p:nvSpPr>
        <p:spPr>
          <a:xfrm>
            <a:off x="6629400" y="3566160"/>
            <a:ext cx="2103120" cy="777240"/>
          </a:xfrm>
          <a:prstGeom prst="roundRect">
            <a:avLst>
              <a:gd name="adj" fmla="val 9412"/>
            </a:avLst>
          </a:prstGeom>
          <a:solidFill>
            <a:srgbClr val="FFFFFF"/>
          </a:solidFill>
          <a:ln w="9525">
            <a:solidFill>
              <a:srgbClr val="CBD5E1"/>
            </a:solidFill>
            <a:prstDash val="solid"/>
          </a:ln>
        </p:spPr>
      </p:sp>
      <p:sp>
        <p:nvSpPr>
          <p:cNvPr id="40" name="Text 37"/>
          <p:cNvSpPr txBox="1"/>
          <p:nvPr/>
        </p:nvSpPr>
        <p:spPr>
          <a:xfrm>
            <a:off x="6720840" y="3621024"/>
            <a:ext cx="1920240" cy="667512"/>
          </a:xfrm>
          <a:prstGeom prst="rect">
            <a:avLst/>
          </a:prstGeom>
          <a:noFill/>
          <a:ln/>
        </p:spPr>
        <p:txBody>
          <a:bodyPr wrap="square" lIns="0" tIns="0" rIns="0" bIns="0" rtlCol="0" anchor="ctr"/>
          <a:lstStyle/>
          <a:p>
            <a:pPr algn="ctr" indent="0" marL="0">
              <a:buNone/>
            </a:pPr>
            <a:r>
              <a:rPr lang="en-US" sz="1200" b="1" dirty="0">
                <a:solidFill>
                  <a:schemeClr val="tx1"/>
                </a:solidFill>
              </a:rPr>
              <a:t>GitHub</a:t>
            </a:r>
            <a:endParaRPr lang="en-US" sz="1200" dirty="0"/>
          </a:p>
          <a:p>
            <a:pPr algn="ctr" indent="0" marL="0">
              <a:buNone/>
            </a:pPr>
            <a:r>
              <a:rPr lang="en-US" sz="1000" dirty="0">
                <a:solidFill>
                  <a:srgbClr val="475569"/>
                </a:solidFill>
              </a:rPr>
              <a:t>Source · Actions CI · signed APK releases</a:t>
            </a:r>
            <a:endParaRPr lang="en-US" sz="1200" dirty="0"/>
          </a:p>
        </p:txBody>
      </p:sp>
      <p:sp>
        <p:nvSpPr>
          <p:cNvPr id="41" name="Shape 38"/>
          <p:cNvSpPr/>
          <p:nvPr/>
        </p:nvSpPr>
        <p:spPr>
          <a:xfrm>
            <a:off x="5897880" y="1472184"/>
            <a:ext cx="731520" cy="914"/>
          </a:xfrm>
          <a:prstGeom prst="line">
            <a:avLst/>
          </a:prstGeom>
          <a:noFill/>
          <a:ln w="15875">
            <a:solidFill>
              <a:srgbClr val="25A596"/>
            </a:solidFill>
            <a:prstDash val="solid"/>
            <a:tailEnd type="triangle"/>
          </a:ln>
        </p:spPr>
      </p:sp>
      <p:sp>
        <p:nvSpPr>
          <p:cNvPr id="42" name="Shape 39"/>
          <p:cNvSpPr/>
          <p:nvPr/>
        </p:nvSpPr>
        <p:spPr>
          <a:xfrm>
            <a:off x="5897880" y="2203704"/>
            <a:ext cx="731520" cy="914"/>
          </a:xfrm>
          <a:prstGeom prst="line">
            <a:avLst/>
          </a:prstGeom>
          <a:noFill/>
          <a:ln w="15875">
            <a:solidFill>
              <a:srgbClr val="25A596"/>
            </a:solidFill>
            <a:prstDash val="solid"/>
            <a:tailEnd type="triangle"/>
          </a:ln>
        </p:spPr>
      </p:sp>
      <p:sp>
        <p:nvSpPr>
          <p:cNvPr id="43" name="Shape 40"/>
          <p:cNvSpPr/>
          <p:nvPr/>
        </p:nvSpPr>
        <p:spPr>
          <a:xfrm>
            <a:off x="5897880" y="2935224"/>
            <a:ext cx="731520" cy="914"/>
          </a:xfrm>
          <a:prstGeom prst="line">
            <a:avLst/>
          </a:prstGeom>
          <a:noFill/>
          <a:ln w="15875">
            <a:solidFill>
              <a:srgbClr val="25A596"/>
            </a:solidFill>
            <a:prstDash val="solid"/>
            <a:tailEnd type="triangle"/>
          </a:ln>
        </p:spPr>
      </p:sp>
      <p:sp>
        <p:nvSpPr>
          <p:cNvPr id="44" name="Text 41"/>
          <p:cNvSpPr txBox="1"/>
          <p:nvPr/>
        </p:nvSpPr>
        <p:spPr>
          <a:xfrm>
            <a:off x="2240280" y="749808"/>
            <a:ext cx="1097280" cy="182880"/>
          </a:xfrm>
          <a:prstGeom prst="rect">
            <a:avLst/>
          </a:prstGeom>
          <a:noFill/>
          <a:ln/>
        </p:spPr>
        <p:txBody>
          <a:bodyPr wrap="square" lIns="0" tIns="0" rIns="0" bIns="0" rtlCol="0" anchor="t"/>
          <a:lstStyle/>
          <a:p>
            <a:pPr indent="0" marL="0">
              <a:buNone/>
            </a:pPr>
            <a:r>
              <a:rPr lang="en-US" sz="800" dirty="0">
                <a:solidFill>
                  <a:srgbClr val="64748B"/>
                </a:solidFill>
              </a:rPr>
              <a:t>HTTPS + WebSocket</a:t>
            </a:r>
            <a:endParaRPr lang="en-US" sz="8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REST for truth, Socket.io for change</a:t>
            </a:r>
            <a:endParaRPr lang="en-US" sz="2400" dirty="0"/>
          </a:p>
        </p:txBody>
      </p:sp>
      <p:sp>
        <p:nvSpPr>
          <p:cNvPr id="4" name="Text 1"/>
          <p:cNvSpPr txBox="1"/>
          <p:nvPr/>
        </p:nvSpPr>
        <p:spPr>
          <a:xfrm>
            <a:off x="457200" y="960120"/>
            <a:ext cx="4572000" cy="274320"/>
          </a:xfrm>
          <a:prstGeom prst="rect">
            <a:avLst/>
          </a:prstGeom>
          <a:noFill/>
          <a:ln/>
        </p:spPr>
        <p:txBody>
          <a:bodyPr wrap="square" lIns="0" tIns="0" rIns="0" bIns="0" rtlCol="0" anchor="t"/>
          <a:lstStyle/>
          <a:p>
            <a:pPr indent="0" marL="0">
              <a:buNone/>
            </a:pPr>
            <a:r>
              <a:rPr lang="en-US" sz="1300" b="1" dirty="0">
                <a:solidFill>
                  <a:schemeClr val="accent1"/>
                </a:solidFill>
              </a:rPr>
              <a:t>REST — every read and write</a:t>
            </a:r>
            <a:endParaRPr lang="en-US" sz="1300" dirty="0"/>
          </a:p>
        </p:txBody>
      </p:sp>
      <p:sp>
        <p:nvSpPr>
          <p:cNvPr id="5" name="Shape 2"/>
          <p:cNvSpPr/>
          <p:nvPr/>
        </p:nvSpPr>
        <p:spPr>
          <a:xfrm>
            <a:off x="457200" y="1325880"/>
            <a:ext cx="1463040" cy="749808"/>
          </a:xfrm>
          <a:prstGeom prst="roundRect">
            <a:avLst>
              <a:gd name="adj" fmla="val 9756"/>
            </a:avLst>
          </a:prstGeom>
          <a:solidFill>
            <a:srgbClr val="F8FAFC"/>
          </a:solidFill>
          <a:ln w="9525">
            <a:solidFill>
              <a:srgbClr val="CBD5E1"/>
            </a:solidFill>
            <a:prstDash val="solid"/>
          </a:ln>
        </p:spPr>
      </p:sp>
      <p:sp>
        <p:nvSpPr>
          <p:cNvPr id="6" name="Text 3"/>
          <p:cNvSpPr txBox="1"/>
          <p:nvPr/>
        </p:nvSpPr>
        <p:spPr>
          <a:xfrm>
            <a:off x="530352" y="1325880"/>
            <a:ext cx="1316736" cy="749808"/>
          </a:xfrm>
          <a:prstGeom prst="rect">
            <a:avLst/>
          </a:prstGeom>
          <a:noFill/>
          <a:ln/>
        </p:spPr>
        <p:txBody>
          <a:bodyPr wrap="square" lIns="0" tIns="0" rIns="0" bIns="0" rtlCol="0" anchor="ctr"/>
          <a:lstStyle/>
          <a:p>
            <a:pPr algn="ctr" indent="0" marL="0">
              <a:buNone/>
            </a:pPr>
            <a:r>
              <a:rPr lang="en-US" sz="1050" b="1" dirty="0">
                <a:solidFill>
                  <a:schemeClr val="tx1"/>
                </a:solidFill>
              </a:rPr>
              <a:t>Client</a:t>
            </a:r>
            <a:endParaRPr lang="en-US" sz="1050" dirty="0"/>
          </a:p>
        </p:txBody>
      </p:sp>
      <p:sp>
        <p:nvSpPr>
          <p:cNvPr id="7" name="Shape 4"/>
          <p:cNvSpPr/>
          <p:nvPr/>
        </p:nvSpPr>
        <p:spPr>
          <a:xfrm>
            <a:off x="1920240" y="1700784"/>
            <a:ext cx="237744" cy="914"/>
          </a:xfrm>
          <a:prstGeom prst="line">
            <a:avLst/>
          </a:prstGeom>
          <a:noFill/>
          <a:ln w="15875">
            <a:solidFill>
              <a:srgbClr val="0F539E"/>
            </a:solidFill>
            <a:prstDash val="solid"/>
            <a:tailEnd type="triangle"/>
          </a:ln>
        </p:spPr>
      </p:sp>
      <p:sp>
        <p:nvSpPr>
          <p:cNvPr id="8" name="Shape 5"/>
          <p:cNvSpPr/>
          <p:nvPr/>
        </p:nvSpPr>
        <p:spPr>
          <a:xfrm>
            <a:off x="2157984" y="1325880"/>
            <a:ext cx="1463040" cy="749808"/>
          </a:xfrm>
          <a:prstGeom prst="roundRect">
            <a:avLst>
              <a:gd name="adj" fmla="val 9756"/>
            </a:avLst>
          </a:prstGeom>
          <a:solidFill>
            <a:srgbClr val="F8FAFC"/>
          </a:solidFill>
          <a:ln w="9525">
            <a:solidFill>
              <a:srgbClr val="CBD5E1"/>
            </a:solidFill>
            <a:prstDash val="solid"/>
          </a:ln>
        </p:spPr>
      </p:sp>
      <p:sp>
        <p:nvSpPr>
          <p:cNvPr id="9" name="Text 6"/>
          <p:cNvSpPr txBox="1"/>
          <p:nvPr/>
        </p:nvSpPr>
        <p:spPr>
          <a:xfrm>
            <a:off x="2231136" y="1325880"/>
            <a:ext cx="1316736" cy="749808"/>
          </a:xfrm>
          <a:prstGeom prst="rect">
            <a:avLst/>
          </a:prstGeom>
          <a:noFill/>
          <a:ln/>
        </p:spPr>
        <p:txBody>
          <a:bodyPr wrap="square" lIns="0" tIns="0" rIns="0" bIns="0" rtlCol="0" anchor="ctr"/>
          <a:lstStyle/>
          <a:p>
            <a:pPr algn="ctr" indent="0" marL="0">
              <a:buNone/>
            </a:pPr>
            <a:r>
              <a:rPr lang="en-US" sz="1050" b="1" dirty="0">
                <a:solidFill>
                  <a:schemeClr val="tx1"/>
                </a:solidFill>
              </a:rPr>
              <a:t>authenticate</a:t>
            </a:r>
            <a:endParaRPr lang="en-US" sz="1050" dirty="0"/>
          </a:p>
          <a:p>
            <a:pPr algn="ctr" indent="0" marL="0">
              <a:buNone/>
            </a:pPr>
            <a:r>
              <a:rPr lang="en-US" sz="1050" b="1" dirty="0">
                <a:solidFill>
                  <a:schemeClr val="tx1"/>
                </a:solidFill>
              </a:rPr>
              <a:t>(JWT + DB reload)</a:t>
            </a:r>
            <a:endParaRPr lang="en-US" sz="1050" dirty="0"/>
          </a:p>
        </p:txBody>
      </p:sp>
      <p:sp>
        <p:nvSpPr>
          <p:cNvPr id="10" name="Shape 7"/>
          <p:cNvSpPr/>
          <p:nvPr/>
        </p:nvSpPr>
        <p:spPr>
          <a:xfrm>
            <a:off x="3621024" y="1700784"/>
            <a:ext cx="237744" cy="914"/>
          </a:xfrm>
          <a:prstGeom prst="line">
            <a:avLst/>
          </a:prstGeom>
          <a:noFill/>
          <a:ln w="15875">
            <a:solidFill>
              <a:srgbClr val="0F539E"/>
            </a:solidFill>
            <a:prstDash val="solid"/>
            <a:tailEnd type="triangle"/>
          </a:ln>
        </p:spPr>
      </p:sp>
      <p:sp>
        <p:nvSpPr>
          <p:cNvPr id="11" name="Shape 8"/>
          <p:cNvSpPr/>
          <p:nvPr/>
        </p:nvSpPr>
        <p:spPr>
          <a:xfrm>
            <a:off x="3858768" y="1325880"/>
            <a:ext cx="1463040" cy="749808"/>
          </a:xfrm>
          <a:prstGeom prst="roundRect">
            <a:avLst>
              <a:gd name="adj" fmla="val 9756"/>
            </a:avLst>
          </a:prstGeom>
          <a:solidFill>
            <a:srgbClr val="F8FAFC"/>
          </a:solidFill>
          <a:ln w="9525">
            <a:solidFill>
              <a:srgbClr val="CBD5E1"/>
            </a:solidFill>
            <a:prstDash val="solid"/>
          </a:ln>
        </p:spPr>
      </p:sp>
      <p:sp>
        <p:nvSpPr>
          <p:cNvPr id="12" name="Text 9"/>
          <p:cNvSpPr txBox="1"/>
          <p:nvPr/>
        </p:nvSpPr>
        <p:spPr>
          <a:xfrm>
            <a:off x="3931920" y="1325880"/>
            <a:ext cx="1316736" cy="749808"/>
          </a:xfrm>
          <a:prstGeom prst="rect">
            <a:avLst/>
          </a:prstGeom>
          <a:noFill/>
          <a:ln/>
        </p:spPr>
        <p:txBody>
          <a:bodyPr wrap="square" lIns="0" tIns="0" rIns="0" bIns="0" rtlCol="0" anchor="ctr"/>
          <a:lstStyle/>
          <a:p>
            <a:pPr algn="ctr" indent="0" marL="0">
              <a:buNone/>
            </a:pPr>
            <a:r>
              <a:rPr lang="en-US" sz="1050" b="1" dirty="0">
                <a:solidFill>
                  <a:schemeClr val="tx1"/>
                </a:solidFill>
              </a:rPr>
              <a:t>validate</a:t>
            </a:r>
            <a:endParaRPr lang="en-US" sz="1050" dirty="0"/>
          </a:p>
          <a:p>
            <a:pPr algn="ctr" indent="0" marL="0">
              <a:buNone/>
            </a:pPr>
            <a:r>
              <a:rPr lang="en-US" sz="1050" b="1" dirty="0">
                <a:solidFill>
                  <a:schemeClr val="tx1"/>
                </a:solidFill>
              </a:rPr>
              <a:t>(Zod)</a:t>
            </a:r>
            <a:endParaRPr lang="en-US" sz="1050" dirty="0"/>
          </a:p>
        </p:txBody>
      </p:sp>
      <p:sp>
        <p:nvSpPr>
          <p:cNvPr id="13" name="Shape 10"/>
          <p:cNvSpPr/>
          <p:nvPr/>
        </p:nvSpPr>
        <p:spPr>
          <a:xfrm>
            <a:off x="5321808" y="1700784"/>
            <a:ext cx="237744" cy="914"/>
          </a:xfrm>
          <a:prstGeom prst="line">
            <a:avLst/>
          </a:prstGeom>
          <a:noFill/>
          <a:ln w="15875">
            <a:solidFill>
              <a:srgbClr val="0F539E"/>
            </a:solidFill>
            <a:prstDash val="solid"/>
            <a:tailEnd type="triangle"/>
          </a:ln>
        </p:spPr>
      </p:sp>
      <p:sp>
        <p:nvSpPr>
          <p:cNvPr id="14" name="Shape 11"/>
          <p:cNvSpPr/>
          <p:nvPr/>
        </p:nvSpPr>
        <p:spPr>
          <a:xfrm>
            <a:off x="5559552" y="1325880"/>
            <a:ext cx="1463040" cy="749808"/>
          </a:xfrm>
          <a:prstGeom prst="roundRect">
            <a:avLst>
              <a:gd name="adj" fmla="val 9756"/>
            </a:avLst>
          </a:prstGeom>
          <a:solidFill>
            <a:srgbClr val="F8FAFC"/>
          </a:solidFill>
          <a:ln w="9525">
            <a:solidFill>
              <a:srgbClr val="CBD5E1"/>
            </a:solidFill>
            <a:prstDash val="solid"/>
          </a:ln>
        </p:spPr>
      </p:sp>
      <p:sp>
        <p:nvSpPr>
          <p:cNvPr id="15" name="Text 12"/>
          <p:cNvSpPr txBox="1"/>
          <p:nvPr/>
        </p:nvSpPr>
        <p:spPr>
          <a:xfrm>
            <a:off x="5632704" y="1325880"/>
            <a:ext cx="1316736" cy="749808"/>
          </a:xfrm>
          <a:prstGeom prst="rect">
            <a:avLst/>
          </a:prstGeom>
          <a:noFill/>
          <a:ln/>
        </p:spPr>
        <p:txBody>
          <a:bodyPr wrap="square" lIns="0" tIns="0" rIns="0" bIns="0" rtlCol="0" anchor="ctr"/>
          <a:lstStyle/>
          <a:p>
            <a:pPr algn="ctr" indent="0" marL="0">
              <a:buNone/>
            </a:pPr>
            <a:r>
              <a:rPr lang="en-US" sz="1050" b="1" dirty="0">
                <a:solidFill>
                  <a:schemeClr val="tx1"/>
                </a:solidFill>
              </a:rPr>
              <a:t>service layer</a:t>
            </a:r>
            <a:endParaRPr lang="en-US" sz="1050" dirty="0"/>
          </a:p>
          <a:p>
            <a:pPr algn="ctr" indent="0" marL="0">
              <a:buNone/>
            </a:pPr>
            <a:r>
              <a:rPr lang="en-US" sz="1050" b="1" dirty="0">
                <a:solidFill>
                  <a:schemeClr val="tx1"/>
                </a:solidFill>
              </a:rPr>
              <a:t>authorize · transaction</a:t>
            </a:r>
            <a:endParaRPr lang="en-US" sz="1050" dirty="0"/>
          </a:p>
        </p:txBody>
      </p:sp>
      <p:sp>
        <p:nvSpPr>
          <p:cNvPr id="16" name="Shape 13"/>
          <p:cNvSpPr/>
          <p:nvPr/>
        </p:nvSpPr>
        <p:spPr>
          <a:xfrm>
            <a:off x="7022592" y="1700784"/>
            <a:ext cx="237744" cy="914"/>
          </a:xfrm>
          <a:prstGeom prst="line">
            <a:avLst/>
          </a:prstGeom>
          <a:noFill/>
          <a:ln w="15875">
            <a:solidFill>
              <a:srgbClr val="0F539E"/>
            </a:solidFill>
            <a:prstDash val="solid"/>
            <a:tailEnd type="triangle"/>
          </a:ln>
        </p:spPr>
      </p:sp>
      <p:sp>
        <p:nvSpPr>
          <p:cNvPr id="17" name="Shape 14"/>
          <p:cNvSpPr/>
          <p:nvPr/>
        </p:nvSpPr>
        <p:spPr>
          <a:xfrm>
            <a:off x="7260336" y="1325880"/>
            <a:ext cx="1463040" cy="749808"/>
          </a:xfrm>
          <a:prstGeom prst="roundRect">
            <a:avLst>
              <a:gd name="adj" fmla="val 9756"/>
            </a:avLst>
          </a:prstGeom>
          <a:solidFill>
            <a:srgbClr val="0C2B4B"/>
          </a:solidFill>
          <a:ln w="9525">
            <a:solidFill>
              <a:srgbClr val="0C2B4B"/>
            </a:solidFill>
            <a:prstDash val="solid"/>
          </a:ln>
        </p:spPr>
      </p:sp>
      <p:sp>
        <p:nvSpPr>
          <p:cNvPr id="18" name="Text 15"/>
          <p:cNvSpPr txBox="1"/>
          <p:nvPr/>
        </p:nvSpPr>
        <p:spPr>
          <a:xfrm>
            <a:off x="7333488" y="1325880"/>
            <a:ext cx="1316736" cy="749808"/>
          </a:xfrm>
          <a:prstGeom prst="rect">
            <a:avLst/>
          </a:prstGeom>
          <a:noFill/>
          <a:ln/>
        </p:spPr>
        <p:txBody>
          <a:bodyPr wrap="square" lIns="0" tIns="0" rIns="0" bIns="0" rtlCol="0" anchor="ctr"/>
          <a:lstStyle/>
          <a:p>
            <a:pPr algn="ctr" indent="0" marL="0">
              <a:buNone/>
            </a:pPr>
            <a:r>
              <a:rPr lang="en-US" sz="1050" b="1" dirty="0">
                <a:solidFill>
                  <a:schemeClr val="bg1"/>
                </a:solidFill>
              </a:rPr>
              <a:t>PostgreSQL</a:t>
            </a:r>
            <a:endParaRPr lang="en-US" sz="1050" dirty="0"/>
          </a:p>
        </p:txBody>
      </p:sp>
      <p:sp>
        <p:nvSpPr>
          <p:cNvPr id="19" name="Text 16"/>
          <p:cNvSpPr txBox="1"/>
          <p:nvPr/>
        </p:nvSpPr>
        <p:spPr>
          <a:xfrm>
            <a:off x="457200" y="2423160"/>
            <a:ext cx="4572000" cy="274320"/>
          </a:xfrm>
          <a:prstGeom prst="rect">
            <a:avLst/>
          </a:prstGeom>
          <a:noFill/>
          <a:ln/>
        </p:spPr>
        <p:txBody>
          <a:bodyPr wrap="square" lIns="0" tIns="0" rIns="0" bIns="0" rtlCol="0" anchor="t"/>
          <a:lstStyle/>
          <a:p>
            <a:pPr indent="0" marL="0">
              <a:buNone/>
            </a:pPr>
            <a:r>
              <a:rPr lang="en-US" sz="1300" b="1" dirty="0">
                <a:solidFill>
                  <a:schemeClr val="accent2"/>
                </a:solidFill>
              </a:rPr>
              <a:t>Socket.io — "something changed"</a:t>
            </a:r>
            <a:endParaRPr lang="en-US" sz="1300" dirty="0"/>
          </a:p>
        </p:txBody>
      </p:sp>
      <p:sp>
        <p:nvSpPr>
          <p:cNvPr id="20" name="Shape 17"/>
          <p:cNvSpPr/>
          <p:nvPr/>
        </p:nvSpPr>
        <p:spPr>
          <a:xfrm>
            <a:off x="457200" y="2788920"/>
            <a:ext cx="1874520" cy="749808"/>
          </a:xfrm>
          <a:prstGeom prst="roundRect">
            <a:avLst>
              <a:gd name="adj" fmla="val 9756"/>
            </a:avLst>
          </a:prstGeom>
          <a:solidFill>
            <a:srgbClr val="F8FAFC"/>
          </a:solidFill>
          <a:ln w="9525">
            <a:solidFill>
              <a:srgbClr val="CBD5E1"/>
            </a:solidFill>
            <a:prstDash val="solid"/>
          </a:ln>
        </p:spPr>
      </p:sp>
      <p:sp>
        <p:nvSpPr>
          <p:cNvPr id="21" name="Text 18"/>
          <p:cNvSpPr txBox="1"/>
          <p:nvPr/>
        </p:nvSpPr>
        <p:spPr>
          <a:xfrm>
            <a:off x="530352" y="2788920"/>
            <a:ext cx="1728216" cy="749808"/>
          </a:xfrm>
          <a:prstGeom prst="rect">
            <a:avLst/>
          </a:prstGeom>
          <a:noFill/>
          <a:ln/>
        </p:spPr>
        <p:txBody>
          <a:bodyPr wrap="square" lIns="0" tIns="0" rIns="0" bIns="0" rtlCol="0" anchor="ctr"/>
          <a:lstStyle/>
          <a:p>
            <a:pPr algn="ctr" indent="0" marL="0">
              <a:buNone/>
            </a:pPr>
            <a:r>
              <a:rPr lang="en-US" sz="1050" b="1" dirty="0">
                <a:solidFill>
                  <a:schemeClr val="tx1"/>
                </a:solidFill>
              </a:rPr>
              <a:t>Committed change</a:t>
            </a:r>
            <a:endParaRPr lang="en-US" sz="1050" dirty="0"/>
          </a:p>
        </p:txBody>
      </p:sp>
      <p:sp>
        <p:nvSpPr>
          <p:cNvPr id="22" name="Shape 19"/>
          <p:cNvSpPr/>
          <p:nvPr/>
        </p:nvSpPr>
        <p:spPr>
          <a:xfrm>
            <a:off x="2331720" y="3163824"/>
            <a:ext cx="256032" cy="914"/>
          </a:xfrm>
          <a:prstGeom prst="line">
            <a:avLst/>
          </a:prstGeom>
          <a:noFill/>
          <a:ln w="15875">
            <a:solidFill>
              <a:srgbClr val="25A596"/>
            </a:solidFill>
            <a:prstDash val="solid"/>
            <a:tailEnd type="triangle"/>
          </a:ln>
        </p:spPr>
      </p:sp>
      <p:sp>
        <p:nvSpPr>
          <p:cNvPr id="23" name="Shape 20"/>
          <p:cNvSpPr/>
          <p:nvPr/>
        </p:nvSpPr>
        <p:spPr>
          <a:xfrm>
            <a:off x="2587752" y="2788920"/>
            <a:ext cx="1874520" cy="749808"/>
          </a:xfrm>
          <a:prstGeom prst="roundRect">
            <a:avLst>
              <a:gd name="adj" fmla="val 9756"/>
            </a:avLst>
          </a:prstGeom>
          <a:solidFill>
            <a:srgbClr val="F8FAFC"/>
          </a:solidFill>
          <a:ln w="9525">
            <a:solidFill>
              <a:srgbClr val="CBD5E1"/>
            </a:solidFill>
            <a:prstDash val="solid"/>
          </a:ln>
        </p:spPr>
      </p:sp>
      <p:sp>
        <p:nvSpPr>
          <p:cNvPr id="24" name="Text 21"/>
          <p:cNvSpPr txBox="1"/>
          <p:nvPr/>
        </p:nvSpPr>
        <p:spPr>
          <a:xfrm>
            <a:off x="2660904" y="2788920"/>
            <a:ext cx="1728216" cy="749808"/>
          </a:xfrm>
          <a:prstGeom prst="rect">
            <a:avLst/>
          </a:prstGeom>
          <a:noFill/>
          <a:ln/>
        </p:spPr>
        <p:txBody>
          <a:bodyPr wrap="square" lIns="0" tIns="0" rIns="0" bIns="0" rtlCol="0" anchor="ctr"/>
          <a:lstStyle/>
          <a:p>
            <a:pPr algn="ctr" indent="0" marL="0">
              <a:buNone/>
            </a:pPr>
            <a:r>
              <a:rPr lang="en-US" sz="1050" b="1" dirty="0">
                <a:solidFill>
                  <a:schemeClr val="tx1"/>
                </a:solidFill>
              </a:rPr>
              <a:t>emit to rooms</a:t>
            </a:r>
            <a:endParaRPr lang="en-US" sz="1050" dirty="0"/>
          </a:p>
          <a:p>
            <a:pPr algn="ctr" indent="0" marL="0">
              <a:buNone/>
            </a:pPr>
            <a:r>
              <a:rPr lang="en-US" sz="1050" b="1" dirty="0">
                <a:solidFill>
                  <a:schemeClr val="tx1"/>
                </a:solidFill>
              </a:rPr>
              <a:t>org · workspace · token</a:t>
            </a:r>
            <a:endParaRPr lang="en-US" sz="1050" dirty="0"/>
          </a:p>
        </p:txBody>
      </p:sp>
      <p:sp>
        <p:nvSpPr>
          <p:cNvPr id="25" name="Shape 22"/>
          <p:cNvSpPr/>
          <p:nvPr/>
        </p:nvSpPr>
        <p:spPr>
          <a:xfrm>
            <a:off x="4462272" y="3163824"/>
            <a:ext cx="256032" cy="914"/>
          </a:xfrm>
          <a:prstGeom prst="line">
            <a:avLst/>
          </a:prstGeom>
          <a:noFill/>
          <a:ln w="15875">
            <a:solidFill>
              <a:srgbClr val="25A596"/>
            </a:solidFill>
            <a:prstDash val="solid"/>
            <a:tailEnd type="triangle"/>
          </a:ln>
        </p:spPr>
      </p:sp>
      <p:sp>
        <p:nvSpPr>
          <p:cNvPr id="26" name="Shape 23"/>
          <p:cNvSpPr/>
          <p:nvPr/>
        </p:nvSpPr>
        <p:spPr>
          <a:xfrm>
            <a:off x="4718304" y="2788920"/>
            <a:ext cx="1874520" cy="749808"/>
          </a:xfrm>
          <a:prstGeom prst="roundRect">
            <a:avLst>
              <a:gd name="adj" fmla="val 9756"/>
            </a:avLst>
          </a:prstGeom>
          <a:solidFill>
            <a:srgbClr val="F8FAFC"/>
          </a:solidFill>
          <a:ln w="9525">
            <a:solidFill>
              <a:srgbClr val="CBD5E1"/>
            </a:solidFill>
            <a:prstDash val="solid"/>
          </a:ln>
        </p:spPr>
      </p:sp>
      <p:sp>
        <p:nvSpPr>
          <p:cNvPr id="27" name="Text 24"/>
          <p:cNvSpPr txBox="1"/>
          <p:nvPr/>
        </p:nvSpPr>
        <p:spPr>
          <a:xfrm>
            <a:off x="4791456" y="2788920"/>
            <a:ext cx="1728216" cy="749808"/>
          </a:xfrm>
          <a:prstGeom prst="rect">
            <a:avLst/>
          </a:prstGeom>
          <a:noFill/>
          <a:ln/>
        </p:spPr>
        <p:txBody>
          <a:bodyPr wrap="square" lIns="0" tIns="0" rIns="0" bIns="0" rtlCol="0" anchor="ctr"/>
          <a:lstStyle/>
          <a:p>
            <a:pPr algn="ctr" indent="0" marL="0">
              <a:buNone/>
            </a:pPr>
            <a:r>
              <a:rPr lang="en-US" sz="1050" b="1" dirty="0">
                <a:solidFill>
                  <a:schemeClr val="tx1"/>
                </a:solidFill>
              </a:rPr>
              <a:t>dashboard: batched invalidate</a:t>
            </a:r>
            <a:endParaRPr lang="en-US" sz="1050" dirty="0"/>
          </a:p>
          <a:p>
            <a:pPr algn="ctr" indent="0" marL="0">
              <a:buNone/>
            </a:pPr>
            <a:r>
              <a:rPr lang="en-US" sz="1050" b="1" dirty="0">
                <a:solidFill>
                  <a:schemeClr val="tx1"/>
                </a:solidFill>
              </a:rPr>
              <a:t>visitors: apply payload</a:t>
            </a:r>
            <a:endParaRPr lang="en-US" sz="1050" dirty="0"/>
          </a:p>
        </p:txBody>
      </p:sp>
      <p:sp>
        <p:nvSpPr>
          <p:cNvPr id="28" name="Shape 25"/>
          <p:cNvSpPr/>
          <p:nvPr/>
        </p:nvSpPr>
        <p:spPr>
          <a:xfrm>
            <a:off x="6592824" y="3163824"/>
            <a:ext cx="256032" cy="914"/>
          </a:xfrm>
          <a:prstGeom prst="line">
            <a:avLst/>
          </a:prstGeom>
          <a:noFill/>
          <a:ln w="15875">
            <a:solidFill>
              <a:srgbClr val="25A596"/>
            </a:solidFill>
            <a:prstDash val="solid"/>
            <a:tailEnd type="triangle"/>
          </a:ln>
        </p:spPr>
      </p:sp>
      <p:sp>
        <p:nvSpPr>
          <p:cNvPr id="29" name="Shape 26"/>
          <p:cNvSpPr/>
          <p:nvPr/>
        </p:nvSpPr>
        <p:spPr>
          <a:xfrm>
            <a:off x="6848856" y="2788920"/>
            <a:ext cx="1874520" cy="749808"/>
          </a:xfrm>
          <a:prstGeom prst="roundRect">
            <a:avLst>
              <a:gd name="adj" fmla="val 9756"/>
            </a:avLst>
          </a:prstGeom>
          <a:solidFill>
            <a:srgbClr val="F8FAFC"/>
          </a:solidFill>
          <a:ln w="9525">
            <a:solidFill>
              <a:srgbClr val="CBD5E1"/>
            </a:solidFill>
            <a:prstDash val="solid"/>
          </a:ln>
        </p:spPr>
      </p:sp>
      <p:sp>
        <p:nvSpPr>
          <p:cNvPr id="30" name="Text 27"/>
          <p:cNvSpPr txBox="1"/>
          <p:nvPr/>
        </p:nvSpPr>
        <p:spPr>
          <a:xfrm>
            <a:off x="6922008" y="2788920"/>
            <a:ext cx="1728216" cy="749808"/>
          </a:xfrm>
          <a:prstGeom prst="rect">
            <a:avLst/>
          </a:prstGeom>
          <a:noFill/>
          <a:ln/>
        </p:spPr>
        <p:txBody>
          <a:bodyPr wrap="square" lIns="0" tIns="0" rIns="0" bIns="0" rtlCol="0" anchor="ctr"/>
          <a:lstStyle/>
          <a:p>
            <a:pPr algn="ctr" indent="0" marL="0">
              <a:buNone/>
            </a:pPr>
            <a:r>
              <a:rPr lang="en-US" sz="1050" b="1" dirty="0">
                <a:solidFill>
                  <a:schemeClr val="tx1"/>
                </a:solidFill>
              </a:rPr>
              <a:t>dashboard refetches once</a:t>
            </a:r>
            <a:endParaRPr lang="en-US" sz="1050" dirty="0"/>
          </a:p>
          <a:p>
            <a:pPr algn="ctr" indent="0" marL="0">
              <a:buNone/>
            </a:pPr>
            <a:r>
              <a:rPr lang="en-US" sz="1050" b="1" dirty="0">
                <a:solidFill>
                  <a:schemeClr val="tx1"/>
                </a:solidFill>
              </a:rPr>
              <a:t>per burst over REST</a:t>
            </a:r>
            <a:endParaRPr lang="en-US" sz="1050" dirty="0"/>
          </a:p>
        </p:txBody>
      </p:sp>
      <p:sp>
        <p:nvSpPr>
          <p:cNvPr id="31" name="Shape 28"/>
          <p:cNvSpPr/>
          <p:nvPr/>
        </p:nvSpPr>
        <p:spPr>
          <a:xfrm>
            <a:off x="457200" y="3794760"/>
            <a:ext cx="8229600" cy="749808"/>
          </a:xfrm>
          <a:prstGeom prst="roundRect">
            <a:avLst>
              <a:gd name="adj" fmla="val 9756"/>
            </a:avLst>
          </a:prstGeom>
          <a:solidFill>
            <a:srgbClr val="EEF5FC"/>
          </a:solidFill>
          <a:ln w="9525">
            <a:solidFill>
              <a:srgbClr val="D7E7F6"/>
            </a:solidFill>
            <a:prstDash val="solid"/>
          </a:ln>
        </p:spPr>
      </p:sp>
      <p:sp>
        <p:nvSpPr>
          <p:cNvPr id="32" name="Text 29"/>
          <p:cNvSpPr txBox="1"/>
          <p:nvPr/>
        </p:nvSpPr>
        <p:spPr>
          <a:xfrm>
            <a:off x="640080" y="3858768"/>
            <a:ext cx="7863840" cy="640080"/>
          </a:xfrm>
          <a:prstGeom prst="rect">
            <a:avLst/>
          </a:prstGeom>
          <a:noFill/>
          <a:ln/>
        </p:spPr>
        <p:txBody>
          <a:bodyPr wrap="square" lIns="0" tIns="0" rIns="0" bIns="0" rtlCol="0" anchor="ctr"/>
          <a:lstStyle/>
          <a:p>
            <a:pPr indent="0" marL="0">
              <a:buNone/>
            </a:pPr>
            <a:r>
              <a:rPr lang="en-US" sz="1200" b="1" dirty="0">
                <a:solidFill>
                  <a:schemeClr val="tx1"/>
                </a:solidFill>
              </a:rPr>
              <a:t>On reconnect: </a:t>
            </a:r>
            <a:pPr indent="0" marL="0">
              <a:buNone/>
            </a:pPr>
            <a:r>
              <a:rPr lang="en-US" sz="1200" dirty="0">
                <a:solidFill>
                  <a:schemeClr val="tx1"/>
                </a:solidFill>
              </a:rPr>
              <a:t>re-join rooms and refetch everything — a missed event is never assumed to be replayed. </a:t>
            </a:r>
            <a:pPr indent="0" marL="0">
              <a:buNone/>
            </a:pPr>
            <a:r>
              <a:rPr lang="en-US" sz="1200" b="1" dirty="0">
                <a:solidFill>
                  <a:schemeClr val="tx1"/>
                </a:solidFill>
              </a:rPr>
              <a:t>Rooms: </a:t>
            </a:r>
            <a:pPr indent="0" marL="0">
              <a:buNone/>
            </a:pPr>
            <a:r>
              <a:rPr lang="en-US" sz="1200" dirty="0">
                <a:solidFill>
                  <a:schemeClr val="tx1"/>
                </a:solidFill>
              </a:rPr>
              <a:t>organization (Head/Manager), workspace (Admin/Executives), token (one visitor), public queue (no personal data).</a:t>
            </a:r>
            <a:endParaRPr lang="en-US" sz="12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Token lifecycle: one server-side state machine</a:t>
            </a:r>
            <a:endParaRPr lang="en-US" sz="2400" dirty="0"/>
          </a:p>
        </p:txBody>
      </p:sp>
      <p:sp>
        <p:nvSpPr>
          <p:cNvPr id="4" name="Shape 1"/>
          <p:cNvSpPr/>
          <p:nvPr/>
        </p:nvSpPr>
        <p:spPr>
          <a:xfrm>
            <a:off x="548640" y="1417320"/>
            <a:ext cx="1691640" cy="685800"/>
          </a:xfrm>
          <a:prstGeom prst="roundRect">
            <a:avLst>
              <a:gd name="adj" fmla="val 49333"/>
            </a:avLst>
          </a:prstGeom>
          <a:solidFill>
            <a:srgbClr val="B45309"/>
          </a:solidFill>
          <a:ln w="12700">
            <a:solidFill>
              <a:srgbClr val="B45309"/>
            </a:solidFill>
            <a:prstDash val="solid"/>
          </a:ln>
        </p:spPr>
      </p:sp>
      <p:sp>
        <p:nvSpPr>
          <p:cNvPr id="5" name="Text 2"/>
          <p:cNvSpPr txBox="1"/>
          <p:nvPr/>
        </p:nvSpPr>
        <p:spPr>
          <a:xfrm>
            <a:off x="548640" y="1417320"/>
            <a:ext cx="1691640" cy="685800"/>
          </a:xfrm>
          <a:prstGeom prst="rect">
            <a:avLst/>
          </a:prstGeom>
          <a:noFill/>
          <a:ln/>
        </p:spPr>
        <p:txBody>
          <a:bodyPr wrap="square" lIns="0" tIns="0" rIns="0" bIns="0" rtlCol="0" anchor="ctr"/>
          <a:lstStyle/>
          <a:p>
            <a:pPr algn="ctr" indent="0" marL="0">
              <a:buNone/>
            </a:pPr>
            <a:r>
              <a:rPr lang="en-US" sz="1300" b="1" dirty="0">
                <a:solidFill>
                  <a:schemeClr val="bg1"/>
                </a:solidFill>
              </a:rPr>
              <a:t>WAITING</a:t>
            </a:r>
            <a:endParaRPr lang="en-US" sz="1300" dirty="0"/>
          </a:p>
        </p:txBody>
      </p:sp>
      <p:sp>
        <p:nvSpPr>
          <p:cNvPr id="6" name="Shape 3"/>
          <p:cNvSpPr/>
          <p:nvPr/>
        </p:nvSpPr>
        <p:spPr>
          <a:xfrm>
            <a:off x="2240280" y="1755648"/>
            <a:ext cx="411480" cy="914"/>
          </a:xfrm>
          <a:prstGeom prst="line">
            <a:avLst/>
          </a:prstGeom>
          <a:noFill/>
          <a:ln w="22225">
            <a:solidFill>
              <a:srgbClr val="475569"/>
            </a:solidFill>
            <a:prstDash val="solid"/>
            <a:tailEnd type="triangle"/>
          </a:ln>
        </p:spPr>
      </p:sp>
      <p:sp>
        <p:nvSpPr>
          <p:cNvPr id="7" name="Shape 4"/>
          <p:cNvSpPr/>
          <p:nvPr/>
        </p:nvSpPr>
        <p:spPr>
          <a:xfrm>
            <a:off x="2651760" y="1417320"/>
            <a:ext cx="1691640" cy="685800"/>
          </a:xfrm>
          <a:prstGeom prst="roundRect">
            <a:avLst>
              <a:gd name="adj" fmla="val 49333"/>
            </a:avLst>
          </a:prstGeom>
          <a:solidFill>
            <a:srgbClr val="0F539E"/>
          </a:solidFill>
          <a:ln w="12700">
            <a:solidFill>
              <a:srgbClr val="0F539E"/>
            </a:solidFill>
            <a:prstDash val="solid"/>
          </a:ln>
        </p:spPr>
      </p:sp>
      <p:sp>
        <p:nvSpPr>
          <p:cNvPr id="8" name="Text 5"/>
          <p:cNvSpPr txBox="1"/>
          <p:nvPr/>
        </p:nvSpPr>
        <p:spPr>
          <a:xfrm>
            <a:off x="2651760" y="1417320"/>
            <a:ext cx="1691640" cy="685800"/>
          </a:xfrm>
          <a:prstGeom prst="rect">
            <a:avLst/>
          </a:prstGeom>
          <a:noFill/>
          <a:ln/>
        </p:spPr>
        <p:txBody>
          <a:bodyPr wrap="square" lIns="0" tIns="0" rIns="0" bIns="0" rtlCol="0" anchor="ctr"/>
          <a:lstStyle/>
          <a:p>
            <a:pPr algn="ctr" indent="0" marL="0">
              <a:buNone/>
            </a:pPr>
            <a:r>
              <a:rPr lang="en-US" sz="1300" b="1" dirty="0">
                <a:solidFill>
                  <a:schemeClr val="bg1"/>
                </a:solidFill>
              </a:rPr>
              <a:t>CALLED</a:t>
            </a:r>
            <a:endParaRPr lang="en-US" sz="1300" dirty="0"/>
          </a:p>
        </p:txBody>
      </p:sp>
      <p:sp>
        <p:nvSpPr>
          <p:cNvPr id="9" name="Shape 6"/>
          <p:cNvSpPr/>
          <p:nvPr/>
        </p:nvSpPr>
        <p:spPr>
          <a:xfrm>
            <a:off x="4343400" y="1755648"/>
            <a:ext cx="411480" cy="914"/>
          </a:xfrm>
          <a:prstGeom prst="line">
            <a:avLst/>
          </a:prstGeom>
          <a:noFill/>
          <a:ln w="22225">
            <a:solidFill>
              <a:srgbClr val="475569"/>
            </a:solidFill>
            <a:prstDash val="solid"/>
            <a:tailEnd type="triangle"/>
          </a:ln>
        </p:spPr>
      </p:sp>
      <p:sp>
        <p:nvSpPr>
          <p:cNvPr id="10" name="Shape 7"/>
          <p:cNvSpPr/>
          <p:nvPr/>
        </p:nvSpPr>
        <p:spPr>
          <a:xfrm>
            <a:off x="4754880" y="1417320"/>
            <a:ext cx="1691640" cy="685800"/>
          </a:xfrm>
          <a:prstGeom prst="roundRect">
            <a:avLst>
              <a:gd name="adj" fmla="val 49333"/>
            </a:avLst>
          </a:prstGeom>
          <a:solidFill>
            <a:srgbClr val="25A596"/>
          </a:solidFill>
          <a:ln w="12700">
            <a:solidFill>
              <a:srgbClr val="25A596"/>
            </a:solidFill>
            <a:prstDash val="solid"/>
          </a:ln>
        </p:spPr>
      </p:sp>
      <p:sp>
        <p:nvSpPr>
          <p:cNvPr id="11" name="Text 8"/>
          <p:cNvSpPr txBox="1"/>
          <p:nvPr/>
        </p:nvSpPr>
        <p:spPr>
          <a:xfrm>
            <a:off x="4754880" y="1417320"/>
            <a:ext cx="1691640" cy="685800"/>
          </a:xfrm>
          <a:prstGeom prst="rect">
            <a:avLst/>
          </a:prstGeom>
          <a:noFill/>
          <a:ln/>
        </p:spPr>
        <p:txBody>
          <a:bodyPr wrap="square" lIns="0" tIns="0" rIns="0" bIns="0" rtlCol="0" anchor="ctr"/>
          <a:lstStyle/>
          <a:p>
            <a:pPr algn="ctr" indent="0" marL="0">
              <a:buNone/>
            </a:pPr>
            <a:r>
              <a:rPr lang="en-US" sz="1300" b="1" dirty="0">
                <a:solidFill>
                  <a:schemeClr val="bg1"/>
                </a:solidFill>
              </a:rPr>
              <a:t>IN_PROGRESS</a:t>
            </a:r>
            <a:endParaRPr lang="en-US" sz="1300" dirty="0"/>
          </a:p>
        </p:txBody>
      </p:sp>
      <p:sp>
        <p:nvSpPr>
          <p:cNvPr id="12" name="Shape 9"/>
          <p:cNvSpPr/>
          <p:nvPr/>
        </p:nvSpPr>
        <p:spPr>
          <a:xfrm>
            <a:off x="6446520" y="1755648"/>
            <a:ext cx="411480" cy="914"/>
          </a:xfrm>
          <a:prstGeom prst="line">
            <a:avLst/>
          </a:prstGeom>
          <a:noFill/>
          <a:ln w="22225">
            <a:solidFill>
              <a:srgbClr val="475569"/>
            </a:solidFill>
            <a:prstDash val="solid"/>
            <a:tailEnd type="triangle"/>
          </a:ln>
        </p:spPr>
      </p:sp>
      <p:sp>
        <p:nvSpPr>
          <p:cNvPr id="13" name="Shape 10"/>
          <p:cNvSpPr/>
          <p:nvPr/>
        </p:nvSpPr>
        <p:spPr>
          <a:xfrm>
            <a:off x="6858000" y="1417320"/>
            <a:ext cx="1691640" cy="685800"/>
          </a:xfrm>
          <a:prstGeom prst="roundRect">
            <a:avLst>
              <a:gd name="adj" fmla="val 49333"/>
            </a:avLst>
          </a:prstGeom>
          <a:solidFill>
            <a:srgbClr val="15803D"/>
          </a:solidFill>
          <a:ln w="12700">
            <a:solidFill>
              <a:srgbClr val="15803D"/>
            </a:solidFill>
            <a:prstDash val="solid"/>
          </a:ln>
        </p:spPr>
      </p:sp>
      <p:sp>
        <p:nvSpPr>
          <p:cNvPr id="14" name="Text 11"/>
          <p:cNvSpPr txBox="1"/>
          <p:nvPr/>
        </p:nvSpPr>
        <p:spPr>
          <a:xfrm>
            <a:off x="6858000" y="1417320"/>
            <a:ext cx="1691640" cy="685800"/>
          </a:xfrm>
          <a:prstGeom prst="rect">
            <a:avLst/>
          </a:prstGeom>
          <a:noFill/>
          <a:ln/>
        </p:spPr>
        <p:txBody>
          <a:bodyPr wrap="square" lIns="0" tIns="0" rIns="0" bIns="0" rtlCol="0" anchor="ctr"/>
          <a:lstStyle/>
          <a:p>
            <a:pPr algn="ctr" indent="0" marL="0">
              <a:buNone/>
            </a:pPr>
            <a:r>
              <a:rPr lang="en-US" sz="1300" b="1" dirty="0">
                <a:solidFill>
                  <a:schemeClr val="bg1"/>
                </a:solidFill>
              </a:rPr>
              <a:t>COMPLETED</a:t>
            </a:r>
            <a:endParaRPr lang="en-US" sz="1300" dirty="0"/>
          </a:p>
        </p:txBody>
      </p:sp>
      <p:sp>
        <p:nvSpPr>
          <p:cNvPr id="15" name="Text 12"/>
          <p:cNvSpPr txBox="1"/>
          <p:nvPr/>
        </p:nvSpPr>
        <p:spPr>
          <a:xfrm>
            <a:off x="2148840" y="1143000"/>
            <a:ext cx="914400" cy="228600"/>
          </a:xfrm>
          <a:prstGeom prst="rect">
            <a:avLst/>
          </a:prstGeom>
          <a:noFill/>
          <a:ln/>
        </p:spPr>
        <p:txBody>
          <a:bodyPr wrap="square" lIns="0" tIns="0" rIns="0" bIns="0" rtlCol="0" anchor="t"/>
          <a:lstStyle/>
          <a:p>
            <a:pPr algn="ctr" indent="0" marL="0">
              <a:buNone/>
            </a:pPr>
            <a:r>
              <a:rPr lang="en-US" sz="900" dirty="0">
                <a:solidFill>
                  <a:srgbClr val="64748B"/>
                </a:solidFill>
              </a:rPr>
              <a:t>Serve next</a:t>
            </a:r>
            <a:endParaRPr lang="en-US" sz="900" dirty="0"/>
          </a:p>
        </p:txBody>
      </p:sp>
      <p:sp>
        <p:nvSpPr>
          <p:cNvPr id="16" name="Text 13"/>
          <p:cNvSpPr txBox="1"/>
          <p:nvPr/>
        </p:nvSpPr>
        <p:spPr>
          <a:xfrm>
            <a:off x="4206240" y="1143000"/>
            <a:ext cx="1005840" cy="228600"/>
          </a:xfrm>
          <a:prstGeom prst="rect">
            <a:avLst/>
          </a:prstGeom>
          <a:noFill/>
          <a:ln/>
        </p:spPr>
        <p:txBody>
          <a:bodyPr wrap="square" lIns="0" tIns="0" rIns="0" bIns="0" rtlCol="0" anchor="t"/>
          <a:lstStyle/>
          <a:p>
            <a:pPr algn="ctr" indent="0" marL="0">
              <a:buNone/>
            </a:pPr>
            <a:r>
              <a:rPr lang="en-US" sz="900" dirty="0">
                <a:solidFill>
                  <a:srgbClr val="64748B"/>
                </a:solidFill>
              </a:rPr>
              <a:t>Start (± code)</a:t>
            </a:r>
            <a:endParaRPr lang="en-US" sz="900" dirty="0"/>
          </a:p>
        </p:txBody>
      </p:sp>
      <p:sp>
        <p:nvSpPr>
          <p:cNvPr id="17" name="Text 14"/>
          <p:cNvSpPr txBox="1"/>
          <p:nvPr/>
        </p:nvSpPr>
        <p:spPr>
          <a:xfrm>
            <a:off x="6400800" y="1143000"/>
            <a:ext cx="822960" cy="228600"/>
          </a:xfrm>
          <a:prstGeom prst="rect">
            <a:avLst/>
          </a:prstGeom>
          <a:noFill/>
          <a:ln/>
        </p:spPr>
        <p:txBody>
          <a:bodyPr wrap="square" lIns="0" tIns="0" rIns="0" bIns="0" rtlCol="0" anchor="t"/>
          <a:lstStyle/>
          <a:p>
            <a:pPr algn="ctr" indent="0" marL="0">
              <a:buNone/>
            </a:pPr>
            <a:r>
              <a:rPr lang="en-US" sz="900" dirty="0">
                <a:solidFill>
                  <a:srgbClr val="64748B"/>
                </a:solidFill>
              </a:rPr>
              <a:t>Complete</a:t>
            </a:r>
            <a:endParaRPr lang="en-US" sz="900" dirty="0"/>
          </a:p>
        </p:txBody>
      </p:sp>
      <p:sp>
        <p:nvSpPr>
          <p:cNvPr id="18" name="Shape 15"/>
          <p:cNvSpPr/>
          <p:nvPr/>
        </p:nvSpPr>
        <p:spPr>
          <a:xfrm>
            <a:off x="2743200" y="2880360"/>
            <a:ext cx="1691640" cy="594360"/>
          </a:xfrm>
          <a:prstGeom prst="roundRect">
            <a:avLst>
              <a:gd name="adj" fmla="val 49231"/>
            </a:avLst>
          </a:prstGeom>
          <a:solidFill>
            <a:srgbClr val="FEE2E2"/>
          </a:solidFill>
          <a:ln w="12700">
            <a:solidFill>
              <a:srgbClr val="B91C1C"/>
            </a:solidFill>
            <a:prstDash val="solid"/>
          </a:ln>
        </p:spPr>
      </p:sp>
      <p:sp>
        <p:nvSpPr>
          <p:cNvPr id="19" name="Text 16"/>
          <p:cNvSpPr txBox="1"/>
          <p:nvPr/>
        </p:nvSpPr>
        <p:spPr>
          <a:xfrm>
            <a:off x="2743200" y="2880360"/>
            <a:ext cx="1691640" cy="594360"/>
          </a:xfrm>
          <a:prstGeom prst="rect">
            <a:avLst/>
          </a:prstGeom>
          <a:noFill/>
          <a:ln/>
        </p:spPr>
        <p:txBody>
          <a:bodyPr wrap="square" lIns="0" tIns="0" rIns="0" bIns="0" rtlCol="0" anchor="ctr"/>
          <a:lstStyle/>
          <a:p>
            <a:pPr algn="ctr" indent="0" marL="0">
              <a:buNone/>
            </a:pPr>
            <a:r>
              <a:rPr lang="en-US" sz="1200" b="1" dirty="0">
                <a:solidFill>
                  <a:srgbClr val="B91C1C"/>
                </a:solidFill>
              </a:rPr>
              <a:t>SKIPPED</a:t>
            </a:r>
            <a:endParaRPr lang="en-US" sz="1200" dirty="0"/>
          </a:p>
        </p:txBody>
      </p:sp>
      <p:sp>
        <p:nvSpPr>
          <p:cNvPr id="20" name="Shape 17"/>
          <p:cNvSpPr/>
          <p:nvPr/>
        </p:nvSpPr>
        <p:spPr>
          <a:xfrm>
            <a:off x="548640" y="2880360"/>
            <a:ext cx="1691640" cy="594360"/>
          </a:xfrm>
          <a:prstGeom prst="roundRect">
            <a:avLst>
              <a:gd name="adj" fmla="val 49231"/>
            </a:avLst>
          </a:prstGeom>
          <a:solidFill>
            <a:srgbClr val="F8FAFC"/>
          </a:solidFill>
          <a:ln w="12700">
            <a:solidFill>
              <a:srgbClr val="475569"/>
            </a:solidFill>
            <a:prstDash val="solid"/>
          </a:ln>
        </p:spPr>
      </p:sp>
      <p:sp>
        <p:nvSpPr>
          <p:cNvPr id="21" name="Text 18"/>
          <p:cNvSpPr txBox="1"/>
          <p:nvPr/>
        </p:nvSpPr>
        <p:spPr>
          <a:xfrm>
            <a:off x="548640" y="2880360"/>
            <a:ext cx="1691640" cy="594360"/>
          </a:xfrm>
          <a:prstGeom prst="rect">
            <a:avLst/>
          </a:prstGeom>
          <a:noFill/>
          <a:ln/>
        </p:spPr>
        <p:txBody>
          <a:bodyPr wrap="square" lIns="0" tIns="0" rIns="0" bIns="0" rtlCol="0" anchor="ctr"/>
          <a:lstStyle/>
          <a:p>
            <a:pPr algn="ctr" indent="0" marL="0">
              <a:buNone/>
            </a:pPr>
            <a:r>
              <a:rPr lang="en-US" sz="1200" b="1" dirty="0">
                <a:solidFill>
                  <a:srgbClr val="475569"/>
                </a:solidFill>
              </a:rPr>
              <a:t>CANCELLED</a:t>
            </a:r>
            <a:endParaRPr lang="en-US" sz="1200" dirty="0"/>
          </a:p>
        </p:txBody>
      </p:sp>
      <p:sp>
        <p:nvSpPr>
          <p:cNvPr id="22" name="Shape 19"/>
          <p:cNvSpPr/>
          <p:nvPr/>
        </p:nvSpPr>
        <p:spPr>
          <a:xfrm>
            <a:off x="1371600" y="2103120"/>
            <a:ext cx="914" cy="777240"/>
          </a:xfrm>
          <a:prstGeom prst="line">
            <a:avLst/>
          </a:prstGeom>
          <a:noFill/>
          <a:ln w="15875">
            <a:solidFill>
              <a:srgbClr val="475569"/>
            </a:solidFill>
            <a:prstDash val="dash"/>
            <a:tailEnd type="triangle"/>
          </a:ln>
        </p:spPr>
      </p:sp>
      <p:sp>
        <p:nvSpPr>
          <p:cNvPr id="23" name="Shape 20"/>
          <p:cNvSpPr/>
          <p:nvPr/>
        </p:nvSpPr>
        <p:spPr>
          <a:xfrm>
            <a:off x="3566160" y="2103120"/>
            <a:ext cx="914" cy="777240"/>
          </a:xfrm>
          <a:prstGeom prst="line">
            <a:avLst/>
          </a:prstGeom>
          <a:noFill/>
          <a:ln w="15875">
            <a:solidFill>
              <a:srgbClr val="B91C1C"/>
            </a:solidFill>
            <a:prstDash val="dash"/>
            <a:tailEnd type="triangle"/>
          </a:ln>
        </p:spPr>
      </p:sp>
      <p:sp>
        <p:nvSpPr>
          <p:cNvPr id="24" name="Shape 21"/>
          <p:cNvSpPr/>
          <p:nvPr/>
        </p:nvSpPr>
        <p:spPr>
          <a:xfrm>
            <a:off x="1463040" y="2103120"/>
            <a:ext cx="1645920" cy="777240"/>
          </a:xfrm>
          <a:prstGeom prst="line">
            <a:avLst/>
          </a:prstGeom>
          <a:noFill/>
          <a:ln w="15875">
            <a:solidFill>
              <a:srgbClr val="B91C1C"/>
            </a:solidFill>
            <a:prstDash val="dash"/>
            <a:tailEnd type="triangle"/>
          </a:ln>
        </p:spPr>
      </p:sp>
      <p:sp>
        <p:nvSpPr>
          <p:cNvPr id="25" name="Shape 22"/>
          <p:cNvSpPr/>
          <p:nvPr/>
        </p:nvSpPr>
        <p:spPr>
          <a:xfrm flipH="1">
            <a:off x="4206240" y="2103120"/>
            <a:ext cx="1463040" cy="777240"/>
          </a:xfrm>
          <a:prstGeom prst="line">
            <a:avLst/>
          </a:prstGeom>
          <a:noFill/>
          <a:ln w="15875">
            <a:solidFill>
              <a:srgbClr val="B91C1C"/>
            </a:solidFill>
            <a:prstDash val="dash"/>
            <a:tailEnd type="triangle"/>
          </a:ln>
        </p:spPr>
      </p:sp>
      <p:sp>
        <p:nvSpPr>
          <p:cNvPr id="26" name="Text 23"/>
          <p:cNvSpPr txBox="1"/>
          <p:nvPr/>
        </p:nvSpPr>
        <p:spPr>
          <a:xfrm>
            <a:off x="228600" y="2286000"/>
            <a:ext cx="1097280" cy="457200"/>
          </a:xfrm>
          <a:prstGeom prst="rect">
            <a:avLst/>
          </a:prstGeom>
          <a:noFill/>
          <a:ln/>
        </p:spPr>
        <p:txBody>
          <a:bodyPr wrap="square" lIns="0" tIns="0" rIns="0" bIns="0" rtlCol="0" anchor="t"/>
          <a:lstStyle/>
          <a:p>
            <a:pPr indent="0" marL="0">
              <a:buNone/>
            </a:pPr>
            <a:r>
              <a:rPr lang="en-US" sz="900" dirty="0">
                <a:solidFill>
                  <a:srgbClr val="64748B"/>
                </a:solidFill>
              </a:rPr>
              <a:t>visitor cancels</a:t>
            </a:r>
            <a:endParaRPr lang="en-US" sz="900" dirty="0"/>
          </a:p>
          <a:p>
            <a:pPr indent="0" marL="0">
              <a:buNone/>
            </a:pPr>
            <a:r>
              <a:rPr lang="en-US" sz="900" dirty="0">
                <a:solidFill>
                  <a:srgbClr val="64748B"/>
                </a:solidFill>
              </a:rPr>
              <a:t>(before service)</a:t>
            </a:r>
            <a:endParaRPr lang="en-US" sz="900" dirty="0"/>
          </a:p>
        </p:txBody>
      </p:sp>
      <p:sp>
        <p:nvSpPr>
          <p:cNvPr id="27" name="Text 24"/>
          <p:cNvSpPr txBox="1"/>
          <p:nvPr/>
        </p:nvSpPr>
        <p:spPr>
          <a:xfrm>
            <a:off x="5806440" y="2331720"/>
            <a:ext cx="2194560" cy="228600"/>
          </a:xfrm>
          <a:prstGeom prst="rect">
            <a:avLst/>
          </a:prstGeom>
          <a:noFill/>
          <a:ln/>
        </p:spPr>
        <p:txBody>
          <a:bodyPr wrap="square" lIns="0" tIns="0" rIns="0" bIns="0" rtlCol="0" anchor="t"/>
          <a:lstStyle/>
          <a:p>
            <a:pPr indent="0" marL="0">
              <a:buNone/>
            </a:pPr>
            <a:r>
              <a:rPr lang="en-US" sz="900" dirty="0">
                <a:solidFill>
                  <a:srgbClr val="B91C1C"/>
                </a:solidFill>
              </a:rPr>
              <a:t>staff skip — reason required</a:t>
            </a:r>
            <a:endParaRPr lang="en-US" sz="900" dirty="0"/>
          </a:p>
        </p:txBody>
      </p:sp>
      <p:sp>
        <p:nvSpPr>
          <p:cNvPr id="28" name="Shape 25"/>
          <p:cNvSpPr/>
          <p:nvPr/>
        </p:nvSpPr>
        <p:spPr>
          <a:xfrm>
            <a:off x="5120640" y="2788920"/>
            <a:ext cx="3566160" cy="914400"/>
          </a:xfrm>
          <a:prstGeom prst="roundRect">
            <a:avLst>
              <a:gd name="adj" fmla="val 8000"/>
            </a:avLst>
          </a:prstGeom>
          <a:solidFill>
            <a:srgbClr val="EEF5FC"/>
          </a:solidFill>
          <a:ln w="12700">
            <a:solidFill>
              <a:srgbClr val="D7E7F6"/>
            </a:solidFill>
            <a:prstDash val="solid"/>
          </a:ln>
        </p:spPr>
      </p:sp>
      <p:sp>
        <p:nvSpPr>
          <p:cNvPr id="29" name="Text 26"/>
          <p:cNvSpPr txBox="1"/>
          <p:nvPr/>
        </p:nvSpPr>
        <p:spPr>
          <a:xfrm>
            <a:off x="5257800" y="2852928"/>
            <a:ext cx="3291840" cy="777240"/>
          </a:xfrm>
          <a:prstGeom prst="rect">
            <a:avLst/>
          </a:prstGeom>
          <a:noFill/>
          <a:ln/>
        </p:spPr>
        <p:txBody>
          <a:bodyPr wrap="square" lIns="0" tIns="0" rIns="0" bIns="0" rtlCol="0" anchor="ctr"/>
          <a:lstStyle/>
          <a:p>
            <a:pPr indent="0" marL="0">
              <a:buNone/>
            </a:pPr>
            <a:r>
              <a:rPr lang="en-US" sz="1150" b="1" dirty="0">
                <a:solidFill>
                  <a:schemeClr val="tx1"/>
                </a:solidFill>
              </a:rPr>
              <a:t>Journey step done, more to go → </a:t>
            </a:r>
            <a:pPr indent="0" marL="0">
              <a:buNone/>
            </a:pPr>
            <a:r>
              <a:rPr lang="en-US" sz="1150" dirty="0">
                <a:solidFill>
                  <a:schemeClr val="tx1"/>
                </a:solidFill>
              </a:rPr>
              <a:t>back to WAITING for the next step, keeping the original arrival position.</a:t>
            </a:r>
            <a:endParaRPr lang="en-US" sz="1150" dirty="0"/>
          </a:p>
        </p:txBody>
      </p:sp>
      <p:sp>
        <p:nvSpPr>
          <p:cNvPr id="30" name="Text 27"/>
          <p:cNvSpPr txBox="1"/>
          <p:nvPr/>
        </p:nvSpPr>
        <p:spPr>
          <a:xfrm>
            <a:off x="548640" y="4069080"/>
            <a:ext cx="8138160" cy="411480"/>
          </a:xfrm>
          <a:prstGeom prst="rect">
            <a:avLst/>
          </a:prstGeom>
          <a:noFill/>
          <a:ln/>
        </p:spPr>
        <p:txBody>
          <a:bodyPr wrap="square" lIns="0" tIns="0" rIns="0" bIns="0" rtlCol="0" anchor="t"/>
          <a:lstStyle/>
          <a:p>
            <a:pPr indent="0" marL="0">
              <a:buNone/>
            </a:pPr>
            <a:r>
              <a:rPr lang="en-US" sz="1200" dirty="0">
                <a:solidFill>
                  <a:srgbClr val="475569"/>
                </a:solidFill>
              </a:rPr>
              <a:t>Serve next and Start are atomic compare-and-swap updates; the server rejects any transition the machine does not allow.</a:t>
            </a:r>
            <a:endParaRPr lang="en-US" sz="12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Ordered journeys and referrals</a:t>
            </a:r>
            <a:endParaRPr lang="en-US" sz="2400" dirty="0"/>
          </a:p>
        </p:txBody>
      </p:sp>
      <p:sp>
        <p:nvSpPr>
          <p:cNvPr id="4" name="Shape 1"/>
          <p:cNvSpPr/>
          <p:nvPr/>
        </p:nvSpPr>
        <p:spPr>
          <a:xfrm>
            <a:off x="548640" y="1051560"/>
            <a:ext cx="2240280" cy="713232"/>
          </a:xfrm>
          <a:prstGeom prst="roundRect">
            <a:avLst>
              <a:gd name="adj" fmla="val 10256"/>
            </a:avLst>
          </a:prstGeom>
          <a:solidFill>
            <a:srgbClr val="F8FAFC"/>
          </a:solidFill>
          <a:ln w="9525">
            <a:solidFill>
              <a:srgbClr val="CBD5E1"/>
            </a:solidFill>
            <a:prstDash val="solid"/>
          </a:ln>
        </p:spPr>
      </p:sp>
      <p:sp>
        <p:nvSpPr>
          <p:cNvPr id="5" name="Text 2"/>
          <p:cNvSpPr txBox="1"/>
          <p:nvPr/>
        </p:nvSpPr>
        <p:spPr>
          <a:xfrm>
            <a:off x="640080" y="1106424"/>
            <a:ext cx="2057400" cy="603504"/>
          </a:xfrm>
          <a:prstGeom prst="rect">
            <a:avLst/>
          </a:prstGeom>
          <a:noFill/>
          <a:ln/>
        </p:spPr>
        <p:txBody>
          <a:bodyPr wrap="square" lIns="0" tIns="0" rIns="0" bIns="0" rtlCol="0" anchor="ctr"/>
          <a:lstStyle/>
          <a:p>
            <a:pPr algn="ctr" indent="0" marL="0">
              <a:buNone/>
            </a:pPr>
            <a:r>
              <a:rPr lang="en-US" sz="1200" b="1" dirty="0">
                <a:solidFill>
                  <a:schemeClr val="tx1"/>
                </a:solidFill>
              </a:rPr>
              <a:t>Step 1</a:t>
            </a:r>
            <a:endParaRPr lang="en-US" sz="1200" dirty="0"/>
          </a:p>
          <a:p>
            <a:pPr algn="ctr" indent="0" marL="0">
              <a:buNone/>
            </a:pPr>
            <a:r>
              <a:rPr lang="en-US" sz="1000" dirty="0">
                <a:solidFill>
                  <a:srgbClr val="475569"/>
                </a:solidFill>
              </a:rPr>
              <a:t>Admissions enquiry</a:t>
            </a:r>
            <a:endParaRPr lang="en-US" sz="1200" dirty="0"/>
          </a:p>
        </p:txBody>
      </p:sp>
      <p:sp>
        <p:nvSpPr>
          <p:cNvPr id="6" name="Shape 3"/>
          <p:cNvSpPr/>
          <p:nvPr/>
        </p:nvSpPr>
        <p:spPr>
          <a:xfrm>
            <a:off x="2788920" y="1408176"/>
            <a:ext cx="594360" cy="914"/>
          </a:xfrm>
          <a:prstGeom prst="line">
            <a:avLst/>
          </a:prstGeom>
          <a:noFill/>
          <a:ln w="19050">
            <a:solidFill>
              <a:srgbClr val="0F539E"/>
            </a:solidFill>
            <a:prstDash val="solid"/>
            <a:tailEnd type="triangle"/>
          </a:ln>
        </p:spPr>
      </p:sp>
      <p:sp>
        <p:nvSpPr>
          <p:cNvPr id="7" name="Shape 4"/>
          <p:cNvSpPr/>
          <p:nvPr/>
        </p:nvSpPr>
        <p:spPr>
          <a:xfrm>
            <a:off x="3383280" y="1051560"/>
            <a:ext cx="2240280" cy="713232"/>
          </a:xfrm>
          <a:prstGeom prst="roundRect">
            <a:avLst>
              <a:gd name="adj" fmla="val 10256"/>
            </a:avLst>
          </a:prstGeom>
          <a:solidFill>
            <a:srgbClr val="EEF5FC"/>
          </a:solidFill>
          <a:ln w="9525">
            <a:solidFill>
              <a:srgbClr val="0F539E"/>
            </a:solidFill>
            <a:prstDash val="solid"/>
          </a:ln>
        </p:spPr>
      </p:sp>
      <p:sp>
        <p:nvSpPr>
          <p:cNvPr id="8" name="Text 5"/>
          <p:cNvSpPr txBox="1"/>
          <p:nvPr/>
        </p:nvSpPr>
        <p:spPr>
          <a:xfrm>
            <a:off x="3474720" y="1106424"/>
            <a:ext cx="2057400" cy="603504"/>
          </a:xfrm>
          <a:prstGeom prst="rect">
            <a:avLst/>
          </a:prstGeom>
          <a:noFill/>
          <a:ln/>
        </p:spPr>
        <p:txBody>
          <a:bodyPr wrap="square" lIns="0" tIns="0" rIns="0" bIns="0" rtlCol="0" anchor="ctr"/>
          <a:lstStyle/>
          <a:p>
            <a:pPr algn="ctr" indent="0" marL="0">
              <a:buNone/>
            </a:pPr>
            <a:r>
              <a:rPr lang="en-US" sz="1200" b="1" dirty="0">
                <a:solidFill>
                  <a:schemeClr val="tx1"/>
                </a:solidFill>
              </a:rPr>
              <a:t>Step 2</a:t>
            </a:r>
            <a:endParaRPr lang="en-US" sz="1200" dirty="0"/>
          </a:p>
          <a:p>
            <a:pPr algn="ctr" indent="0" marL="0">
              <a:buNone/>
            </a:pPr>
            <a:r>
              <a:rPr lang="en-US" sz="1000" dirty="0">
                <a:solidFill>
                  <a:srgbClr val="475569"/>
                </a:solidFill>
              </a:rPr>
              <a:t>Fee payment</a:t>
            </a:r>
            <a:endParaRPr lang="en-US" sz="1200" dirty="0"/>
          </a:p>
        </p:txBody>
      </p:sp>
      <p:sp>
        <p:nvSpPr>
          <p:cNvPr id="9" name="Shape 6"/>
          <p:cNvSpPr/>
          <p:nvPr/>
        </p:nvSpPr>
        <p:spPr>
          <a:xfrm>
            <a:off x="5623560" y="1408176"/>
            <a:ext cx="594360" cy="914"/>
          </a:xfrm>
          <a:prstGeom prst="line">
            <a:avLst/>
          </a:prstGeom>
          <a:noFill/>
          <a:ln w="19050">
            <a:solidFill>
              <a:srgbClr val="0F539E"/>
            </a:solidFill>
            <a:prstDash val="solid"/>
            <a:tailEnd type="triangle"/>
          </a:ln>
        </p:spPr>
      </p:sp>
      <p:sp>
        <p:nvSpPr>
          <p:cNvPr id="10" name="Shape 7"/>
          <p:cNvSpPr/>
          <p:nvPr/>
        </p:nvSpPr>
        <p:spPr>
          <a:xfrm>
            <a:off x="6217920" y="1051560"/>
            <a:ext cx="2240280" cy="713232"/>
          </a:xfrm>
          <a:prstGeom prst="roundRect">
            <a:avLst>
              <a:gd name="adj" fmla="val 10256"/>
            </a:avLst>
          </a:prstGeom>
          <a:solidFill>
            <a:srgbClr val="F8FAFC"/>
          </a:solidFill>
          <a:ln w="9525">
            <a:solidFill>
              <a:srgbClr val="CBD5E1"/>
            </a:solidFill>
            <a:prstDash val="solid"/>
          </a:ln>
        </p:spPr>
      </p:sp>
      <p:sp>
        <p:nvSpPr>
          <p:cNvPr id="11" name="Text 8"/>
          <p:cNvSpPr txBox="1"/>
          <p:nvPr/>
        </p:nvSpPr>
        <p:spPr>
          <a:xfrm>
            <a:off x="6309360" y="1106424"/>
            <a:ext cx="2057400" cy="603504"/>
          </a:xfrm>
          <a:prstGeom prst="rect">
            <a:avLst/>
          </a:prstGeom>
          <a:noFill/>
          <a:ln/>
        </p:spPr>
        <p:txBody>
          <a:bodyPr wrap="square" lIns="0" tIns="0" rIns="0" bIns="0" rtlCol="0" anchor="ctr"/>
          <a:lstStyle/>
          <a:p>
            <a:pPr algn="ctr" indent="0" marL="0">
              <a:buNone/>
            </a:pPr>
            <a:r>
              <a:rPr lang="en-US" sz="1200" b="1" dirty="0">
                <a:solidFill>
                  <a:schemeClr val="tx1"/>
                </a:solidFill>
              </a:rPr>
              <a:t>Step 3</a:t>
            </a:r>
            <a:endParaRPr lang="en-US" sz="1200" dirty="0"/>
          </a:p>
          <a:p>
            <a:pPr algn="ctr" indent="0" marL="0">
              <a:buNone/>
            </a:pPr>
            <a:r>
              <a:rPr lang="en-US" sz="1000" dirty="0">
                <a:solidFill>
                  <a:srgbClr val="475569"/>
                </a:solidFill>
              </a:rPr>
              <a:t>Document collection</a:t>
            </a:r>
            <a:endParaRPr lang="en-US" sz="1200" dirty="0"/>
          </a:p>
        </p:txBody>
      </p:sp>
      <p:sp>
        <p:nvSpPr>
          <p:cNvPr id="12" name="Shape 9"/>
          <p:cNvSpPr/>
          <p:nvPr/>
        </p:nvSpPr>
        <p:spPr>
          <a:xfrm>
            <a:off x="3611880" y="1856232"/>
            <a:ext cx="1463040" cy="237744"/>
          </a:xfrm>
          <a:prstGeom prst="roundRect">
            <a:avLst>
              <a:gd name="adj" fmla="val 50000"/>
            </a:avLst>
          </a:prstGeom>
          <a:solidFill>
            <a:srgbClr val="EEF5FC"/>
          </a:solidFill>
          <a:ln w="12700">
            <a:solidFill>
              <a:srgbClr val="EEF5FC"/>
            </a:solidFill>
            <a:prstDash val="solid"/>
          </a:ln>
        </p:spPr>
      </p:sp>
      <p:sp>
        <p:nvSpPr>
          <p:cNvPr id="13" name="Text 10"/>
          <p:cNvSpPr txBox="1"/>
          <p:nvPr/>
        </p:nvSpPr>
        <p:spPr>
          <a:xfrm>
            <a:off x="3611880" y="1856232"/>
            <a:ext cx="1463040" cy="237744"/>
          </a:xfrm>
          <a:prstGeom prst="rect">
            <a:avLst/>
          </a:prstGeom>
          <a:noFill/>
          <a:ln/>
        </p:spPr>
        <p:txBody>
          <a:bodyPr wrap="square" lIns="0" tIns="0" rIns="0" bIns="0" rtlCol="0" anchor="ctr"/>
          <a:lstStyle/>
          <a:p>
            <a:pPr algn="ctr" indent="0" marL="0">
              <a:buNone/>
            </a:pPr>
            <a:r>
              <a:rPr lang="en-US" sz="900" b="1" dirty="0">
                <a:solidFill>
                  <a:srgbClr val="0F539E"/>
                </a:solidFill>
              </a:rPr>
              <a:t>current step</a:t>
            </a:r>
            <a:endParaRPr lang="en-US" sz="900" dirty="0"/>
          </a:p>
        </p:txBody>
      </p:sp>
      <p:sp>
        <p:nvSpPr>
          <p:cNvPr id="14" name="Text 11"/>
          <p:cNvSpPr txBox="1"/>
          <p:nvPr/>
        </p:nvSpPr>
        <p:spPr>
          <a:xfrm>
            <a:off x="3108960" y="2176272"/>
            <a:ext cx="2560320" cy="228600"/>
          </a:xfrm>
          <a:prstGeom prst="rect">
            <a:avLst/>
          </a:prstGeom>
          <a:noFill/>
          <a:ln/>
        </p:spPr>
        <p:txBody>
          <a:bodyPr wrap="square" lIns="0" tIns="0" rIns="0" bIns="0" rtlCol="0" anchor="t"/>
          <a:lstStyle/>
          <a:p>
            <a:pPr algn="ctr" indent="0" marL="0">
              <a:buNone/>
            </a:pPr>
            <a:r>
              <a:rPr lang="en-US" sz="950" dirty="0">
                <a:solidFill>
                  <a:srgbClr val="64748B"/>
                </a:solidFill>
              </a:rPr>
              <a:t>Desk 2 handles Payment → served there</a:t>
            </a:r>
            <a:endParaRPr lang="en-US" sz="950" dirty="0"/>
          </a:p>
        </p:txBody>
      </p:sp>
      <p:sp>
        <p:nvSpPr>
          <p:cNvPr id="15" name="Shape 12"/>
          <p:cNvSpPr/>
          <p:nvPr/>
        </p:nvSpPr>
        <p:spPr>
          <a:xfrm>
            <a:off x="548640" y="2606040"/>
            <a:ext cx="2560320" cy="841248"/>
          </a:xfrm>
          <a:prstGeom prst="roundRect">
            <a:avLst>
              <a:gd name="adj" fmla="val 8696"/>
            </a:avLst>
          </a:prstGeom>
          <a:solidFill>
            <a:srgbClr val="F8FAFC"/>
          </a:solidFill>
          <a:ln w="9525">
            <a:solidFill>
              <a:srgbClr val="CBD5E1"/>
            </a:solidFill>
            <a:prstDash val="solid"/>
          </a:ln>
        </p:spPr>
      </p:sp>
      <p:sp>
        <p:nvSpPr>
          <p:cNvPr id="16" name="Text 13"/>
          <p:cNvSpPr txBox="1"/>
          <p:nvPr/>
        </p:nvSpPr>
        <p:spPr>
          <a:xfrm>
            <a:off x="685800" y="2697480"/>
            <a:ext cx="2286000" cy="274320"/>
          </a:xfrm>
          <a:prstGeom prst="rect">
            <a:avLst/>
          </a:prstGeom>
          <a:noFill/>
          <a:ln/>
        </p:spPr>
        <p:txBody>
          <a:bodyPr wrap="square" lIns="0" tIns="0" rIns="0" bIns="0" rtlCol="0" anchor="t"/>
          <a:lstStyle/>
          <a:p>
            <a:pPr indent="0" marL="0">
              <a:buNone/>
            </a:pPr>
            <a:r>
              <a:rPr lang="en-US" sz="1200" b="1" dirty="0">
                <a:solidFill>
                  <a:schemeClr val="tx2"/>
                </a:solidFill>
              </a:rPr>
              <a:t>Ordered, 1–20 steps</a:t>
            </a:r>
            <a:endParaRPr lang="en-US" sz="1200" dirty="0"/>
          </a:p>
        </p:txBody>
      </p:sp>
      <p:sp>
        <p:nvSpPr>
          <p:cNvPr id="17" name="Text 14"/>
          <p:cNvSpPr txBox="1"/>
          <p:nvPr/>
        </p:nvSpPr>
        <p:spPr>
          <a:xfrm>
            <a:off x="685800" y="2990088"/>
            <a:ext cx="2286000" cy="411480"/>
          </a:xfrm>
          <a:prstGeom prst="rect">
            <a:avLst/>
          </a:prstGeom>
          <a:noFill/>
          <a:ln/>
        </p:spPr>
        <p:txBody>
          <a:bodyPr wrap="square" lIns="0" tIns="0" rIns="0" bIns="0" rtlCol="0" anchor="t"/>
          <a:lstStyle/>
          <a:p>
            <a:pPr indent="0" marL="0">
              <a:buNone/>
            </a:pPr>
            <a:r>
              <a:rPr lang="en-US" sz="1050" dirty="0">
                <a:solidFill>
                  <a:srgbClr val="475569"/>
                </a:solidFill>
              </a:rPr>
              <a:t>Chosen by the visitor from the recommended order</a:t>
            </a:r>
            <a:endParaRPr lang="en-US" sz="1050" dirty="0"/>
          </a:p>
        </p:txBody>
      </p:sp>
      <p:sp>
        <p:nvSpPr>
          <p:cNvPr id="18" name="Shape 15"/>
          <p:cNvSpPr/>
          <p:nvPr/>
        </p:nvSpPr>
        <p:spPr>
          <a:xfrm>
            <a:off x="3291840" y="2606040"/>
            <a:ext cx="2560320" cy="841248"/>
          </a:xfrm>
          <a:prstGeom prst="roundRect">
            <a:avLst>
              <a:gd name="adj" fmla="val 8696"/>
            </a:avLst>
          </a:prstGeom>
          <a:solidFill>
            <a:srgbClr val="F8FAFC"/>
          </a:solidFill>
          <a:ln w="9525">
            <a:solidFill>
              <a:srgbClr val="CBD5E1"/>
            </a:solidFill>
            <a:prstDash val="solid"/>
          </a:ln>
        </p:spPr>
      </p:sp>
      <p:sp>
        <p:nvSpPr>
          <p:cNvPr id="19" name="Text 16"/>
          <p:cNvSpPr txBox="1"/>
          <p:nvPr/>
        </p:nvSpPr>
        <p:spPr>
          <a:xfrm>
            <a:off x="3429000" y="2697480"/>
            <a:ext cx="2286000" cy="274320"/>
          </a:xfrm>
          <a:prstGeom prst="rect">
            <a:avLst/>
          </a:prstGeom>
          <a:noFill/>
          <a:ln/>
        </p:spPr>
        <p:txBody>
          <a:bodyPr wrap="square" lIns="0" tIns="0" rIns="0" bIns="0" rtlCol="0" anchor="t"/>
          <a:lstStyle/>
          <a:p>
            <a:pPr indent="0" marL="0">
              <a:buNone/>
            </a:pPr>
            <a:r>
              <a:rPr lang="en-US" sz="1200" b="1" dirty="0">
                <a:solidFill>
                  <a:schemeClr val="tx2"/>
                </a:solidFill>
              </a:rPr>
              <a:t>Repeat rules</a:t>
            </a:r>
            <a:endParaRPr lang="en-US" sz="1200" dirty="0"/>
          </a:p>
        </p:txBody>
      </p:sp>
      <p:sp>
        <p:nvSpPr>
          <p:cNvPr id="20" name="Text 17"/>
          <p:cNvSpPr txBox="1"/>
          <p:nvPr/>
        </p:nvSpPr>
        <p:spPr>
          <a:xfrm>
            <a:off x="3429000" y="2990088"/>
            <a:ext cx="2286000" cy="411480"/>
          </a:xfrm>
          <a:prstGeom prst="rect">
            <a:avLst/>
          </a:prstGeom>
          <a:noFill/>
          <a:ln/>
        </p:spPr>
        <p:txBody>
          <a:bodyPr wrap="square" lIns="0" tIns="0" rIns="0" bIns="0" rtlCol="0" anchor="t"/>
          <a:lstStyle/>
          <a:p>
            <a:pPr indent="0" marL="0">
              <a:buNone/>
            </a:pPr>
            <a:r>
              <a:rPr lang="en-US" sz="1050" dirty="0">
                <a:solidFill>
                  <a:srgbClr val="475569"/>
                </a:solidFill>
              </a:rPr>
              <a:t>A service may repeat (limit 1–10), never twice in a row</a:t>
            </a:r>
            <a:endParaRPr lang="en-US" sz="1050" dirty="0"/>
          </a:p>
        </p:txBody>
      </p:sp>
      <p:sp>
        <p:nvSpPr>
          <p:cNvPr id="21" name="Shape 18"/>
          <p:cNvSpPr/>
          <p:nvPr/>
        </p:nvSpPr>
        <p:spPr>
          <a:xfrm>
            <a:off x="6035040" y="2606040"/>
            <a:ext cx="2560320" cy="841248"/>
          </a:xfrm>
          <a:prstGeom prst="roundRect">
            <a:avLst>
              <a:gd name="adj" fmla="val 8696"/>
            </a:avLst>
          </a:prstGeom>
          <a:solidFill>
            <a:srgbClr val="F8FAFC"/>
          </a:solidFill>
          <a:ln w="9525">
            <a:solidFill>
              <a:srgbClr val="CBD5E1"/>
            </a:solidFill>
            <a:prstDash val="solid"/>
          </a:ln>
        </p:spPr>
      </p:sp>
      <p:sp>
        <p:nvSpPr>
          <p:cNvPr id="22" name="Text 19"/>
          <p:cNvSpPr txBox="1"/>
          <p:nvPr/>
        </p:nvSpPr>
        <p:spPr>
          <a:xfrm>
            <a:off x="6172200" y="2697480"/>
            <a:ext cx="2286000" cy="274320"/>
          </a:xfrm>
          <a:prstGeom prst="rect">
            <a:avLst/>
          </a:prstGeom>
          <a:noFill/>
          <a:ln/>
        </p:spPr>
        <p:txBody>
          <a:bodyPr wrap="square" lIns="0" tIns="0" rIns="0" bIns="0" rtlCol="0" anchor="t"/>
          <a:lstStyle/>
          <a:p>
            <a:pPr indent="0" marL="0">
              <a:buNone/>
            </a:pPr>
            <a:r>
              <a:rPr lang="en-US" sz="1200" b="1" dirty="0">
                <a:solidFill>
                  <a:schemeClr val="tx2"/>
                </a:solidFill>
              </a:rPr>
              <a:t>Locked at creation</a:t>
            </a:r>
            <a:endParaRPr lang="en-US" sz="1200" dirty="0"/>
          </a:p>
        </p:txBody>
      </p:sp>
      <p:sp>
        <p:nvSpPr>
          <p:cNvPr id="23" name="Text 20"/>
          <p:cNvSpPr txBox="1"/>
          <p:nvPr/>
        </p:nvSpPr>
        <p:spPr>
          <a:xfrm>
            <a:off x="6172200" y="2990088"/>
            <a:ext cx="2286000" cy="411480"/>
          </a:xfrm>
          <a:prstGeom prst="rect">
            <a:avLst/>
          </a:prstGeom>
          <a:noFill/>
          <a:ln/>
        </p:spPr>
        <p:txBody>
          <a:bodyPr wrap="square" lIns="0" tIns="0" rIns="0" bIns="0" rtlCol="0" anchor="t"/>
          <a:lstStyle/>
          <a:p>
            <a:pPr indent="0" marL="0">
              <a:buNone/>
            </a:pPr>
            <a:r>
              <a:rPr lang="en-US" sz="1050" dirty="0">
                <a:solidFill>
                  <a:srgbClr val="475569"/>
                </a:solidFill>
              </a:rPr>
              <a:t>Any change is refused: 409 JOURNEY_LOCKED</a:t>
            </a:r>
            <a:endParaRPr lang="en-US" sz="1050" dirty="0"/>
          </a:p>
        </p:txBody>
      </p:sp>
      <p:sp>
        <p:nvSpPr>
          <p:cNvPr id="24" name="Shape 21"/>
          <p:cNvSpPr/>
          <p:nvPr/>
        </p:nvSpPr>
        <p:spPr>
          <a:xfrm>
            <a:off x="548640" y="3593592"/>
            <a:ext cx="2560320" cy="841248"/>
          </a:xfrm>
          <a:prstGeom prst="roundRect">
            <a:avLst>
              <a:gd name="adj" fmla="val 8696"/>
            </a:avLst>
          </a:prstGeom>
          <a:solidFill>
            <a:srgbClr val="F8FAFC"/>
          </a:solidFill>
          <a:ln w="9525">
            <a:solidFill>
              <a:srgbClr val="CBD5E1"/>
            </a:solidFill>
            <a:prstDash val="solid"/>
          </a:ln>
        </p:spPr>
      </p:sp>
      <p:sp>
        <p:nvSpPr>
          <p:cNvPr id="25" name="Text 22"/>
          <p:cNvSpPr txBox="1"/>
          <p:nvPr/>
        </p:nvSpPr>
        <p:spPr>
          <a:xfrm>
            <a:off x="685800" y="3685032"/>
            <a:ext cx="2286000" cy="274320"/>
          </a:xfrm>
          <a:prstGeom prst="rect">
            <a:avLst/>
          </a:prstGeom>
          <a:noFill/>
          <a:ln/>
        </p:spPr>
        <p:txBody>
          <a:bodyPr wrap="square" lIns="0" tIns="0" rIns="0" bIns="0" rtlCol="0" anchor="t"/>
          <a:lstStyle/>
          <a:p>
            <a:pPr indent="0" marL="0">
              <a:buNone/>
            </a:pPr>
            <a:r>
              <a:rPr lang="en-US" sz="1200" b="1" dirty="0">
                <a:solidFill>
                  <a:schemeClr val="tx2"/>
                </a:solidFill>
              </a:rPr>
              <a:t>Counter eligibility</a:t>
            </a:r>
            <a:endParaRPr lang="en-US" sz="1200" dirty="0"/>
          </a:p>
        </p:txBody>
      </p:sp>
      <p:sp>
        <p:nvSpPr>
          <p:cNvPr id="26" name="Text 23"/>
          <p:cNvSpPr txBox="1"/>
          <p:nvPr/>
        </p:nvSpPr>
        <p:spPr>
          <a:xfrm>
            <a:off x="685800" y="3977640"/>
            <a:ext cx="2286000" cy="411480"/>
          </a:xfrm>
          <a:prstGeom prst="rect">
            <a:avLst/>
          </a:prstGeom>
          <a:noFill/>
          <a:ln/>
        </p:spPr>
        <p:txBody>
          <a:bodyPr wrap="square" lIns="0" tIns="0" rIns="0" bIns="0" rtlCol="0" anchor="t"/>
          <a:lstStyle/>
          <a:p>
            <a:pPr indent="0" marL="0">
              <a:buNone/>
            </a:pPr>
            <a:r>
              <a:rPr lang="en-US" sz="1050" dirty="0">
                <a:solidFill>
                  <a:srgbClr val="475569"/>
                </a:solidFill>
              </a:rPr>
              <a:t>A counter serves only the services it handles</a:t>
            </a:r>
            <a:endParaRPr lang="en-US" sz="1050" dirty="0"/>
          </a:p>
        </p:txBody>
      </p:sp>
      <p:sp>
        <p:nvSpPr>
          <p:cNvPr id="27" name="Shape 24"/>
          <p:cNvSpPr/>
          <p:nvPr/>
        </p:nvSpPr>
        <p:spPr>
          <a:xfrm>
            <a:off x="3291840" y="3593592"/>
            <a:ext cx="2560320" cy="841248"/>
          </a:xfrm>
          <a:prstGeom prst="roundRect">
            <a:avLst>
              <a:gd name="adj" fmla="val 8696"/>
            </a:avLst>
          </a:prstGeom>
          <a:solidFill>
            <a:srgbClr val="F8FAFC"/>
          </a:solidFill>
          <a:ln w="9525">
            <a:solidFill>
              <a:srgbClr val="CBD5E1"/>
            </a:solidFill>
            <a:prstDash val="solid"/>
          </a:ln>
        </p:spPr>
      </p:sp>
      <p:sp>
        <p:nvSpPr>
          <p:cNvPr id="28" name="Text 25"/>
          <p:cNvSpPr txBox="1"/>
          <p:nvPr/>
        </p:nvSpPr>
        <p:spPr>
          <a:xfrm>
            <a:off x="3429000" y="3685032"/>
            <a:ext cx="2286000" cy="274320"/>
          </a:xfrm>
          <a:prstGeom prst="rect">
            <a:avLst/>
          </a:prstGeom>
          <a:noFill/>
          <a:ln/>
        </p:spPr>
        <p:txBody>
          <a:bodyPr wrap="square" lIns="0" tIns="0" rIns="0" bIns="0" rtlCol="0" anchor="t"/>
          <a:lstStyle/>
          <a:p>
            <a:pPr indent="0" marL="0">
              <a:buNone/>
            </a:pPr>
            <a:r>
              <a:rPr lang="en-US" sz="1200" b="1" dirty="0">
                <a:solidFill>
                  <a:schemeClr val="tx2"/>
                </a:solidFill>
              </a:rPr>
              <a:t>Referral</a:t>
            </a:r>
            <a:endParaRPr lang="en-US" sz="1200" dirty="0"/>
          </a:p>
        </p:txBody>
      </p:sp>
      <p:sp>
        <p:nvSpPr>
          <p:cNvPr id="29" name="Text 26"/>
          <p:cNvSpPr txBox="1"/>
          <p:nvPr/>
        </p:nvSpPr>
        <p:spPr>
          <a:xfrm>
            <a:off x="3429000" y="3977640"/>
            <a:ext cx="2286000" cy="411480"/>
          </a:xfrm>
          <a:prstGeom prst="rect">
            <a:avLst/>
          </a:prstGeom>
          <a:noFill/>
          <a:ln/>
        </p:spPr>
        <p:txBody>
          <a:bodyPr wrap="square" lIns="0" tIns="0" rIns="0" bIns="0" rtlCol="0" anchor="t"/>
          <a:lstStyle/>
          <a:p>
            <a:pPr indent="0" marL="0">
              <a:buNone/>
            </a:pPr>
            <a:r>
              <a:rPr lang="en-US" sz="1050" dirty="0">
                <a:solidFill>
                  <a:srgbClr val="475569"/>
                </a:solidFill>
              </a:rPr>
              <a:t>Next step goes to a chosen open counter — no interruption</a:t>
            </a:r>
            <a:endParaRPr lang="en-US" sz="1050" dirty="0"/>
          </a:p>
        </p:txBody>
      </p:sp>
      <p:sp>
        <p:nvSpPr>
          <p:cNvPr id="30" name="Shape 27"/>
          <p:cNvSpPr/>
          <p:nvPr/>
        </p:nvSpPr>
        <p:spPr>
          <a:xfrm>
            <a:off x="6035040" y="3593592"/>
            <a:ext cx="2560320" cy="841248"/>
          </a:xfrm>
          <a:prstGeom prst="roundRect">
            <a:avLst>
              <a:gd name="adj" fmla="val 8696"/>
            </a:avLst>
          </a:prstGeom>
          <a:solidFill>
            <a:srgbClr val="F8FAFC"/>
          </a:solidFill>
          <a:ln w="9525">
            <a:solidFill>
              <a:srgbClr val="CBD5E1"/>
            </a:solidFill>
            <a:prstDash val="solid"/>
          </a:ln>
        </p:spPr>
      </p:sp>
      <p:sp>
        <p:nvSpPr>
          <p:cNvPr id="31" name="Text 28"/>
          <p:cNvSpPr txBox="1"/>
          <p:nvPr/>
        </p:nvSpPr>
        <p:spPr>
          <a:xfrm>
            <a:off x="6172200" y="3685032"/>
            <a:ext cx="2286000" cy="274320"/>
          </a:xfrm>
          <a:prstGeom prst="rect">
            <a:avLst/>
          </a:prstGeom>
          <a:noFill/>
          <a:ln/>
        </p:spPr>
        <p:txBody>
          <a:bodyPr wrap="square" lIns="0" tIns="0" rIns="0" bIns="0" rtlCol="0" anchor="t"/>
          <a:lstStyle/>
          <a:p>
            <a:pPr indent="0" marL="0">
              <a:buNone/>
            </a:pPr>
            <a:r>
              <a:rPr lang="en-US" sz="1200" b="1" dirty="0">
                <a:solidFill>
                  <a:schemeClr val="tx2"/>
                </a:solidFill>
              </a:rPr>
              <a:t>Fallback</a:t>
            </a:r>
            <a:endParaRPr lang="en-US" sz="1200" dirty="0"/>
          </a:p>
        </p:txBody>
      </p:sp>
      <p:sp>
        <p:nvSpPr>
          <p:cNvPr id="32" name="Text 29"/>
          <p:cNvSpPr txBox="1"/>
          <p:nvPr/>
        </p:nvSpPr>
        <p:spPr>
          <a:xfrm>
            <a:off x="6172200" y="3977640"/>
            <a:ext cx="2286000" cy="411480"/>
          </a:xfrm>
          <a:prstGeom prst="rect">
            <a:avLst/>
          </a:prstGeom>
          <a:noFill/>
          <a:ln/>
        </p:spPr>
        <p:txBody>
          <a:bodyPr wrap="square" lIns="0" tIns="0" rIns="0" bIns="0" rtlCol="0" anchor="t"/>
          <a:lstStyle/>
          <a:p>
            <a:pPr indent="0" marL="0">
              <a:buNone/>
            </a:pPr>
            <a:r>
              <a:rPr lang="en-US" sz="1050" dirty="0">
                <a:solidFill>
                  <a:srgbClr val="475569"/>
                </a:solidFill>
              </a:rPr>
              <a:t>Target closes → priority kept at another eligible counter</a:t>
            </a:r>
            <a:endParaRPr lang="en-US" sz="10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Many counters, one server-side dispatcher</a:t>
            </a:r>
            <a:endParaRPr lang="en-US" sz="2400" dirty="0"/>
          </a:p>
        </p:txBody>
      </p:sp>
      <p:sp>
        <p:nvSpPr>
          <p:cNvPr id="4" name="Text 1"/>
          <p:cNvSpPr txBox="1"/>
          <p:nvPr/>
        </p:nvSpPr>
        <p:spPr>
          <a:xfrm>
            <a:off x="457200" y="960120"/>
            <a:ext cx="3657600" cy="274320"/>
          </a:xfrm>
          <a:prstGeom prst="rect">
            <a:avLst/>
          </a:prstGeom>
          <a:noFill/>
          <a:ln/>
        </p:spPr>
        <p:txBody>
          <a:bodyPr wrap="square" lIns="0" tIns="0" rIns="0" bIns="0" rtlCol="0" anchor="t"/>
          <a:lstStyle/>
          <a:p>
            <a:pPr indent="0" marL="0">
              <a:buNone/>
            </a:pPr>
            <a:r>
              <a:rPr lang="en-US" sz="1300" b="1" dirty="0">
                <a:solidFill>
                  <a:schemeClr val="tx2"/>
                </a:solidFill>
              </a:rPr>
              <a:t>Counter states</a:t>
            </a:r>
            <a:endParaRPr lang="en-US" sz="1300" dirty="0"/>
          </a:p>
        </p:txBody>
      </p:sp>
      <p:sp>
        <p:nvSpPr>
          <p:cNvPr id="5" name="Shape 2"/>
          <p:cNvSpPr/>
          <p:nvPr/>
        </p:nvSpPr>
        <p:spPr>
          <a:xfrm>
            <a:off x="457200" y="1325880"/>
            <a:ext cx="1051560" cy="566928"/>
          </a:xfrm>
          <a:prstGeom prst="roundRect">
            <a:avLst>
              <a:gd name="adj" fmla="val 50000"/>
            </a:avLst>
          </a:prstGeom>
          <a:solidFill>
            <a:srgbClr val="15803D"/>
          </a:solidFill>
          <a:ln w="12700">
            <a:solidFill>
              <a:srgbClr val="15803D"/>
            </a:solidFill>
            <a:prstDash val="solid"/>
          </a:ln>
        </p:spPr>
      </p:sp>
      <p:sp>
        <p:nvSpPr>
          <p:cNvPr id="6" name="Text 3"/>
          <p:cNvSpPr txBox="1"/>
          <p:nvPr/>
        </p:nvSpPr>
        <p:spPr>
          <a:xfrm>
            <a:off x="457200" y="1325880"/>
            <a:ext cx="1051560" cy="566928"/>
          </a:xfrm>
          <a:prstGeom prst="rect">
            <a:avLst/>
          </a:prstGeom>
          <a:noFill/>
          <a:ln/>
        </p:spPr>
        <p:txBody>
          <a:bodyPr wrap="square" lIns="0" tIns="0" rIns="0" bIns="0" rtlCol="0" anchor="ctr"/>
          <a:lstStyle/>
          <a:p>
            <a:pPr algn="ctr" indent="0" marL="0">
              <a:buNone/>
            </a:pPr>
            <a:r>
              <a:rPr lang="en-US" sz="1300" b="1" dirty="0">
                <a:solidFill>
                  <a:schemeClr val="bg1"/>
                </a:solidFill>
              </a:rPr>
              <a:t>Open</a:t>
            </a:r>
            <a:endParaRPr lang="en-US" sz="1300" dirty="0"/>
          </a:p>
        </p:txBody>
      </p:sp>
      <p:sp>
        <p:nvSpPr>
          <p:cNvPr id="7" name="Text 4"/>
          <p:cNvSpPr txBox="1"/>
          <p:nvPr/>
        </p:nvSpPr>
        <p:spPr>
          <a:xfrm>
            <a:off x="1645920" y="1325880"/>
            <a:ext cx="2194560" cy="566928"/>
          </a:xfrm>
          <a:prstGeom prst="rect">
            <a:avLst/>
          </a:prstGeom>
          <a:noFill/>
          <a:ln/>
        </p:spPr>
        <p:txBody>
          <a:bodyPr wrap="square" lIns="0" tIns="0" rIns="0" bIns="0" rtlCol="0" anchor="ctr"/>
          <a:lstStyle/>
          <a:p>
            <a:pPr indent="0" marL="0">
              <a:buNone/>
            </a:pPr>
            <a:r>
              <a:rPr lang="en-US" sz="1100" dirty="0">
                <a:solidFill>
                  <a:srgbClr val="475569"/>
                </a:solidFill>
              </a:rPr>
              <a:t>ACTIVE · operator required</a:t>
            </a:r>
            <a:endParaRPr lang="en-US" sz="1100" dirty="0"/>
          </a:p>
        </p:txBody>
      </p:sp>
      <p:sp>
        <p:nvSpPr>
          <p:cNvPr id="8" name="Shape 5"/>
          <p:cNvSpPr/>
          <p:nvPr/>
        </p:nvSpPr>
        <p:spPr>
          <a:xfrm>
            <a:off x="457200" y="2103120"/>
            <a:ext cx="1051560" cy="566928"/>
          </a:xfrm>
          <a:prstGeom prst="roundRect">
            <a:avLst>
              <a:gd name="adj" fmla="val 50000"/>
            </a:avLst>
          </a:prstGeom>
          <a:solidFill>
            <a:srgbClr val="B45309"/>
          </a:solidFill>
          <a:ln w="12700">
            <a:solidFill>
              <a:srgbClr val="B45309"/>
            </a:solidFill>
            <a:prstDash val="solid"/>
          </a:ln>
        </p:spPr>
      </p:sp>
      <p:sp>
        <p:nvSpPr>
          <p:cNvPr id="9" name="Text 6"/>
          <p:cNvSpPr txBox="1"/>
          <p:nvPr/>
        </p:nvSpPr>
        <p:spPr>
          <a:xfrm>
            <a:off x="457200" y="2103120"/>
            <a:ext cx="1051560" cy="566928"/>
          </a:xfrm>
          <a:prstGeom prst="rect">
            <a:avLst/>
          </a:prstGeom>
          <a:noFill/>
          <a:ln/>
        </p:spPr>
        <p:txBody>
          <a:bodyPr wrap="square" lIns="0" tIns="0" rIns="0" bIns="0" rtlCol="0" anchor="ctr"/>
          <a:lstStyle/>
          <a:p>
            <a:pPr algn="ctr" indent="0" marL="0">
              <a:buNone/>
            </a:pPr>
            <a:r>
              <a:rPr lang="en-US" sz="1300" b="1" dirty="0">
                <a:solidFill>
                  <a:schemeClr val="bg1"/>
                </a:solidFill>
              </a:rPr>
              <a:t>Paused</a:t>
            </a:r>
            <a:endParaRPr lang="en-US" sz="1300" dirty="0"/>
          </a:p>
        </p:txBody>
      </p:sp>
      <p:sp>
        <p:nvSpPr>
          <p:cNvPr id="10" name="Text 7"/>
          <p:cNvSpPr txBox="1"/>
          <p:nvPr/>
        </p:nvSpPr>
        <p:spPr>
          <a:xfrm>
            <a:off x="1645920" y="2103120"/>
            <a:ext cx="2194560" cy="566928"/>
          </a:xfrm>
          <a:prstGeom prst="rect">
            <a:avLst/>
          </a:prstGeom>
          <a:noFill/>
          <a:ln/>
        </p:spPr>
        <p:txBody>
          <a:bodyPr wrap="square" lIns="0" tIns="0" rIns="0" bIns="0" rtlCol="0" anchor="ctr"/>
          <a:lstStyle/>
          <a:p>
            <a:pPr indent="0" marL="0">
              <a:buNone/>
            </a:pPr>
            <a:r>
              <a:rPr lang="en-US" sz="1100" dirty="0">
                <a:solidFill>
                  <a:srgbClr val="475569"/>
                </a:solidFill>
              </a:rPr>
              <a:t>ON_BREAK · operator retained</a:t>
            </a:r>
            <a:endParaRPr lang="en-US" sz="1100" dirty="0"/>
          </a:p>
        </p:txBody>
      </p:sp>
      <p:sp>
        <p:nvSpPr>
          <p:cNvPr id="11" name="Shape 8"/>
          <p:cNvSpPr/>
          <p:nvPr/>
        </p:nvSpPr>
        <p:spPr>
          <a:xfrm>
            <a:off x="457200" y="2880360"/>
            <a:ext cx="1051560" cy="566928"/>
          </a:xfrm>
          <a:prstGeom prst="roundRect">
            <a:avLst>
              <a:gd name="adj" fmla="val 50000"/>
            </a:avLst>
          </a:prstGeom>
          <a:solidFill>
            <a:srgbClr val="475569"/>
          </a:solidFill>
          <a:ln w="12700">
            <a:solidFill>
              <a:srgbClr val="475569"/>
            </a:solidFill>
            <a:prstDash val="solid"/>
          </a:ln>
        </p:spPr>
      </p:sp>
      <p:sp>
        <p:nvSpPr>
          <p:cNvPr id="12" name="Text 9"/>
          <p:cNvSpPr txBox="1"/>
          <p:nvPr/>
        </p:nvSpPr>
        <p:spPr>
          <a:xfrm>
            <a:off x="457200" y="2880360"/>
            <a:ext cx="1051560" cy="566928"/>
          </a:xfrm>
          <a:prstGeom prst="rect">
            <a:avLst/>
          </a:prstGeom>
          <a:noFill/>
          <a:ln/>
        </p:spPr>
        <p:txBody>
          <a:bodyPr wrap="square" lIns="0" tIns="0" rIns="0" bIns="0" rtlCol="0" anchor="ctr"/>
          <a:lstStyle/>
          <a:p>
            <a:pPr algn="ctr" indent="0" marL="0">
              <a:buNone/>
            </a:pPr>
            <a:r>
              <a:rPr lang="en-US" sz="1300" b="1" dirty="0">
                <a:solidFill>
                  <a:schemeClr val="bg1"/>
                </a:solidFill>
              </a:rPr>
              <a:t>Off</a:t>
            </a:r>
            <a:endParaRPr lang="en-US" sz="1300" dirty="0"/>
          </a:p>
        </p:txBody>
      </p:sp>
      <p:sp>
        <p:nvSpPr>
          <p:cNvPr id="13" name="Text 10"/>
          <p:cNvSpPr txBox="1"/>
          <p:nvPr/>
        </p:nvSpPr>
        <p:spPr>
          <a:xfrm>
            <a:off x="1645920" y="2880360"/>
            <a:ext cx="2194560" cy="566928"/>
          </a:xfrm>
          <a:prstGeom prst="rect">
            <a:avLst/>
          </a:prstGeom>
          <a:noFill/>
          <a:ln/>
        </p:spPr>
        <p:txBody>
          <a:bodyPr wrap="square" lIns="0" tIns="0" rIns="0" bIns="0" rtlCol="0" anchor="ctr"/>
          <a:lstStyle/>
          <a:p>
            <a:pPr indent="0" marL="0">
              <a:buNone/>
            </a:pPr>
            <a:r>
              <a:rPr lang="en-US" sz="1100" dirty="0">
                <a:solidFill>
                  <a:srgbClr val="475569"/>
                </a:solidFill>
              </a:rPr>
              <a:t>OFFLINE · unassigned</a:t>
            </a:r>
            <a:endParaRPr lang="en-US" sz="1100" dirty="0"/>
          </a:p>
        </p:txBody>
      </p:sp>
      <p:sp>
        <p:nvSpPr>
          <p:cNvPr id="14" name="Text 11"/>
          <p:cNvSpPr txBox="1"/>
          <p:nvPr/>
        </p:nvSpPr>
        <p:spPr>
          <a:xfrm>
            <a:off x="457200" y="3703320"/>
            <a:ext cx="3566160" cy="685800"/>
          </a:xfrm>
          <a:prstGeom prst="rect">
            <a:avLst/>
          </a:prstGeom>
          <a:noFill/>
          <a:ln/>
        </p:spPr>
        <p:txBody>
          <a:bodyPr wrap="square" lIns="0" tIns="0" rIns="0" bIns="0" rtlCol="0" anchor="t"/>
          <a:lstStyle/>
          <a:p>
            <a:pPr indent="0" marL="0">
              <a:buNone/>
            </a:pPr>
            <a:r>
              <a:rPr lang="en-US" sz="1050" dirty="0">
                <a:solidFill>
                  <a:srgbClr val="64748B"/>
                </a:solidFill>
              </a:rPr>
              <a:t>Assign operator to Off → Paused (never straight to Open). Off is refused while someone is called or in service there.</a:t>
            </a:r>
            <a:endParaRPr lang="en-US" sz="1050" dirty="0"/>
          </a:p>
        </p:txBody>
      </p:sp>
      <p:sp>
        <p:nvSpPr>
          <p:cNvPr id="15" name="Shape 12"/>
          <p:cNvSpPr/>
          <p:nvPr/>
        </p:nvSpPr>
        <p:spPr>
          <a:xfrm>
            <a:off x="4297680" y="960120"/>
            <a:ext cx="4389120" cy="3520440"/>
          </a:xfrm>
          <a:prstGeom prst="roundRect">
            <a:avLst>
              <a:gd name="adj" fmla="val 2078"/>
            </a:avLst>
          </a:prstGeom>
          <a:solidFill>
            <a:srgbClr val="EEF5FC"/>
          </a:solidFill>
          <a:ln w="9525">
            <a:solidFill>
              <a:srgbClr val="D7E7F6"/>
            </a:solidFill>
            <a:prstDash val="solid"/>
          </a:ln>
        </p:spPr>
      </p:sp>
      <p:sp>
        <p:nvSpPr>
          <p:cNvPr id="16" name="Text 13"/>
          <p:cNvSpPr txBox="1"/>
          <p:nvPr/>
        </p:nvSpPr>
        <p:spPr>
          <a:xfrm>
            <a:off x="4480560" y="1051560"/>
            <a:ext cx="4023360" cy="274320"/>
          </a:xfrm>
          <a:prstGeom prst="rect">
            <a:avLst/>
          </a:prstGeom>
          <a:noFill/>
          <a:ln/>
        </p:spPr>
        <p:txBody>
          <a:bodyPr wrap="square" lIns="0" tIns="0" rIns="0" bIns="0" rtlCol="0" anchor="t"/>
          <a:lstStyle/>
          <a:p>
            <a:pPr indent="0" marL="0">
              <a:buNone/>
            </a:pPr>
            <a:r>
              <a:rPr lang="en-US" sz="1300" b="1" dirty="0">
                <a:solidFill>
                  <a:schemeClr val="accent1"/>
                </a:solidFill>
              </a:rPr>
              <a:t>Serve next — decided on the server</a:t>
            </a:r>
            <a:endParaRPr lang="en-US" sz="1300" dirty="0"/>
          </a:p>
        </p:txBody>
      </p:sp>
      <p:sp>
        <p:nvSpPr>
          <p:cNvPr id="17" name="Shape 14"/>
          <p:cNvSpPr/>
          <p:nvPr/>
        </p:nvSpPr>
        <p:spPr>
          <a:xfrm>
            <a:off x="4480560" y="1463040"/>
            <a:ext cx="347472" cy="347472"/>
          </a:xfrm>
          <a:prstGeom prst="ellipse">
            <a:avLst/>
          </a:prstGeom>
          <a:solidFill>
            <a:srgbClr val="0F539E"/>
          </a:solidFill>
          <a:ln w="12700">
            <a:solidFill>
              <a:srgbClr val="0F539E"/>
            </a:solidFill>
            <a:prstDash val="solid"/>
          </a:ln>
        </p:spPr>
      </p:sp>
      <p:sp>
        <p:nvSpPr>
          <p:cNvPr id="18" name="Text 15"/>
          <p:cNvSpPr txBox="1"/>
          <p:nvPr/>
        </p:nvSpPr>
        <p:spPr>
          <a:xfrm>
            <a:off x="4480560" y="146304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9" name="Text 16"/>
          <p:cNvSpPr txBox="1"/>
          <p:nvPr/>
        </p:nvSpPr>
        <p:spPr>
          <a:xfrm>
            <a:off x="4937760" y="1417320"/>
            <a:ext cx="3657600" cy="548640"/>
          </a:xfrm>
          <a:prstGeom prst="rect">
            <a:avLst/>
          </a:prstGeom>
          <a:noFill/>
          <a:ln/>
        </p:spPr>
        <p:txBody>
          <a:bodyPr wrap="square" lIns="0" tIns="0" rIns="0" bIns="0" rtlCol="0" anchor="t"/>
          <a:lstStyle/>
          <a:p>
            <a:pPr indent="0" marL="0">
              <a:buNone/>
            </a:pPr>
            <a:r>
              <a:rPr lang="en-US" sz="1150" b="1" dirty="0">
                <a:solidFill>
                  <a:schemeClr val="tx1"/>
                </a:solidFill>
              </a:rPr>
              <a:t>Client sends only the queue id</a:t>
            </a:r>
            <a:endParaRPr lang="en-US" sz="1150" dirty="0"/>
          </a:p>
          <a:p>
            <a:pPr indent="0" marL="0">
              <a:buNone/>
            </a:pPr>
            <a:r>
              <a:rPr lang="en-US" sz="1000" dirty="0">
                <a:solidFill>
                  <a:srgbClr val="475569"/>
                </a:solidFill>
              </a:rPr>
              <a:t>No person, counter or staff id is accepted</a:t>
            </a:r>
            <a:endParaRPr lang="en-US" sz="1150" dirty="0"/>
          </a:p>
        </p:txBody>
      </p:sp>
      <p:sp>
        <p:nvSpPr>
          <p:cNvPr id="20" name="Shape 17"/>
          <p:cNvSpPr/>
          <p:nvPr/>
        </p:nvSpPr>
        <p:spPr>
          <a:xfrm>
            <a:off x="4480560" y="2066544"/>
            <a:ext cx="347472" cy="347472"/>
          </a:xfrm>
          <a:prstGeom prst="ellipse">
            <a:avLst/>
          </a:prstGeom>
          <a:solidFill>
            <a:srgbClr val="0F539E"/>
          </a:solidFill>
          <a:ln w="12700">
            <a:solidFill>
              <a:srgbClr val="0F539E"/>
            </a:solidFill>
            <a:prstDash val="solid"/>
          </a:ln>
        </p:spPr>
      </p:sp>
      <p:sp>
        <p:nvSpPr>
          <p:cNvPr id="21" name="Text 18"/>
          <p:cNvSpPr txBox="1"/>
          <p:nvPr/>
        </p:nvSpPr>
        <p:spPr>
          <a:xfrm>
            <a:off x="4480560" y="2066544"/>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2" name="Text 19"/>
          <p:cNvSpPr txBox="1"/>
          <p:nvPr/>
        </p:nvSpPr>
        <p:spPr>
          <a:xfrm>
            <a:off x="4937760" y="2020824"/>
            <a:ext cx="3657600" cy="548640"/>
          </a:xfrm>
          <a:prstGeom prst="rect">
            <a:avLst/>
          </a:prstGeom>
          <a:noFill/>
          <a:ln/>
        </p:spPr>
        <p:txBody>
          <a:bodyPr wrap="square" lIns="0" tIns="0" rIns="0" bIns="0" rtlCol="0" anchor="t"/>
          <a:lstStyle/>
          <a:p>
            <a:pPr indent="0" marL="0">
              <a:buNone/>
            </a:pPr>
            <a:r>
              <a:rPr lang="en-US" sz="1150" b="1" dirty="0">
                <a:solidFill>
                  <a:schemeClr val="tx1"/>
                </a:solidFill>
              </a:rPr>
              <a:t>Lock the caller's own counter</a:t>
            </a:r>
            <a:endParaRPr lang="en-US" sz="1150" dirty="0"/>
          </a:p>
          <a:p>
            <a:pPr indent="0" marL="0">
              <a:buNone/>
            </a:pPr>
            <a:r>
              <a:rPr lang="en-US" sz="1000" dirty="0">
                <a:solidFill>
                  <a:srgbClr val="475569"/>
                </a:solidFill>
              </a:rPr>
              <a:t>SELECT … FOR UPDATE inside a transaction</a:t>
            </a:r>
            <a:endParaRPr lang="en-US" sz="1150" dirty="0"/>
          </a:p>
        </p:txBody>
      </p:sp>
      <p:sp>
        <p:nvSpPr>
          <p:cNvPr id="23" name="Shape 20"/>
          <p:cNvSpPr/>
          <p:nvPr/>
        </p:nvSpPr>
        <p:spPr>
          <a:xfrm>
            <a:off x="4480560" y="2670048"/>
            <a:ext cx="347472" cy="347472"/>
          </a:xfrm>
          <a:prstGeom prst="ellipse">
            <a:avLst/>
          </a:prstGeom>
          <a:solidFill>
            <a:srgbClr val="0F539E"/>
          </a:solidFill>
          <a:ln w="12700">
            <a:solidFill>
              <a:srgbClr val="0F539E"/>
            </a:solidFill>
            <a:prstDash val="solid"/>
          </a:ln>
        </p:spPr>
      </p:sp>
      <p:sp>
        <p:nvSpPr>
          <p:cNvPr id="24" name="Text 21"/>
          <p:cNvSpPr txBox="1"/>
          <p:nvPr/>
        </p:nvSpPr>
        <p:spPr>
          <a:xfrm>
            <a:off x="4480560" y="2670048"/>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5" name="Text 22"/>
          <p:cNvSpPr txBox="1"/>
          <p:nvPr/>
        </p:nvSpPr>
        <p:spPr>
          <a:xfrm>
            <a:off x="4937760" y="2624328"/>
            <a:ext cx="3657600" cy="548640"/>
          </a:xfrm>
          <a:prstGeom prst="rect">
            <a:avLst/>
          </a:prstGeom>
          <a:noFill/>
          <a:ln/>
        </p:spPr>
        <p:txBody>
          <a:bodyPr wrap="square" lIns="0" tIns="0" rIns="0" bIns="0" rtlCol="0" anchor="t"/>
          <a:lstStyle/>
          <a:p>
            <a:pPr indent="0" marL="0">
              <a:buNone/>
            </a:pPr>
            <a:r>
              <a:rPr lang="en-US" sz="1150" b="1" dirty="0">
                <a:solidFill>
                  <a:schemeClr val="tx1"/>
                </a:solidFill>
              </a:rPr>
              <a:t>Pick: referrals first, then earliest arrival</a:t>
            </a:r>
            <a:endParaRPr lang="en-US" sz="1150" dirty="0"/>
          </a:p>
          <a:p>
            <a:pPr indent="0" marL="0">
              <a:buNone/>
            </a:pPr>
            <a:r>
              <a:rPr lang="en-US" sz="1000" dirty="0">
                <a:solidFill>
                  <a:srgbClr val="475569"/>
                </a:solidFill>
              </a:rPr>
              <a:t>Whose current step this counter handles</a:t>
            </a:r>
            <a:endParaRPr lang="en-US" sz="1150" dirty="0"/>
          </a:p>
        </p:txBody>
      </p:sp>
      <p:sp>
        <p:nvSpPr>
          <p:cNvPr id="26" name="Shape 23"/>
          <p:cNvSpPr/>
          <p:nvPr/>
        </p:nvSpPr>
        <p:spPr>
          <a:xfrm>
            <a:off x="4480560" y="3273552"/>
            <a:ext cx="347472" cy="347472"/>
          </a:xfrm>
          <a:prstGeom prst="ellipse">
            <a:avLst/>
          </a:prstGeom>
          <a:solidFill>
            <a:srgbClr val="0F539E"/>
          </a:solidFill>
          <a:ln w="12700">
            <a:solidFill>
              <a:srgbClr val="0F539E"/>
            </a:solidFill>
            <a:prstDash val="solid"/>
          </a:ln>
        </p:spPr>
      </p:sp>
      <p:sp>
        <p:nvSpPr>
          <p:cNvPr id="27" name="Text 24"/>
          <p:cNvSpPr txBox="1"/>
          <p:nvPr/>
        </p:nvSpPr>
        <p:spPr>
          <a:xfrm>
            <a:off x="4480560" y="3273552"/>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8" name="Text 25"/>
          <p:cNvSpPr txBox="1"/>
          <p:nvPr/>
        </p:nvSpPr>
        <p:spPr>
          <a:xfrm>
            <a:off x="4937760" y="3227832"/>
            <a:ext cx="3657600" cy="548640"/>
          </a:xfrm>
          <a:prstGeom prst="rect">
            <a:avLst/>
          </a:prstGeom>
          <a:noFill/>
          <a:ln/>
        </p:spPr>
        <p:txBody>
          <a:bodyPr wrap="square" lIns="0" tIns="0" rIns="0" bIns="0" rtlCol="0" anchor="t"/>
          <a:lstStyle/>
          <a:p>
            <a:pPr indent="0" marL="0">
              <a:buNone/>
            </a:pPr>
            <a:r>
              <a:rPr lang="en-US" sz="1150" b="1" dirty="0">
                <a:solidFill>
                  <a:schemeClr val="tx1"/>
                </a:solidFill>
              </a:rPr>
              <a:t>Compare-and-swap WAITING → CALLED</a:t>
            </a:r>
            <a:endParaRPr lang="en-US" sz="1150" dirty="0"/>
          </a:p>
          <a:p>
            <a:pPr indent="0" marL="0">
              <a:buNone/>
            </a:pPr>
            <a:r>
              <a:rPr lang="en-US" sz="1000" dirty="0">
                <a:solidFill>
                  <a:srgbClr val="475569"/>
                </a:solidFill>
              </a:rPr>
              <a:t>A concurrent claim matches nothing and moves on</a:t>
            </a:r>
            <a:endParaRPr lang="en-US" sz="1150" dirty="0"/>
          </a:p>
        </p:txBody>
      </p:sp>
      <p:sp>
        <p:nvSpPr>
          <p:cNvPr id="29" name="Shape 26"/>
          <p:cNvSpPr/>
          <p:nvPr/>
        </p:nvSpPr>
        <p:spPr>
          <a:xfrm>
            <a:off x="4480560" y="3877056"/>
            <a:ext cx="347472" cy="347472"/>
          </a:xfrm>
          <a:prstGeom prst="ellipse">
            <a:avLst/>
          </a:prstGeom>
          <a:solidFill>
            <a:srgbClr val="0F539E"/>
          </a:solidFill>
          <a:ln w="12700">
            <a:solidFill>
              <a:srgbClr val="0F539E"/>
            </a:solidFill>
            <a:prstDash val="solid"/>
          </a:ln>
        </p:spPr>
      </p:sp>
      <p:sp>
        <p:nvSpPr>
          <p:cNvPr id="30" name="Text 27"/>
          <p:cNvSpPr txBox="1"/>
          <p:nvPr/>
        </p:nvSpPr>
        <p:spPr>
          <a:xfrm>
            <a:off x="4480560" y="3877056"/>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31" name="Text 28"/>
          <p:cNvSpPr txBox="1"/>
          <p:nvPr/>
        </p:nvSpPr>
        <p:spPr>
          <a:xfrm>
            <a:off x="4937760" y="3831336"/>
            <a:ext cx="3657600" cy="548640"/>
          </a:xfrm>
          <a:prstGeom prst="rect">
            <a:avLst/>
          </a:prstGeom>
          <a:noFill/>
          <a:ln/>
        </p:spPr>
        <p:txBody>
          <a:bodyPr wrap="square" lIns="0" tIns="0" rIns="0" bIns="0" rtlCol="0" anchor="t"/>
          <a:lstStyle/>
          <a:p>
            <a:pPr indent="0" marL="0">
              <a:buNone/>
            </a:pPr>
            <a:r>
              <a:rPr lang="en-US" sz="1150" b="1" dirty="0">
                <a:solidFill>
                  <a:schemeClr val="tx1"/>
                </a:solidFill>
              </a:rPr>
              <a:t>Commit, then broadcast</a:t>
            </a:r>
            <a:endParaRPr lang="en-US" sz="1150" dirty="0"/>
          </a:p>
          <a:p>
            <a:pPr indent="0" marL="0">
              <a:buNone/>
            </a:pPr>
            <a:r>
              <a:rPr lang="en-US" sz="1000" dirty="0">
                <a:solidFill>
                  <a:srgbClr val="475569"/>
                </a:solidFill>
              </a:rPr>
              <a:t>Every device converges on the same truth</a:t>
            </a:r>
            <a:endParaRPr lang="en-US" sz="11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Floating Counter Console</a:t>
            </a:r>
            <a:endParaRPr lang="en-US" sz="2400" dirty="0"/>
          </a:p>
        </p:txBody>
      </p:sp>
      <p:sp>
        <p:nvSpPr>
          <p:cNvPr id="4" name="Text 1"/>
          <p:cNvSpPr txBox="1"/>
          <p:nvPr/>
        </p:nvSpPr>
        <p:spPr>
          <a:xfrm>
            <a:off x="457200" y="960120"/>
            <a:ext cx="1828800" cy="228600"/>
          </a:xfrm>
          <a:prstGeom prst="rect">
            <a:avLst/>
          </a:prstGeom>
          <a:noFill/>
          <a:ln/>
        </p:spPr>
        <p:txBody>
          <a:bodyPr wrap="square" lIns="0" tIns="0" rIns="0" bIns="0" rtlCol="0" anchor="t"/>
          <a:lstStyle/>
          <a:p>
            <a:pPr indent="0" marL="0">
              <a:buNone/>
            </a:pPr>
            <a:r>
              <a:rPr lang="en-US" sz="1000" b="1" dirty="0">
                <a:solidFill>
                  <a:srgbClr val="475569"/>
                </a:solidFill>
              </a:rPr>
              <a:t>Compact</a:t>
            </a:r>
            <a:endParaRPr lang="en-US" sz="1000" dirty="0"/>
          </a:p>
        </p:txBody>
      </p:sp>
      <p:sp>
        <p:nvSpPr>
          <p:cNvPr id="5" name="Text 2"/>
          <p:cNvSpPr txBox="1"/>
          <p:nvPr/>
        </p:nvSpPr>
        <p:spPr>
          <a:xfrm>
            <a:off x="2606040" y="960120"/>
            <a:ext cx="1828800" cy="228600"/>
          </a:xfrm>
          <a:prstGeom prst="rect">
            <a:avLst/>
          </a:prstGeom>
          <a:noFill/>
          <a:ln/>
        </p:spPr>
        <p:txBody>
          <a:bodyPr wrap="square" lIns="0" tIns="0" rIns="0" bIns="0" rtlCol="0" anchor="t"/>
          <a:lstStyle/>
          <a:p>
            <a:pPr indent="0" marL="0">
              <a:buNone/>
            </a:pPr>
            <a:r>
              <a:rPr lang="en-US" sz="1000" b="1" dirty="0">
                <a:solidFill>
                  <a:srgbClr val="475569"/>
                </a:solidFill>
              </a:rPr>
              <a:t>Expanded</a:t>
            </a:r>
            <a:endParaRPr lang="en-US" sz="1000" dirty="0"/>
          </a:p>
        </p:txBody>
      </p:sp>
      <p:sp>
        <p:nvSpPr>
          <p:cNvPr id="6" name="Shape 3"/>
          <p:cNvSpPr/>
          <p:nvPr/>
        </p:nvSpPr>
        <p:spPr>
          <a:xfrm>
            <a:off x="429768" y="1207008"/>
            <a:ext cx="2020824" cy="1392647"/>
          </a:xfrm>
          <a:prstGeom prst="rect">
            <a:avLst/>
          </a:prstGeom>
          <a:solidFill>
            <a:srgbClr val="FFFFFF"/>
          </a:solidFill>
          <a:ln w="12700">
            <a:solidFill>
              <a:srgbClr val="CBD5E1"/>
            </a:solidFill>
            <a:prstDash val="solid"/>
          </a:ln>
          <a:effectLst>
            <a:outerShdw sx="100000" sy="100000" kx="0" ky="0" algn="bl" rotWithShape="0" blurRad="76200" dist="25400" dir="5400000">
              <a:srgbClr val="000000">
                <a:alpha val="18000"/>
              </a:srgbClr>
            </a:outerShdw>
          </a:effectLst>
        </p:spPr>
      </p:sp>
      <p:pic>
        <p:nvPicPr>
          <p:cNvPr id="7" name="Image 0" descr="Console compact mode">    </p:cNvPr>
          <p:cNvPicPr>
            <a:picLocks noChangeAspect="1"/>
          </p:cNvPicPr>
          <p:nvPr/>
        </p:nvPicPr>
        <p:blipFill>
          <a:blip r:embed="rId1"/>
          <a:stretch>
            <a:fillRect/>
          </a:stretch>
        </p:blipFill>
        <p:spPr>
          <a:xfrm>
            <a:off x="457200" y="1234440"/>
            <a:ext cx="1965960" cy="1337783"/>
          </a:xfrm>
          <a:prstGeom prst="rect">
            <a:avLst/>
          </a:prstGeom>
        </p:spPr>
      </p:pic>
      <p:sp>
        <p:nvSpPr>
          <p:cNvPr id="8" name="Shape 4"/>
          <p:cNvSpPr/>
          <p:nvPr/>
        </p:nvSpPr>
        <p:spPr>
          <a:xfrm>
            <a:off x="2578608" y="1207008"/>
            <a:ext cx="2020824" cy="1788166"/>
          </a:xfrm>
          <a:prstGeom prst="rect">
            <a:avLst/>
          </a:prstGeom>
          <a:solidFill>
            <a:srgbClr val="FFFFFF"/>
          </a:solidFill>
          <a:ln w="12700">
            <a:solidFill>
              <a:srgbClr val="CBD5E1"/>
            </a:solidFill>
            <a:prstDash val="solid"/>
          </a:ln>
          <a:effectLst>
            <a:outerShdw sx="100000" sy="100000" kx="0" ky="0" algn="bl" rotWithShape="0" blurRad="76200" dist="25400" dir="5400000">
              <a:srgbClr val="000000">
                <a:alpha val="18000"/>
              </a:srgbClr>
            </a:outerShdw>
          </a:effectLst>
        </p:spPr>
      </p:sp>
      <p:pic>
        <p:nvPicPr>
          <p:cNvPr id="9" name="Image 1" descr="Console expanded mode">    </p:cNvPr>
          <p:cNvPicPr>
            <a:picLocks noChangeAspect="1"/>
          </p:cNvPicPr>
          <p:nvPr/>
        </p:nvPicPr>
        <p:blipFill>
          <a:blip r:embed="rId2"/>
          <a:stretch>
            <a:fillRect/>
          </a:stretch>
        </p:blipFill>
        <p:spPr>
          <a:xfrm>
            <a:off x="2606040" y="1234440"/>
            <a:ext cx="1965960" cy="1733302"/>
          </a:xfrm>
          <a:prstGeom prst="rect">
            <a:avLst/>
          </a:prstGeom>
        </p:spPr>
      </p:pic>
      <p:sp>
        <p:nvSpPr>
          <p:cNvPr id="10" name="Text 5"/>
          <p:cNvSpPr txBox="1"/>
          <p:nvPr/>
        </p:nvSpPr>
        <p:spPr>
          <a:xfrm>
            <a:off x="457200" y="2697480"/>
            <a:ext cx="2011680" cy="365760"/>
          </a:xfrm>
          <a:prstGeom prst="rect">
            <a:avLst/>
          </a:prstGeom>
          <a:noFill/>
          <a:ln/>
        </p:spPr>
        <p:txBody>
          <a:bodyPr wrap="square" lIns="0" tIns="0" rIns="0" bIns="0" rtlCol="0" anchor="t"/>
          <a:lstStyle/>
          <a:p>
            <a:pPr indent="0" marL="0">
              <a:buNone/>
            </a:pPr>
            <a:r>
              <a:rPr lang="en-US" sz="900" dirty="0">
                <a:solidFill>
                  <a:srgbClr val="64748B"/>
                </a:solidFill>
              </a:rPr>
              <a:t>Real screenshots, fictional demo data.</a:t>
            </a:r>
            <a:endParaRPr lang="en-US" sz="900" dirty="0"/>
          </a:p>
        </p:txBody>
      </p:sp>
      <p:sp>
        <p:nvSpPr>
          <p:cNvPr id="11" name="Text 6"/>
          <p:cNvSpPr txBox="1"/>
          <p:nvPr/>
        </p:nvSpPr>
        <p:spPr>
          <a:xfrm>
            <a:off x="4663440" y="1005840"/>
            <a:ext cx="4023360" cy="31089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Document Picture-in-Picture: a small always-on-top window (Chromium desktop browsers)</a:t>
            </a:r>
            <a:endParaRPr lang="en-US" sz="1200" dirty="0"/>
          </a:p>
          <a:p>
            <a:pPr marL="177800" indent="-177800">
              <a:spcAft>
                <a:spcPts val="500"/>
              </a:spcAft>
              <a:buSzPct val="100000"/>
              <a:buChar char="•"/>
            </a:pPr>
            <a:r>
              <a:rPr lang="en-US" sz="1200" dirty="0">
                <a:solidFill>
                  <a:schemeClr val="tx1"/>
                </a:solidFill>
              </a:rPr>
              <a:t>Same APIs, same Socket.io connection — no second dispatch engine</a:t>
            </a:r>
            <a:endParaRPr lang="en-US" sz="1200" dirty="0"/>
          </a:p>
          <a:p>
            <a:pPr marL="177800" indent="-177800">
              <a:spcAft>
                <a:spcPts val="500"/>
              </a:spcAft>
              <a:buSzPct val="100000"/>
              <a:buChar char="•"/>
            </a:pPr>
            <a:r>
              <a:rPr lang="en-US" sz="1200" dirty="0">
                <a:solidFill>
                  <a:schemeClr val="tx1"/>
                </a:solidFill>
              </a:rPr>
              <a:t>Shows token, service, state, waiting count, server-timed timer</a:t>
            </a:r>
            <a:endParaRPr lang="en-US" sz="1200" dirty="0"/>
          </a:p>
          <a:p>
            <a:pPr marL="177800" indent="-177800">
              <a:spcAft>
                <a:spcPts val="500"/>
              </a:spcAft>
              <a:buSzPct val="100000"/>
              <a:buChar char="•"/>
            </a:pPr>
            <a:r>
              <a:rPr lang="en-US" sz="1200" dirty="0">
                <a:solidFill>
                  <a:schemeClr val="tx1"/>
                </a:solidFill>
              </a:rPr>
              <a:t>Actions held while reconnecting; access loss closes it</a:t>
            </a:r>
            <a:endParaRPr lang="en-US" sz="1200" dirty="0"/>
          </a:p>
          <a:p>
            <a:pPr marL="177800" indent="-177800">
              <a:spcAft>
                <a:spcPts val="500"/>
              </a:spcAft>
              <a:buSzPct val="100000"/>
              <a:buChar char="•"/>
            </a:pPr>
            <a:r>
              <a:rPr lang="en-US" sz="1200" dirty="0">
                <a:solidFill>
                  <a:schemeClr val="tx1"/>
                </a:solidFill>
              </a:rPr>
              <a:t>Token number and service only — no personal data</a:t>
            </a:r>
            <a:endParaRPr lang="en-US" sz="1200" dirty="0"/>
          </a:p>
          <a:p>
            <a:pPr marL="177800" indent="-177800">
              <a:spcAft>
                <a:spcPts val="500"/>
              </a:spcAft>
              <a:buSzPct val="100000"/>
              <a:buChar char="•"/>
            </a:pPr>
            <a:r>
              <a:rPr lang="en-US" sz="1200" dirty="0">
                <a:solidFill>
                  <a:schemeClr val="tx1"/>
                </a:solidFill>
              </a:rPr>
              <a:t>Fallback: in-page dock that says it cannot stay on top</a:t>
            </a:r>
            <a:endParaRPr lang="en-US" sz="1200" dirty="0"/>
          </a:p>
        </p:txBody>
      </p:sp>
      <p:sp>
        <p:nvSpPr>
          <p:cNvPr id="12" name="Shape 7"/>
          <p:cNvSpPr/>
          <p:nvPr/>
        </p:nvSpPr>
        <p:spPr>
          <a:xfrm>
            <a:off x="4663440" y="4206240"/>
            <a:ext cx="2926080" cy="237744"/>
          </a:xfrm>
          <a:prstGeom prst="roundRect">
            <a:avLst>
              <a:gd name="adj" fmla="val 50000"/>
            </a:avLst>
          </a:prstGeom>
          <a:solidFill>
            <a:srgbClr val="FEF3C7"/>
          </a:solidFill>
          <a:ln w="12700">
            <a:solidFill>
              <a:srgbClr val="FEF3C7"/>
            </a:solidFill>
            <a:prstDash val="solid"/>
          </a:ln>
        </p:spPr>
      </p:sp>
      <p:sp>
        <p:nvSpPr>
          <p:cNvPr id="13" name="Text 8"/>
          <p:cNvSpPr txBox="1"/>
          <p:nvPr/>
        </p:nvSpPr>
        <p:spPr>
          <a:xfrm>
            <a:off x="4663440" y="4206240"/>
            <a:ext cx="2926080" cy="237744"/>
          </a:xfrm>
          <a:prstGeom prst="rect">
            <a:avLst/>
          </a:prstGeom>
          <a:noFill/>
          <a:ln/>
        </p:spPr>
        <p:txBody>
          <a:bodyPr wrap="square" lIns="0" tIns="0" rIns="0" bIns="0" rtlCol="0" anchor="ctr"/>
          <a:lstStyle/>
          <a:p>
            <a:pPr algn="ctr" indent="0" marL="0">
              <a:buNone/>
            </a:pPr>
            <a:r>
              <a:rPr lang="en-US" sz="900" b="1" dirty="0">
                <a:solidFill>
                  <a:srgbClr val="B45309"/>
                </a:solidFill>
              </a:rPr>
              <a:t>Ready for review · not deployed</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Visitor experience: QR → services → token</a:t>
            </a:r>
            <a:endParaRPr lang="en-US" sz="2400" dirty="0"/>
          </a:p>
        </p:txBody>
      </p:sp>
      <p:sp>
        <p:nvSpPr>
          <p:cNvPr id="4" name="Shape 1"/>
          <p:cNvSpPr/>
          <p:nvPr/>
        </p:nvSpPr>
        <p:spPr>
          <a:xfrm>
            <a:off x="448056" y="905256"/>
            <a:ext cx="1709928" cy="2834171"/>
          </a:xfrm>
          <a:prstGeom prst="roundRect">
            <a:avLst>
              <a:gd name="adj" fmla="val 6417"/>
            </a:avLst>
          </a:prstGeom>
          <a:solidFill>
            <a:srgbClr val="0C2B4B"/>
          </a:solidFill>
          <a:ln w="12700">
            <a:solidFill>
              <a:srgbClr val="0C2B4B"/>
            </a:solidFill>
            <a:prstDash val="solid"/>
          </a:ln>
        </p:spPr>
      </p:sp>
      <p:pic>
        <p:nvPicPr>
          <p:cNvPr id="5" name="Image 0" descr="1 · Scan organization QR">    </p:cNvPr>
          <p:cNvPicPr>
            <a:picLocks noChangeAspect="1"/>
          </p:cNvPicPr>
          <p:nvPr/>
        </p:nvPicPr>
        <p:blipFill>
          <a:blip r:embed="rId1"/>
          <a:stretch>
            <a:fillRect/>
          </a:stretch>
        </p:blipFill>
        <p:spPr>
          <a:xfrm>
            <a:off x="502920" y="960120"/>
            <a:ext cx="1600200" cy="2724443"/>
          </a:xfrm>
          <a:prstGeom prst="rect">
            <a:avLst/>
          </a:prstGeom>
        </p:spPr>
      </p:pic>
      <p:sp>
        <p:nvSpPr>
          <p:cNvPr id="6" name="Text 2"/>
          <p:cNvSpPr txBox="1"/>
          <p:nvPr/>
        </p:nvSpPr>
        <p:spPr>
          <a:xfrm>
            <a:off x="411480" y="3749040"/>
            <a:ext cx="1783080" cy="274320"/>
          </a:xfrm>
          <a:prstGeom prst="rect">
            <a:avLst/>
          </a:prstGeom>
          <a:noFill/>
          <a:ln/>
        </p:spPr>
        <p:txBody>
          <a:bodyPr wrap="square" lIns="0" tIns="0" rIns="0" bIns="0" rtlCol="0" anchor="t"/>
          <a:lstStyle/>
          <a:p>
            <a:pPr algn="ctr" indent="0" marL="0">
              <a:buNone/>
            </a:pPr>
            <a:r>
              <a:rPr lang="en-US" sz="1000" dirty="0">
                <a:solidFill>
                  <a:srgbClr val="475569"/>
                </a:solidFill>
              </a:rPr>
              <a:t>1 · Scan organization QR</a:t>
            </a:r>
            <a:endParaRPr lang="en-US" sz="1000" dirty="0"/>
          </a:p>
        </p:txBody>
      </p:sp>
      <p:sp>
        <p:nvSpPr>
          <p:cNvPr id="7" name="Shape 3"/>
          <p:cNvSpPr/>
          <p:nvPr/>
        </p:nvSpPr>
        <p:spPr>
          <a:xfrm>
            <a:off x="2414016" y="905256"/>
            <a:ext cx="1709928" cy="2834171"/>
          </a:xfrm>
          <a:prstGeom prst="roundRect">
            <a:avLst>
              <a:gd name="adj" fmla="val 6417"/>
            </a:avLst>
          </a:prstGeom>
          <a:solidFill>
            <a:srgbClr val="0C2B4B"/>
          </a:solidFill>
          <a:ln w="12700">
            <a:solidFill>
              <a:srgbClr val="0C2B4B"/>
            </a:solidFill>
            <a:prstDash val="solid"/>
          </a:ln>
        </p:spPr>
      </p:sp>
      <p:pic>
        <p:nvPicPr>
          <p:cNvPr id="8" name="Image 1" descr="2 · Choose services in order">    </p:cNvPr>
          <p:cNvPicPr>
            <a:picLocks noChangeAspect="1"/>
          </p:cNvPicPr>
          <p:nvPr/>
        </p:nvPicPr>
        <p:blipFill>
          <a:blip r:embed="rId2"/>
          <a:stretch>
            <a:fillRect/>
          </a:stretch>
        </p:blipFill>
        <p:spPr>
          <a:xfrm>
            <a:off x="2468880" y="960120"/>
            <a:ext cx="1600200" cy="2724443"/>
          </a:xfrm>
          <a:prstGeom prst="rect">
            <a:avLst/>
          </a:prstGeom>
        </p:spPr>
      </p:pic>
      <p:sp>
        <p:nvSpPr>
          <p:cNvPr id="9" name="Text 4"/>
          <p:cNvSpPr txBox="1"/>
          <p:nvPr/>
        </p:nvSpPr>
        <p:spPr>
          <a:xfrm>
            <a:off x="2377440" y="3749040"/>
            <a:ext cx="1783080" cy="274320"/>
          </a:xfrm>
          <a:prstGeom prst="rect">
            <a:avLst/>
          </a:prstGeom>
          <a:noFill/>
          <a:ln/>
        </p:spPr>
        <p:txBody>
          <a:bodyPr wrap="square" lIns="0" tIns="0" rIns="0" bIns="0" rtlCol="0" anchor="t"/>
          <a:lstStyle/>
          <a:p>
            <a:pPr algn="ctr" indent="0" marL="0">
              <a:buNone/>
            </a:pPr>
            <a:r>
              <a:rPr lang="en-US" sz="1000" dirty="0">
                <a:solidFill>
                  <a:srgbClr val="475569"/>
                </a:solidFill>
              </a:rPr>
              <a:t>2 · Choose services in order</a:t>
            </a:r>
            <a:endParaRPr lang="en-US" sz="1000" dirty="0"/>
          </a:p>
        </p:txBody>
      </p:sp>
      <p:sp>
        <p:nvSpPr>
          <p:cNvPr id="10" name="Shape 5"/>
          <p:cNvSpPr/>
          <p:nvPr/>
        </p:nvSpPr>
        <p:spPr>
          <a:xfrm>
            <a:off x="4379976" y="905256"/>
            <a:ext cx="1709928" cy="2834171"/>
          </a:xfrm>
          <a:prstGeom prst="roundRect">
            <a:avLst>
              <a:gd name="adj" fmla="val 6417"/>
            </a:avLst>
          </a:prstGeom>
          <a:solidFill>
            <a:srgbClr val="0C2B4B"/>
          </a:solidFill>
          <a:ln w="12700">
            <a:solidFill>
              <a:srgbClr val="0C2B4B"/>
            </a:solidFill>
            <a:prstDash val="solid"/>
          </a:ln>
        </p:spPr>
      </p:sp>
      <p:pic>
        <p:nvPicPr>
          <p:cNvPr id="11" name="Image 2" descr="3 · Live token, position, ETA">    </p:cNvPr>
          <p:cNvPicPr>
            <a:picLocks noChangeAspect="1"/>
          </p:cNvPicPr>
          <p:nvPr/>
        </p:nvPicPr>
        <p:blipFill>
          <a:blip r:embed="rId3"/>
          <a:stretch>
            <a:fillRect/>
          </a:stretch>
        </p:blipFill>
        <p:spPr>
          <a:xfrm>
            <a:off x="4434840" y="960120"/>
            <a:ext cx="1600200" cy="2724443"/>
          </a:xfrm>
          <a:prstGeom prst="rect">
            <a:avLst/>
          </a:prstGeom>
        </p:spPr>
      </p:pic>
      <p:sp>
        <p:nvSpPr>
          <p:cNvPr id="12" name="Text 6"/>
          <p:cNvSpPr txBox="1"/>
          <p:nvPr/>
        </p:nvSpPr>
        <p:spPr>
          <a:xfrm>
            <a:off x="4343400" y="3749040"/>
            <a:ext cx="1783080" cy="274320"/>
          </a:xfrm>
          <a:prstGeom prst="rect">
            <a:avLst/>
          </a:prstGeom>
          <a:noFill/>
          <a:ln/>
        </p:spPr>
        <p:txBody>
          <a:bodyPr wrap="square" lIns="0" tIns="0" rIns="0" bIns="0" rtlCol="0" anchor="t"/>
          <a:lstStyle/>
          <a:p>
            <a:pPr algn="ctr" indent="0" marL="0">
              <a:buNone/>
            </a:pPr>
            <a:r>
              <a:rPr lang="en-US" sz="1000" dirty="0">
                <a:solidFill>
                  <a:srgbClr val="475569"/>
                </a:solidFill>
              </a:rPr>
              <a:t>3 · Live token, position, ETA</a:t>
            </a:r>
            <a:endParaRPr lang="en-US" sz="1000" dirty="0"/>
          </a:p>
        </p:txBody>
      </p:sp>
      <p:sp>
        <p:nvSpPr>
          <p:cNvPr id="13" name="Text 7"/>
          <p:cNvSpPr txBox="1"/>
          <p:nvPr/>
        </p:nvSpPr>
        <p:spPr>
          <a:xfrm>
            <a:off x="6446520" y="960120"/>
            <a:ext cx="2240280" cy="274320"/>
          </a:xfrm>
          <a:prstGeom prst="rect">
            <a:avLst/>
          </a:prstGeom>
          <a:noFill/>
          <a:ln/>
        </p:spPr>
        <p:txBody>
          <a:bodyPr wrap="square" lIns="0" tIns="0" rIns="0" bIns="0" rtlCol="0" anchor="t"/>
          <a:lstStyle/>
          <a:p>
            <a:pPr indent="0" marL="0">
              <a:buNone/>
            </a:pPr>
            <a:r>
              <a:rPr lang="en-US" sz="1300" b="1" dirty="0">
                <a:solidFill>
                  <a:schemeClr val="tx2"/>
                </a:solidFill>
              </a:rPr>
              <a:t>Android (Flutter)</a:t>
            </a:r>
            <a:endParaRPr lang="en-US" sz="1300" dirty="0"/>
          </a:p>
        </p:txBody>
      </p:sp>
      <p:sp>
        <p:nvSpPr>
          <p:cNvPr id="14" name="Text 8"/>
          <p:cNvSpPr txBox="1"/>
          <p:nvPr/>
        </p:nvSpPr>
        <p:spPr>
          <a:xfrm>
            <a:off x="6446520" y="1234440"/>
            <a:ext cx="2240280" cy="548640"/>
          </a:xfrm>
          <a:prstGeom prst="rect">
            <a:avLst/>
          </a:prstGeom>
          <a:noFill/>
          <a:ln/>
        </p:spPr>
        <p:txBody>
          <a:bodyPr wrap="square" lIns="0" tIns="0" rIns="0" bIns="0" rtlCol="0" anchor="t"/>
          <a:lstStyle/>
          <a:p>
            <a:pPr indent="0" marL="0">
              <a:buNone/>
            </a:pPr>
            <a:r>
              <a:rPr lang="en-US" sz="1100" dirty="0">
                <a:solidFill>
                  <a:srgbClr val="475569"/>
                </a:solidFill>
              </a:rPr>
              <a:t>Same flow in the app; push via Firebase Cloud Messaging.</a:t>
            </a:r>
            <a:endParaRPr lang="en-US" sz="1100" dirty="0"/>
          </a:p>
        </p:txBody>
      </p:sp>
      <p:sp>
        <p:nvSpPr>
          <p:cNvPr id="15" name="Text 9"/>
          <p:cNvSpPr txBox="1"/>
          <p:nvPr/>
        </p:nvSpPr>
        <p:spPr>
          <a:xfrm>
            <a:off x="6446520" y="1874520"/>
            <a:ext cx="2240280" cy="274320"/>
          </a:xfrm>
          <a:prstGeom prst="rect">
            <a:avLst/>
          </a:prstGeom>
          <a:noFill/>
          <a:ln/>
        </p:spPr>
        <p:txBody>
          <a:bodyPr wrap="square" lIns="0" tIns="0" rIns="0" bIns="0" rtlCol="0" anchor="t"/>
          <a:lstStyle/>
          <a:p>
            <a:pPr indent="0" marL="0">
              <a:buNone/>
            </a:pPr>
            <a:r>
              <a:rPr lang="en-US" sz="1300" b="1" dirty="0">
                <a:solidFill>
                  <a:schemeClr val="tx2"/>
                </a:solidFill>
              </a:rPr>
              <a:t>iPhone / iPad</a:t>
            </a:r>
            <a:endParaRPr lang="en-US" sz="1300" dirty="0"/>
          </a:p>
        </p:txBody>
      </p:sp>
      <p:sp>
        <p:nvSpPr>
          <p:cNvPr id="16" name="Text 10"/>
          <p:cNvSpPr txBox="1"/>
          <p:nvPr/>
        </p:nvSpPr>
        <p:spPr>
          <a:xfrm>
            <a:off x="6446520" y="2148840"/>
            <a:ext cx="2240280" cy="731520"/>
          </a:xfrm>
          <a:prstGeom prst="rect">
            <a:avLst/>
          </a:prstGeom>
          <a:noFill/>
          <a:ln/>
        </p:spPr>
        <p:txBody>
          <a:bodyPr wrap="square" lIns="0" tIns="0" rIns="0" bIns="0" rtlCol="0" anchor="t"/>
          <a:lstStyle/>
          <a:p>
            <a:pPr indent="0" marL="0">
              <a:buNone/>
            </a:pPr>
            <a:r>
              <a:rPr lang="en-US" sz="1100" dirty="0">
                <a:solidFill>
                  <a:srgbClr val="475569"/>
                </a:solidFill>
              </a:rPr>
              <a:t>Safari portal; notifications need iOS 16.4+, Home Screen install and permission.</a:t>
            </a:r>
            <a:endParaRPr lang="en-US" sz="1100" dirty="0"/>
          </a:p>
        </p:txBody>
      </p:sp>
      <p:sp>
        <p:nvSpPr>
          <p:cNvPr id="17" name="Shape 11"/>
          <p:cNvSpPr/>
          <p:nvPr/>
        </p:nvSpPr>
        <p:spPr>
          <a:xfrm>
            <a:off x="6446520" y="3017520"/>
            <a:ext cx="2240280" cy="237744"/>
          </a:xfrm>
          <a:prstGeom prst="roundRect">
            <a:avLst>
              <a:gd name="adj" fmla="val 50000"/>
            </a:avLst>
          </a:prstGeom>
          <a:solidFill>
            <a:srgbClr val="FEF3C7"/>
          </a:solidFill>
          <a:ln w="12700">
            <a:solidFill>
              <a:srgbClr val="FEF3C7"/>
            </a:solidFill>
            <a:prstDash val="solid"/>
          </a:ln>
        </p:spPr>
      </p:sp>
      <p:sp>
        <p:nvSpPr>
          <p:cNvPr id="18" name="Text 12"/>
          <p:cNvSpPr txBox="1"/>
          <p:nvPr/>
        </p:nvSpPr>
        <p:spPr>
          <a:xfrm>
            <a:off x="6446520" y="3017520"/>
            <a:ext cx="2240280" cy="237744"/>
          </a:xfrm>
          <a:prstGeom prst="rect">
            <a:avLst/>
          </a:prstGeom>
          <a:noFill/>
          <a:ln/>
        </p:spPr>
        <p:txBody>
          <a:bodyPr wrap="square" lIns="0" tIns="0" rIns="0" bIns="0" rtlCol="0" anchor="ctr"/>
          <a:lstStyle/>
          <a:p>
            <a:pPr algn="ctr" indent="0" marL="0">
              <a:buNone/>
            </a:pPr>
            <a:r>
              <a:rPr lang="en-US" sz="900" b="1" dirty="0">
                <a:solidFill>
                  <a:srgbClr val="B45309"/>
                </a:solidFill>
              </a:rPr>
              <a:t>Physical iPhone push: pending</a:t>
            </a:r>
            <a:endParaRPr lang="en-US" sz="900" dirty="0"/>
          </a:p>
        </p:txBody>
      </p:sp>
      <p:sp>
        <p:nvSpPr>
          <p:cNvPr id="19" name="Shape 13"/>
          <p:cNvSpPr/>
          <p:nvPr/>
        </p:nvSpPr>
        <p:spPr>
          <a:xfrm>
            <a:off x="6446520" y="3337560"/>
            <a:ext cx="2240280" cy="237744"/>
          </a:xfrm>
          <a:prstGeom prst="roundRect">
            <a:avLst>
              <a:gd name="adj" fmla="val 50000"/>
            </a:avLst>
          </a:prstGeom>
          <a:solidFill>
            <a:srgbClr val="FEF3C7"/>
          </a:solidFill>
          <a:ln w="12700">
            <a:solidFill>
              <a:srgbClr val="FEF3C7"/>
            </a:solidFill>
            <a:prstDash val="solid"/>
          </a:ln>
        </p:spPr>
      </p:sp>
      <p:sp>
        <p:nvSpPr>
          <p:cNvPr id="20" name="Text 14"/>
          <p:cNvSpPr txBox="1"/>
          <p:nvPr/>
        </p:nvSpPr>
        <p:spPr>
          <a:xfrm>
            <a:off x="6446520" y="3337560"/>
            <a:ext cx="2240280" cy="237744"/>
          </a:xfrm>
          <a:prstGeom prst="rect">
            <a:avLst/>
          </a:prstGeom>
          <a:noFill/>
          <a:ln/>
        </p:spPr>
        <p:txBody>
          <a:bodyPr wrap="square" lIns="0" tIns="0" rIns="0" bIns="0" rtlCol="0" anchor="ctr"/>
          <a:lstStyle/>
          <a:p>
            <a:pPr algn="ctr" indent="0" marL="0">
              <a:buNone/>
            </a:pPr>
            <a:r>
              <a:rPr lang="en-US" sz="900" b="1" dirty="0">
                <a:solidFill>
                  <a:srgbClr val="B45309"/>
                </a:solidFill>
              </a:rPr>
              <a:t>Physical Android QA: pending</a:t>
            </a:r>
            <a:endParaRPr lang="en-US" sz="900" dirty="0"/>
          </a:p>
        </p:txBody>
      </p:sp>
      <p:sp>
        <p:nvSpPr>
          <p:cNvPr id="21" name="Text 15"/>
          <p:cNvSpPr txBox="1"/>
          <p:nvPr/>
        </p:nvSpPr>
        <p:spPr>
          <a:xfrm>
            <a:off x="6446520" y="3703320"/>
            <a:ext cx="2240280" cy="274320"/>
          </a:xfrm>
          <a:prstGeom prst="rect">
            <a:avLst/>
          </a:prstGeom>
          <a:noFill/>
          <a:ln/>
        </p:spPr>
        <p:txBody>
          <a:bodyPr wrap="square" lIns="0" tIns="0" rIns="0" bIns="0" rtlCol="0" anchor="t"/>
          <a:lstStyle/>
          <a:p>
            <a:pPr indent="0" marL="0">
              <a:buNone/>
            </a:pPr>
            <a:r>
              <a:rPr lang="en-US" sz="900" dirty="0">
                <a:solidFill>
                  <a:srgbClr val="64748B"/>
                </a:solidFill>
              </a:rPr>
              <a:t>Screens: fictional demo data.</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Notification architecture</a:t>
            </a:r>
            <a:endParaRPr lang="en-US" sz="2400" dirty="0"/>
          </a:p>
        </p:txBody>
      </p:sp>
      <p:sp>
        <p:nvSpPr>
          <p:cNvPr id="4" name="Shape 1"/>
          <p:cNvSpPr/>
          <p:nvPr/>
        </p:nvSpPr>
        <p:spPr>
          <a:xfrm>
            <a:off x="457200" y="1828800"/>
            <a:ext cx="1737360" cy="1005840"/>
          </a:xfrm>
          <a:prstGeom prst="roundRect">
            <a:avLst>
              <a:gd name="adj" fmla="val 7273"/>
            </a:avLst>
          </a:prstGeom>
          <a:solidFill>
            <a:srgbClr val="0C2B4B"/>
          </a:solidFill>
          <a:ln w="9525">
            <a:solidFill>
              <a:srgbClr val="0C2B4B"/>
            </a:solidFill>
            <a:prstDash val="solid"/>
          </a:ln>
        </p:spPr>
      </p:sp>
      <p:sp>
        <p:nvSpPr>
          <p:cNvPr id="5" name="Text 2"/>
          <p:cNvSpPr txBox="1"/>
          <p:nvPr/>
        </p:nvSpPr>
        <p:spPr>
          <a:xfrm>
            <a:off x="548640" y="1883664"/>
            <a:ext cx="1554480" cy="896112"/>
          </a:xfrm>
          <a:prstGeom prst="rect">
            <a:avLst/>
          </a:prstGeom>
          <a:noFill/>
          <a:ln/>
        </p:spPr>
        <p:txBody>
          <a:bodyPr wrap="square" lIns="0" tIns="0" rIns="0" bIns="0" rtlCol="0" anchor="ctr"/>
          <a:lstStyle/>
          <a:p>
            <a:pPr algn="ctr" indent="0" marL="0">
              <a:buNone/>
            </a:pPr>
            <a:r>
              <a:rPr lang="en-US" sz="1200" b="1" dirty="0">
                <a:solidFill>
                  <a:schemeClr val="bg1"/>
                </a:solidFill>
              </a:rPr>
              <a:t>Queue event</a:t>
            </a:r>
            <a:endParaRPr lang="en-US" sz="1200" dirty="0"/>
          </a:p>
          <a:p>
            <a:pPr algn="ctr" indent="0" marL="0">
              <a:buNone/>
            </a:pPr>
            <a:r>
              <a:rPr lang="en-US" sz="1000" dirty="0">
                <a:solidFill>
                  <a:srgbClr val="D7E7F6"/>
                </a:solidFill>
              </a:rPr>
              <a:t>called · close to turn · completed</a:t>
            </a:r>
            <a:endParaRPr lang="en-US" sz="1200" dirty="0"/>
          </a:p>
        </p:txBody>
      </p:sp>
      <p:sp>
        <p:nvSpPr>
          <p:cNvPr id="6" name="Shape 3"/>
          <p:cNvSpPr/>
          <p:nvPr/>
        </p:nvSpPr>
        <p:spPr>
          <a:xfrm>
            <a:off x="2651760" y="1874520"/>
            <a:ext cx="1554480" cy="914400"/>
          </a:xfrm>
          <a:prstGeom prst="roundRect">
            <a:avLst>
              <a:gd name="adj" fmla="val 8000"/>
            </a:avLst>
          </a:prstGeom>
          <a:solidFill>
            <a:srgbClr val="EEF5FC"/>
          </a:solidFill>
          <a:ln w="9525">
            <a:solidFill>
              <a:srgbClr val="0F539E"/>
            </a:solidFill>
            <a:prstDash val="solid"/>
          </a:ln>
        </p:spPr>
      </p:sp>
      <p:sp>
        <p:nvSpPr>
          <p:cNvPr id="7" name="Text 4"/>
          <p:cNvSpPr txBox="1"/>
          <p:nvPr/>
        </p:nvSpPr>
        <p:spPr>
          <a:xfrm>
            <a:off x="2743200" y="1929384"/>
            <a:ext cx="1371600" cy="804672"/>
          </a:xfrm>
          <a:prstGeom prst="rect">
            <a:avLst/>
          </a:prstGeom>
          <a:noFill/>
          <a:ln/>
        </p:spPr>
        <p:txBody>
          <a:bodyPr wrap="square" lIns="0" tIns="0" rIns="0" bIns="0" rtlCol="0" anchor="ctr"/>
          <a:lstStyle/>
          <a:p>
            <a:pPr algn="ctr" indent="0" marL="0">
              <a:buNone/>
            </a:pPr>
            <a:r>
              <a:rPr lang="en-US" sz="1200" b="1" dirty="0">
                <a:solidFill>
                  <a:schemeClr val="tx1"/>
                </a:solidFill>
              </a:rPr>
              <a:t>Backend</a:t>
            </a:r>
            <a:endParaRPr lang="en-US" sz="1200" dirty="0"/>
          </a:p>
          <a:p>
            <a:pPr algn="ctr" indent="0" marL="0">
              <a:buNone/>
            </a:pPr>
            <a:r>
              <a:rPr lang="en-US" sz="1000" dirty="0">
                <a:solidFill>
                  <a:srgbClr val="475569"/>
                </a:solidFill>
              </a:rPr>
              <a:t>events + reminder scheduler (every minute)</a:t>
            </a:r>
            <a:endParaRPr lang="en-US" sz="1200" dirty="0"/>
          </a:p>
        </p:txBody>
      </p:sp>
      <p:sp>
        <p:nvSpPr>
          <p:cNvPr id="8" name="Shape 5"/>
          <p:cNvSpPr/>
          <p:nvPr/>
        </p:nvSpPr>
        <p:spPr>
          <a:xfrm>
            <a:off x="2194560" y="2331720"/>
            <a:ext cx="457200" cy="914"/>
          </a:xfrm>
          <a:prstGeom prst="line">
            <a:avLst/>
          </a:prstGeom>
          <a:noFill/>
          <a:ln w="19050">
            <a:solidFill>
              <a:srgbClr val="475569"/>
            </a:solidFill>
            <a:prstDash val="solid"/>
            <a:tailEnd type="triangle"/>
          </a:ln>
        </p:spPr>
      </p:sp>
      <p:sp>
        <p:nvSpPr>
          <p:cNvPr id="9" name="Shape 6"/>
          <p:cNvSpPr/>
          <p:nvPr/>
        </p:nvSpPr>
        <p:spPr>
          <a:xfrm>
            <a:off x="4800600" y="960120"/>
            <a:ext cx="1920240" cy="731520"/>
          </a:xfrm>
          <a:prstGeom prst="roundRect">
            <a:avLst>
              <a:gd name="adj" fmla="val 10000"/>
            </a:avLst>
          </a:prstGeom>
          <a:solidFill>
            <a:srgbClr val="F8FAFC"/>
          </a:solidFill>
          <a:ln w="9525">
            <a:solidFill>
              <a:srgbClr val="CBD5E1"/>
            </a:solidFill>
            <a:prstDash val="solid"/>
          </a:ln>
        </p:spPr>
      </p:sp>
      <p:sp>
        <p:nvSpPr>
          <p:cNvPr id="10" name="Text 7"/>
          <p:cNvSpPr txBox="1"/>
          <p:nvPr/>
        </p:nvSpPr>
        <p:spPr>
          <a:xfrm>
            <a:off x="4892040" y="1014984"/>
            <a:ext cx="1737360" cy="621792"/>
          </a:xfrm>
          <a:prstGeom prst="rect">
            <a:avLst/>
          </a:prstGeom>
          <a:noFill/>
          <a:ln/>
        </p:spPr>
        <p:txBody>
          <a:bodyPr wrap="square" lIns="0" tIns="0" rIns="0" bIns="0" rtlCol="0" anchor="ctr"/>
          <a:lstStyle/>
          <a:p>
            <a:pPr algn="ctr" indent="0" marL="0">
              <a:buNone/>
            </a:pPr>
            <a:r>
              <a:rPr lang="en-US" sz="1200" b="1" dirty="0">
                <a:solidFill>
                  <a:schemeClr val="tx1"/>
                </a:solidFill>
              </a:rPr>
              <a:t>Socket.io</a:t>
            </a:r>
            <a:endParaRPr lang="en-US" sz="1200" dirty="0"/>
          </a:p>
          <a:p>
            <a:pPr algn="ctr" indent="0" marL="0">
              <a:buNone/>
            </a:pPr>
            <a:r>
              <a:rPr lang="en-US" sz="1000" dirty="0">
                <a:solidFill>
                  <a:srgbClr val="475569"/>
                </a:solidFill>
              </a:rPr>
              <a:t>Open app / portal / dashboard</a:t>
            </a:r>
            <a:endParaRPr lang="en-US" sz="1200" dirty="0"/>
          </a:p>
        </p:txBody>
      </p:sp>
      <p:sp>
        <p:nvSpPr>
          <p:cNvPr id="11" name="Text 8"/>
          <p:cNvSpPr txBox="1"/>
          <p:nvPr/>
        </p:nvSpPr>
        <p:spPr>
          <a:xfrm>
            <a:off x="6858000" y="960120"/>
            <a:ext cx="1828800" cy="731520"/>
          </a:xfrm>
          <a:prstGeom prst="rect">
            <a:avLst/>
          </a:prstGeom>
          <a:noFill/>
          <a:ln/>
        </p:spPr>
        <p:txBody>
          <a:bodyPr wrap="square" lIns="0" tIns="0" rIns="0" bIns="0" rtlCol="0" anchor="ctr"/>
          <a:lstStyle/>
          <a:p>
            <a:pPr indent="0" marL="0">
              <a:buNone/>
            </a:pPr>
            <a:r>
              <a:rPr lang="en-US" sz="1050" dirty="0">
                <a:solidFill>
                  <a:srgbClr val="475569"/>
                </a:solidFill>
              </a:rPr>
              <a:t>live, instant</a:t>
            </a:r>
            <a:endParaRPr lang="en-US" sz="1050" dirty="0"/>
          </a:p>
        </p:txBody>
      </p:sp>
      <p:sp>
        <p:nvSpPr>
          <p:cNvPr id="12" name="Shape 9"/>
          <p:cNvSpPr/>
          <p:nvPr/>
        </p:nvSpPr>
        <p:spPr>
          <a:xfrm flipV="1">
            <a:off x="4206240" y="1325880"/>
            <a:ext cx="594360" cy="1005840"/>
          </a:xfrm>
          <a:prstGeom prst="line">
            <a:avLst/>
          </a:prstGeom>
          <a:noFill/>
          <a:ln w="15875">
            <a:solidFill>
              <a:srgbClr val="25A596"/>
            </a:solidFill>
            <a:prstDash val="solid"/>
            <a:tailEnd type="triangle"/>
          </a:ln>
        </p:spPr>
      </p:sp>
      <p:sp>
        <p:nvSpPr>
          <p:cNvPr id="13" name="Shape 10"/>
          <p:cNvSpPr/>
          <p:nvPr/>
        </p:nvSpPr>
        <p:spPr>
          <a:xfrm>
            <a:off x="4800600" y="1856232"/>
            <a:ext cx="1920240" cy="731520"/>
          </a:xfrm>
          <a:prstGeom prst="roundRect">
            <a:avLst>
              <a:gd name="adj" fmla="val 10000"/>
            </a:avLst>
          </a:prstGeom>
          <a:solidFill>
            <a:srgbClr val="F8FAFC"/>
          </a:solidFill>
          <a:ln w="9525">
            <a:solidFill>
              <a:srgbClr val="CBD5E1"/>
            </a:solidFill>
            <a:prstDash val="solid"/>
          </a:ln>
        </p:spPr>
      </p:sp>
      <p:sp>
        <p:nvSpPr>
          <p:cNvPr id="14" name="Text 11"/>
          <p:cNvSpPr txBox="1"/>
          <p:nvPr/>
        </p:nvSpPr>
        <p:spPr>
          <a:xfrm>
            <a:off x="4892040" y="1911096"/>
            <a:ext cx="1737360" cy="621792"/>
          </a:xfrm>
          <a:prstGeom prst="rect">
            <a:avLst/>
          </a:prstGeom>
          <a:noFill/>
          <a:ln/>
        </p:spPr>
        <p:txBody>
          <a:bodyPr wrap="square" lIns="0" tIns="0" rIns="0" bIns="0" rtlCol="0" anchor="ctr"/>
          <a:lstStyle/>
          <a:p>
            <a:pPr algn="ctr" indent="0" marL="0">
              <a:buNone/>
            </a:pPr>
            <a:r>
              <a:rPr lang="en-US" sz="1200" b="1" dirty="0">
                <a:solidFill>
                  <a:schemeClr val="tx1"/>
                </a:solidFill>
              </a:rPr>
              <a:t>FCM</a:t>
            </a:r>
            <a:endParaRPr lang="en-US" sz="1200" dirty="0"/>
          </a:p>
          <a:p>
            <a:pPr algn="ctr" indent="0" marL="0">
              <a:buNone/>
            </a:pPr>
            <a:r>
              <a:rPr lang="en-US" sz="1000" dirty="0">
                <a:solidFill>
                  <a:srgbClr val="475569"/>
                </a:solidFill>
              </a:rPr>
              <a:t>Android app</a:t>
            </a:r>
            <a:endParaRPr lang="en-US" sz="1200" dirty="0"/>
          </a:p>
        </p:txBody>
      </p:sp>
      <p:sp>
        <p:nvSpPr>
          <p:cNvPr id="15" name="Text 12"/>
          <p:cNvSpPr txBox="1"/>
          <p:nvPr/>
        </p:nvSpPr>
        <p:spPr>
          <a:xfrm>
            <a:off x="6858000" y="1856232"/>
            <a:ext cx="1828800" cy="731520"/>
          </a:xfrm>
          <a:prstGeom prst="rect">
            <a:avLst/>
          </a:prstGeom>
          <a:noFill/>
          <a:ln/>
        </p:spPr>
        <p:txBody>
          <a:bodyPr wrap="square" lIns="0" tIns="0" rIns="0" bIns="0" rtlCol="0" anchor="ctr"/>
          <a:lstStyle/>
          <a:p>
            <a:pPr indent="0" marL="0">
              <a:buNone/>
            </a:pPr>
            <a:r>
              <a:rPr lang="en-US" sz="1050" dirty="0">
                <a:solidFill>
                  <a:srgbClr val="475569"/>
                </a:solidFill>
              </a:rPr>
              <a:t>free · Google</a:t>
            </a:r>
            <a:endParaRPr lang="en-US" sz="1050" dirty="0"/>
          </a:p>
        </p:txBody>
      </p:sp>
      <p:sp>
        <p:nvSpPr>
          <p:cNvPr id="16" name="Shape 13"/>
          <p:cNvSpPr/>
          <p:nvPr/>
        </p:nvSpPr>
        <p:spPr>
          <a:xfrm flipV="1">
            <a:off x="4206240" y="2221992"/>
            <a:ext cx="594360" cy="109728"/>
          </a:xfrm>
          <a:prstGeom prst="line">
            <a:avLst/>
          </a:prstGeom>
          <a:noFill/>
          <a:ln w="15875">
            <a:solidFill>
              <a:srgbClr val="25A596"/>
            </a:solidFill>
            <a:prstDash val="solid"/>
            <a:tailEnd type="triangle"/>
          </a:ln>
        </p:spPr>
      </p:sp>
      <p:sp>
        <p:nvSpPr>
          <p:cNvPr id="17" name="Shape 14"/>
          <p:cNvSpPr/>
          <p:nvPr/>
        </p:nvSpPr>
        <p:spPr>
          <a:xfrm>
            <a:off x="4800600" y="2752344"/>
            <a:ext cx="1920240" cy="731520"/>
          </a:xfrm>
          <a:prstGeom prst="roundRect">
            <a:avLst>
              <a:gd name="adj" fmla="val 10000"/>
            </a:avLst>
          </a:prstGeom>
          <a:solidFill>
            <a:srgbClr val="F8FAFC"/>
          </a:solidFill>
          <a:ln w="9525">
            <a:solidFill>
              <a:srgbClr val="CBD5E1"/>
            </a:solidFill>
            <a:prstDash val="solid"/>
          </a:ln>
        </p:spPr>
      </p:sp>
      <p:sp>
        <p:nvSpPr>
          <p:cNvPr id="18" name="Text 15"/>
          <p:cNvSpPr txBox="1"/>
          <p:nvPr/>
        </p:nvSpPr>
        <p:spPr>
          <a:xfrm>
            <a:off x="4892040" y="2807208"/>
            <a:ext cx="1737360" cy="621792"/>
          </a:xfrm>
          <a:prstGeom prst="rect">
            <a:avLst/>
          </a:prstGeom>
          <a:noFill/>
          <a:ln/>
        </p:spPr>
        <p:txBody>
          <a:bodyPr wrap="square" lIns="0" tIns="0" rIns="0" bIns="0" rtlCol="0" anchor="ctr"/>
          <a:lstStyle/>
          <a:p>
            <a:pPr algn="ctr" indent="0" marL="0">
              <a:buNone/>
            </a:pPr>
            <a:r>
              <a:rPr lang="en-US" sz="1200" b="1" dirty="0">
                <a:solidFill>
                  <a:schemeClr val="tx1"/>
                </a:solidFill>
              </a:rPr>
              <a:t>Web Push (VAPID)</a:t>
            </a:r>
            <a:endParaRPr lang="en-US" sz="1200" dirty="0"/>
          </a:p>
          <a:p>
            <a:pPr algn="ctr" indent="0" marL="0">
              <a:buNone/>
            </a:pPr>
            <a:r>
              <a:rPr lang="en-US" sz="1000" dirty="0">
                <a:solidFill>
                  <a:srgbClr val="475569"/>
                </a:solidFill>
              </a:rPr>
              <a:t>iPhone/iPad Safari PWA</a:t>
            </a:r>
            <a:endParaRPr lang="en-US" sz="1200" dirty="0"/>
          </a:p>
        </p:txBody>
      </p:sp>
      <p:sp>
        <p:nvSpPr>
          <p:cNvPr id="19" name="Text 16"/>
          <p:cNvSpPr txBox="1"/>
          <p:nvPr/>
        </p:nvSpPr>
        <p:spPr>
          <a:xfrm>
            <a:off x="6858000" y="2752344"/>
            <a:ext cx="1828800" cy="731520"/>
          </a:xfrm>
          <a:prstGeom prst="rect">
            <a:avLst/>
          </a:prstGeom>
          <a:noFill/>
          <a:ln/>
        </p:spPr>
        <p:txBody>
          <a:bodyPr wrap="square" lIns="0" tIns="0" rIns="0" bIns="0" rtlCol="0" anchor="ctr"/>
          <a:lstStyle/>
          <a:p>
            <a:pPr indent="0" marL="0">
              <a:buNone/>
            </a:pPr>
            <a:r>
              <a:rPr lang="en-US" sz="1050" dirty="0">
                <a:solidFill>
                  <a:srgbClr val="475569"/>
                </a:solidFill>
              </a:rPr>
              <a:t>free · Apple push service</a:t>
            </a:r>
            <a:endParaRPr lang="en-US" sz="1050" dirty="0"/>
          </a:p>
        </p:txBody>
      </p:sp>
      <p:sp>
        <p:nvSpPr>
          <p:cNvPr id="20" name="Shape 17"/>
          <p:cNvSpPr/>
          <p:nvPr/>
        </p:nvSpPr>
        <p:spPr>
          <a:xfrm>
            <a:off x="4206240" y="2331720"/>
            <a:ext cx="594360" cy="786384"/>
          </a:xfrm>
          <a:prstGeom prst="line">
            <a:avLst/>
          </a:prstGeom>
          <a:noFill/>
          <a:ln w="15875">
            <a:solidFill>
              <a:srgbClr val="25A596"/>
            </a:solidFill>
            <a:prstDash val="solid"/>
            <a:tailEnd type="triangle"/>
          </a:ln>
        </p:spPr>
      </p:sp>
      <p:sp>
        <p:nvSpPr>
          <p:cNvPr id="21" name="Shape 18"/>
          <p:cNvSpPr/>
          <p:nvPr/>
        </p:nvSpPr>
        <p:spPr>
          <a:xfrm>
            <a:off x="4800600" y="3648456"/>
            <a:ext cx="1920240" cy="731520"/>
          </a:xfrm>
          <a:prstGeom prst="roundRect">
            <a:avLst>
              <a:gd name="adj" fmla="val 10000"/>
            </a:avLst>
          </a:prstGeom>
          <a:solidFill>
            <a:srgbClr val="F8FAFC"/>
          </a:solidFill>
          <a:ln w="9525">
            <a:solidFill>
              <a:srgbClr val="CBD5E1"/>
            </a:solidFill>
            <a:prstDash val="solid"/>
          </a:ln>
        </p:spPr>
      </p:sp>
      <p:sp>
        <p:nvSpPr>
          <p:cNvPr id="22" name="Text 19"/>
          <p:cNvSpPr txBox="1"/>
          <p:nvPr/>
        </p:nvSpPr>
        <p:spPr>
          <a:xfrm>
            <a:off x="4892040" y="3703320"/>
            <a:ext cx="1737360" cy="621792"/>
          </a:xfrm>
          <a:prstGeom prst="rect">
            <a:avLst/>
          </a:prstGeom>
          <a:noFill/>
          <a:ln/>
        </p:spPr>
        <p:txBody>
          <a:bodyPr wrap="square" lIns="0" tIns="0" rIns="0" bIns="0" rtlCol="0" anchor="ctr"/>
          <a:lstStyle/>
          <a:p>
            <a:pPr algn="ctr" indent="0" marL="0">
              <a:buNone/>
            </a:pPr>
            <a:r>
              <a:rPr lang="en-US" sz="1200" b="1" dirty="0">
                <a:solidFill>
                  <a:schemeClr val="tx1"/>
                </a:solidFill>
              </a:rPr>
              <a:t>Resend email</a:t>
            </a:r>
            <a:endParaRPr lang="en-US" sz="1200" dirty="0"/>
          </a:p>
          <a:p>
            <a:pPr algn="ctr" indent="0" marL="0">
              <a:buNone/>
            </a:pPr>
            <a:r>
              <a:rPr lang="en-US" sz="1000" dirty="0">
                <a:solidFill>
                  <a:srgbClr val="475569"/>
                </a:solidFill>
              </a:rPr>
              <a:t>Accounts, invitations, succession</a:t>
            </a:r>
            <a:endParaRPr lang="en-US" sz="1200" dirty="0"/>
          </a:p>
        </p:txBody>
      </p:sp>
      <p:sp>
        <p:nvSpPr>
          <p:cNvPr id="23" name="Text 20"/>
          <p:cNvSpPr txBox="1"/>
          <p:nvPr/>
        </p:nvSpPr>
        <p:spPr>
          <a:xfrm>
            <a:off x="6858000" y="3648456"/>
            <a:ext cx="1828800" cy="731520"/>
          </a:xfrm>
          <a:prstGeom prst="rect">
            <a:avLst/>
          </a:prstGeom>
          <a:noFill/>
          <a:ln/>
        </p:spPr>
        <p:txBody>
          <a:bodyPr wrap="square" lIns="0" tIns="0" rIns="0" bIns="0" rtlCol="0" anchor="ctr"/>
          <a:lstStyle/>
          <a:p>
            <a:pPr indent="0" marL="0">
              <a:buNone/>
            </a:pPr>
            <a:r>
              <a:rPr lang="en-US" sz="1050" dirty="0">
                <a:solidFill>
                  <a:srgbClr val="475569"/>
                </a:solidFill>
              </a:rPr>
              <a:t>free: 100/day</a:t>
            </a:r>
            <a:endParaRPr lang="en-US" sz="1050" dirty="0"/>
          </a:p>
        </p:txBody>
      </p:sp>
      <p:sp>
        <p:nvSpPr>
          <p:cNvPr id="24" name="Shape 21"/>
          <p:cNvSpPr/>
          <p:nvPr/>
        </p:nvSpPr>
        <p:spPr>
          <a:xfrm>
            <a:off x="4206240" y="2331720"/>
            <a:ext cx="594360" cy="1682496"/>
          </a:xfrm>
          <a:prstGeom prst="line">
            <a:avLst/>
          </a:prstGeom>
          <a:noFill/>
          <a:ln w="15875">
            <a:solidFill>
              <a:srgbClr val="25A596"/>
            </a:solidFill>
            <a:prstDash val="solid"/>
            <a:tailEnd type="triangle"/>
          </a:ln>
        </p:spPr>
      </p:sp>
      <p:sp>
        <p:nvSpPr>
          <p:cNvPr id="25" name="Shape 22"/>
          <p:cNvSpPr/>
          <p:nvPr/>
        </p:nvSpPr>
        <p:spPr>
          <a:xfrm>
            <a:off x="457200" y="3246120"/>
            <a:ext cx="3931920" cy="1188720"/>
          </a:xfrm>
          <a:prstGeom prst="roundRect">
            <a:avLst>
              <a:gd name="adj" fmla="val 6154"/>
            </a:avLst>
          </a:prstGeom>
          <a:solidFill>
            <a:srgbClr val="FEF3C7"/>
          </a:solidFill>
          <a:ln w="9525">
            <a:solidFill>
              <a:srgbClr val="FDE68A"/>
            </a:solidFill>
            <a:prstDash val="solid"/>
          </a:ln>
        </p:spPr>
      </p:sp>
      <p:sp>
        <p:nvSpPr>
          <p:cNvPr id="26" name="Text 23"/>
          <p:cNvSpPr txBox="1"/>
          <p:nvPr/>
        </p:nvSpPr>
        <p:spPr>
          <a:xfrm>
            <a:off x="594360" y="3310128"/>
            <a:ext cx="3657600" cy="1051560"/>
          </a:xfrm>
          <a:prstGeom prst="rect">
            <a:avLst/>
          </a:prstGeom>
          <a:noFill/>
          <a:ln/>
        </p:spPr>
        <p:txBody>
          <a:bodyPr wrap="square" lIns="0" tIns="0" rIns="0" bIns="0" rtlCol="0" anchor="ctr"/>
          <a:lstStyle/>
          <a:p>
            <a:pPr indent="0" marL="0">
              <a:buNone/>
            </a:pPr>
            <a:r>
              <a:rPr lang="en-US" sz="1100" b="1" dirty="0">
                <a:solidFill>
                  <a:srgbClr val="B45309"/>
                </a:solidFill>
              </a:rPr>
              <a:t>Best-effort delivery. </a:t>
            </a:r>
            <a:pPr indent="0" marL="0">
              <a:buNone/>
            </a:pPr>
            <a:r>
              <a:rPr lang="en-US" sz="1100" dirty="0">
                <a:solidFill>
                  <a:schemeClr val="tx1"/>
                </a:solidFill>
              </a:rPr>
              <a:t>Push depends on device settings, OS rules and vendor services. LiveQueue never assumes a notification arrived — the live screen and the server state stay authoritative.</a:t>
            </a:r>
            <a:endParaRPr lang="en-US" sz="11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Governance and succession</a:t>
            </a:r>
            <a:endParaRPr lang="en-US" sz="2400" dirty="0"/>
          </a:p>
        </p:txBody>
      </p:sp>
      <p:sp>
        <p:nvSpPr>
          <p:cNvPr id="4" name="Shape 1"/>
          <p:cNvSpPr/>
          <p:nvPr/>
        </p:nvSpPr>
        <p:spPr>
          <a:xfrm>
            <a:off x="457200" y="1005840"/>
            <a:ext cx="4023360" cy="987552"/>
          </a:xfrm>
          <a:prstGeom prst="roundRect">
            <a:avLst>
              <a:gd name="adj" fmla="val 7407"/>
            </a:avLst>
          </a:prstGeom>
          <a:solidFill>
            <a:srgbClr val="F8FAFC"/>
          </a:solidFill>
          <a:ln w="9525">
            <a:solidFill>
              <a:srgbClr val="CBD5E1"/>
            </a:solidFill>
            <a:prstDash val="solid"/>
          </a:ln>
        </p:spPr>
      </p:sp>
      <p:sp>
        <p:nvSpPr>
          <p:cNvPr id="5" name="Shape 2"/>
          <p:cNvSpPr/>
          <p:nvPr/>
        </p:nvSpPr>
        <p:spPr>
          <a:xfrm>
            <a:off x="594360" y="1161288"/>
            <a:ext cx="329184" cy="329184"/>
          </a:xfrm>
          <a:prstGeom prst="ellipse">
            <a:avLst/>
          </a:prstGeom>
          <a:solidFill>
            <a:srgbClr val="25A596"/>
          </a:solidFill>
          <a:ln w="12700">
            <a:solidFill>
              <a:srgbClr val="25A596"/>
            </a:solidFill>
            <a:prstDash val="solid"/>
          </a:ln>
        </p:spPr>
      </p:sp>
      <p:sp>
        <p:nvSpPr>
          <p:cNvPr id="6" name="Text 3"/>
          <p:cNvSpPr txBox="1"/>
          <p:nvPr/>
        </p:nvSpPr>
        <p:spPr>
          <a:xfrm>
            <a:off x="594360" y="11612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7" name="Text 4"/>
          <p:cNvSpPr txBox="1"/>
          <p:nvPr/>
        </p:nvSpPr>
        <p:spPr>
          <a:xfrm>
            <a:off x="1051560" y="1115568"/>
            <a:ext cx="3291840" cy="292608"/>
          </a:xfrm>
          <a:prstGeom prst="rect">
            <a:avLst/>
          </a:prstGeom>
          <a:noFill/>
          <a:ln/>
        </p:spPr>
        <p:txBody>
          <a:bodyPr wrap="square" lIns="0" tIns="0" rIns="0" bIns="0" rtlCol="0" anchor="t"/>
          <a:lstStyle/>
          <a:p>
            <a:pPr indent="0" marL="0">
              <a:buNone/>
            </a:pPr>
            <a:r>
              <a:rPr lang="en-US" sz="1300" b="1" dirty="0">
                <a:solidFill>
                  <a:schemeClr val="tx2"/>
                </a:solidFill>
              </a:rPr>
              <a:t>Admin replacement</a:t>
            </a:r>
            <a:endParaRPr lang="en-US" sz="1300" dirty="0"/>
          </a:p>
        </p:txBody>
      </p:sp>
      <p:sp>
        <p:nvSpPr>
          <p:cNvPr id="8" name="Text 5"/>
          <p:cNvSpPr txBox="1"/>
          <p:nvPr/>
        </p:nvSpPr>
        <p:spPr>
          <a:xfrm>
            <a:off x="1051560" y="1435608"/>
            <a:ext cx="3291840" cy="502920"/>
          </a:xfrm>
          <a:prstGeom prst="rect">
            <a:avLst/>
          </a:prstGeom>
          <a:noFill/>
          <a:ln/>
        </p:spPr>
        <p:txBody>
          <a:bodyPr wrap="square" lIns="0" tIns="0" rIns="0" bIns="0" rtlCol="0" anchor="t"/>
          <a:lstStyle/>
          <a:p>
            <a:pPr indent="0" marL="0">
              <a:buNone/>
            </a:pPr>
            <a:r>
              <a:rPr lang="en-US" sz="1100" dirty="0">
                <a:solidFill>
                  <a:srgbClr val="475569"/>
                </a:solidFill>
              </a:rPr>
              <a:t>Queue + every Executive move atomically; counters, tokens and history untouched</a:t>
            </a:r>
            <a:endParaRPr lang="en-US" sz="1100" dirty="0"/>
          </a:p>
        </p:txBody>
      </p:sp>
      <p:sp>
        <p:nvSpPr>
          <p:cNvPr id="9" name="Shape 6"/>
          <p:cNvSpPr/>
          <p:nvPr/>
        </p:nvSpPr>
        <p:spPr>
          <a:xfrm>
            <a:off x="4617720" y="1005840"/>
            <a:ext cx="4023360" cy="987552"/>
          </a:xfrm>
          <a:prstGeom prst="roundRect">
            <a:avLst>
              <a:gd name="adj" fmla="val 7407"/>
            </a:avLst>
          </a:prstGeom>
          <a:solidFill>
            <a:srgbClr val="F8FAFC"/>
          </a:solidFill>
          <a:ln w="9525">
            <a:solidFill>
              <a:srgbClr val="CBD5E1"/>
            </a:solidFill>
            <a:prstDash val="solid"/>
          </a:ln>
        </p:spPr>
      </p:sp>
      <p:sp>
        <p:nvSpPr>
          <p:cNvPr id="10" name="Shape 7"/>
          <p:cNvSpPr/>
          <p:nvPr/>
        </p:nvSpPr>
        <p:spPr>
          <a:xfrm>
            <a:off x="4754880" y="1161288"/>
            <a:ext cx="329184" cy="329184"/>
          </a:xfrm>
          <a:prstGeom prst="ellipse">
            <a:avLst/>
          </a:prstGeom>
          <a:solidFill>
            <a:srgbClr val="25A596"/>
          </a:solidFill>
          <a:ln w="12700">
            <a:solidFill>
              <a:srgbClr val="25A596"/>
            </a:solidFill>
            <a:prstDash val="solid"/>
          </a:ln>
        </p:spPr>
      </p:sp>
      <p:sp>
        <p:nvSpPr>
          <p:cNvPr id="11" name="Text 8"/>
          <p:cNvSpPr txBox="1"/>
          <p:nvPr/>
        </p:nvSpPr>
        <p:spPr>
          <a:xfrm>
            <a:off x="4754880" y="11612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12" name="Text 9"/>
          <p:cNvSpPr txBox="1"/>
          <p:nvPr/>
        </p:nvSpPr>
        <p:spPr>
          <a:xfrm>
            <a:off x="5212080" y="1115568"/>
            <a:ext cx="3291840" cy="292608"/>
          </a:xfrm>
          <a:prstGeom prst="rect">
            <a:avLst/>
          </a:prstGeom>
          <a:noFill/>
          <a:ln/>
        </p:spPr>
        <p:txBody>
          <a:bodyPr wrap="square" lIns="0" tIns="0" rIns="0" bIns="0" rtlCol="0" anchor="t"/>
          <a:lstStyle/>
          <a:p>
            <a:pPr indent="0" marL="0">
              <a:buNone/>
            </a:pPr>
            <a:r>
              <a:rPr lang="en-US" sz="1300" b="1" dirty="0">
                <a:solidFill>
                  <a:schemeClr val="tx2"/>
                </a:solidFill>
              </a:rPr>
              <a:t>Live queue keeps its Admin</a:t>
            </a:r>
            <a:endParaRPr lang="en-US" sz="1300" dirty="0"/>
          </a:p>
        </p:txBody>
      </p:sp>
      <p:sp>
        <p:nvSpPr>
          <p:cNvPr id="13" name="Text 10"/>
          <p:cNvSpPr txBox="1"/>
          <p:nvPr/>
        </p:nvSpPr>
        <p:spPr>
          <a:xfrm>
            <a:off x="5212080" y="1435608"/>
            <a:ext cx="3291840" cy="502920"/>
          </a:xfrm>
          <a:prstGeom prst="rect">
            <a:avLst/>
          </a:prstGeom>
          <a:noFill/>
          <a:ln/>
        </p:spPr>
        <p:txBody>
          <a:bodyPr wrap="square" lIns="0" tIns="0" rIns="0" bIns="0" rtlCol="0" anchor="t"/>
          <a:lstStyle/>
          <a:p>
            <a:pPr indent="0" marL="0">
              <a:buNone/>
            </a:pPr>
            <a:r>
              <a:rPr lang="en-US" sz="1100" dirty="0">
                <a:solidFill>
                  <a:srgbClr val="475569"/>
                </a:solidFill>
              </a:rPr>
              <a:t>Database trigger; refused with a guided replacement flow</a:t>
            </a:r>
            <a:endParaRPr lang="en-US" sz="1100" dirty="0"/>
          </a:p>
        </p:txBody>
      </p:sp>
      <p:sp>
        <p:nvSpPr>
          <p:cNvPr id="14" name="Shape 11"/>
          <p:cNvSpPr/>
          <p:nvPr/>
        </p:nvSpPr>
        <p:spPr>
          <a:xfrm>
            <a:off x="457200" y="2148840"/>
            <a:ext cx="4023360" cy="987552"/>
          </a:xfrm>
          <a:prstGeom prst="roundRect">
            <a:avLst>
              <a:gd name="adj" fmla="val 7407"/>
            </a:avLst>
          </a:prstGeom>
          <a:solidFill>
            <a:srgbClr val="EEF5FC"/>
          </a:solidFill>
          <a:ln w="9525">
            <a:solidFill>
              <a:srgbClr val="D7E7F6"/>
            </a:solidFill>
            <a:prstDash val="solid"/>
          </a:ln>
        </p:spPr>
      </p:sp>
      <p:sp>
        <p:nvSpPr>
          <p:cNvPr id="15" name="Shape 12"/>
          <p:cNvSpPr/>
          <p:nvPr/>
        </p:nvSpPr>
        <p:spPr>
          <a:xfrm>
            <a:off x="594360" y="2304288"/>
            <a:ext cx="329184" cy="329184"/>
          </a:xfrm>
          <a:prstGeom prst="ellipse">
            <a:avLst/>
          </a:prstGeom>
          <a:solidFill>
            <a:srgbClr val="25A596"/>
          </a:solidFill>
          <a:ln w="12700">
            <a:solidFill>
              <a:srgbClr val="25A596"/>
            </a:solidFill>
            <a:prstDash val="solid"/>
          </a:ln>
        </p:spPr>
      </p:sp>
      <p:sp>
        <p:nvSpPr>
          <p:cNvPr id="16" name="Text 13"/>
          <p:cNvSpPr txBox="1"/>
          <p:nvPr/>
        </p:nvSpPr>
        <p:spPr>
          <a:xfrm>
            <a:off x="594360" y="23042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17" name="Text 14"/>
          <p:cNvSpPr txBox="1"/>
          <p:nvPr/>
        </p:nvSpPr>
        <p:spPr>
          <a:xfrm>
            <a:off x="1051560" y="2258568"/>
            <a:ext cx="3291840" cy="292608"/>
          </a:xfrm>
          <a:prstGeom prst="rect">
            <a:avLst/>
          </a:prstGeom>
          <a:noFill/>
          <a:ln/>
        </p:spPr>
        <p:txBody>
          <a:bodyPr wrap="square" lIns="0" tIns="0" rIns="0" bIns="0" rtlCol="0" anchor="t"/>
          <a:lstStyle/>
          <a:p>
            <a:pPr indent="0" marL="0">
              <a:buNone/>
            </a:pPr>
            <a:r>
              <a:rPr lang="en-US" sz="1300" b="1" dirty="0">
                <a:solidFill>
                  <a:schemeClr val="tx2"/>
                </a:solidFill>
              </a:rPr>
              <a:t>Head succession</a:t>
            </a:r>
            <a:endParaRPr lang="en-US" sz="1300" dirty="0"/>
          </a:p>
        </p:txBody>
      </p:sp>
      <p:sp>
        <p:nvSpPr>
          <p:cNvPr id="18" name="Text 15"/>
          <p:cNvSpPr txBox="1"/>
          <p:nvPr/>
        </p:nvSpPr>
        <p:spPr>
          <a:xfrm>
            <a:off x="1051560" y="2578608"/>
            <a:ext cx="3291840" cy="502920"/>
          </a:xfrm>
          <a:prstGeom prst="rect">
            <a:avLst/>
          </a:prstGeom>
          <a:noFill/>
          <a:ln/>
        </p:spPr>
        <p:txBody>
          <a:bodyPr wrap="square" lIns="0" tIns="0" rIns="0" bIns="0" rtlCol="0" anchor="t"/>
          <a:lstStyle/>
          <a:p>
            <a:pPr indent="0" marL="0">
              <a:buNone/>
            </a:pPr>
            <a:r>
              <a:rPr lang="en-US" sz="1100" dirty="0">
                <a:solidFill>
                  <a:srgbClr val="475569"/>
                </a:solidFill>
              </a:rPr>
              <a:t>Password + emailed code → single-use 72-hour link → explicit acceptance</a:t>
            </a:r>
            <a:endParaRPr lang="en-US" sz="1100" dirty="0"/>
          </a:p>
        </p:txBody>
      </p:sp>
      <p:sp>
        <p:nvSpPr>
          <p:cNvPr id="19" name="Shape 16"/>
          <p:cNvSpPr/>
          <p:nvPr/>
        </p:nvSpPr>
        <p:spPr>
          <a:xfrm>
            <a:off x="4617720" y="2148840"/>
            <a:ext cx="4023360" cy="987552"/>
          </a:xfrm>
          <a:prstGeom prst="roundRect">
            <a:avLst>
              <a:gd name="adj" fmla="val 7407"/>
            </a:avLst>
          </a:prstGeom>
          <a:solidFill>
            <a:srgbClr val="F8FAFC"/>
          </a:solidFill>
          <a:ln w="9525">
            <a:solidFill>
              <a:srgbClr val="CBD5E1"/>
            </a:solidFill>
            <a:prstDash val="solid"/>
          </a:ln>
        </p:spPr>
      </p:sp>
      <p:sp>
        <p:nvSpPr>
          <p:cNvPr id="20" name="Shape 17"/>
          <p:cNvSpPr/>
          <p:nvPr/>
        </p:nvSpPr>
        <p:spPr>
          <a:xfrm>
            <a:off x="4754880" y="2304288"/>
            <a:ext cx="329184" cy="329184"/>
          </a:xfrm>
          <a:prstGeom prst="ellipse">
            <a:avLst/>
          </a:prstGeom>
          <a:solidFill>
            <a:srgbClr val="25A596"/>
          </a:solidFill>
          <a:ln w="12700">
            <a:solidFill>
              <a:srgbClr val="25A596"/>
            </a:solidFill>
            <a:prstDash val="solid"/>
          </a:ln>
        </p:spPr>
      </p:sp>
      <p:sp>
        <p:nvSpPr>
          <p:cNvPr id="21" name="Text 18"/>
          <p:cNvSpPr txBox="1"/>
          <p:nvPr/>
        </p:nvSpPr>
        <p:spPr>
          <a:xfrm>
            <a:off x="4754880" y="23042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2" name="Text 19"/>
          <p:cNvSpPr txBox="1"/>
          <p:nvPr/>
        </p:nvSpPr>
        <p:spPr>
          <a:xfrm>
            <a:off x="5212080" y="2258568"/>
            <a:ext cx="3291840" cy="292608"/>
          </a:xfrm>
          <a:prstGeom prst="rect">
            <a:avLst/>
          </a:prstGeom>
          <a:noFill/>
          <a:ln/>
        </p:spPr>
        <p:txBody>
          <a:bodyPr wrap="square" lIns="0" tIns="0" rIns="0" bIns="0" rtlCol="0" anchor="t"/>
          <a:lstStyle/>
          <a:p>
            <a:pPr indent="0" marL="0">
              <a:buNone/>
            </a:pPr>
            <a:r>
              <a:rPr lang="en-US" sz="1300" b="1" dirty="0">
                <a:solidFill>
                  <a:schemeClr val="tx2"/>
                </a:solidFill>
              </a:rPr>
              <a:t>Tenure history</a:t>
            </a:r>
            <a:endParaRPr lang="en-US" sz="1300" dirty="0"/>
          </a:p>
        </p:txBody>
      </p:sp>
      <p:sp>
        <p:nvSpPr>
          <p:cNvPr id="23" name="Text 20"/>
          <p:cNvSpPr txBox="1"/>
          <p:nvPr/>
        </p:nvSpPr>
        <p:spPr>
          <a:xfrm>
            <a:off x="5212080" y="2578608"/>
            <a:ext cx="3291840" cy="502920"/>
          </a:xfrm>
          <a:prstGeom prst="rect">
            <a:avLst/>
          </a:prstGeom>
          <a:noFill/>
          <a:ln/>
        </p:spPr>
        <p:txBody>
          <a:bodyPr wrap="square" lIns="0" tIns="0" rIns="0" bIns="0" rtlCol="0" anchor="t"/>
          <a:lstStyle/>
          <a:p>
            <a:pPr indent="0" marL="0">
              <a:buNone/>
            </a:pPr>
            <a:r>
              <a:rPr lang="en-US" sz="1100" dirty="0">
                <a:solidFill>
                  <a:srgbClr val="475569"/>
                </a:solidFill>
              </a:rPr>
              <a:t>Who led the organization, when, and why — visible by role</a:t>
            </a:r>
            <a:endParaRPr lang="en-US" sz="1100" dirty="0"/>
          </a:p>
        </p:txBody>
      </p:sp>
      <p:sp>
        <p:nvSpPr>
          <p:cNvPr id="24" name="Shape 21"/>
          <p:cNvSpPr/>
          <p:nvPr/>
        </p:nvSpPr>
        <p:spPr>
          <a:xfrm>
            <a:off x="457200" y="3291840"/>
            <a:ext cx="4023360" cy="987552"/>
          </a:xfrm>
          <a:prstGeom prst="roundRect">
            <a:avLst>
              <a:gd name="adj" fmla="val 7407"/>
            </a:avLst>
          </a:prstGeom>
          <a:solidFill>
            <a:srgbClr val="F8FAFC"/>
          </a:solidFill>
          <a:ln w="9525">
            <a:solidFill>
              <a:srgbClr val="CBD5E1"/>
            </a:solidFill>
            <a:prstDash val="solid"/>
          </a:ln>
        </p:spPr>
      </p:sp>
      <p:sp>
        <p:nvSpPr>
          <p:cNvPr id="25" name="Shape 22"/>
          <p:cNvSpPr/>
          <p:nvPr/>
        </p:nvSpPr>
        <p:spPr>
          <a:xfrm>
            <a:off x="594360" y="3447288"/>
            <a:ext cx="329184" cy="329184"/>
          </a:xfrm>
          <a:prstGeom prst="ellipse">
            <a:avLst/>
          </a:prstGeom>
          <a:solidFill>
            <a:srgbClr val="25A596"/>
          </a:solidFill>
          <a:ln w="12700">
            <a:solidFill>
              <a:srgbClr val="25A596"/>
            </a:solidFill>
            <a:prstDash val="solid"/>
          </a:ln>
        </p:spPr>
      </p:sp>
      <p:sp>
        <p:nvSpPr>
          <p:cNvPr id="26" name="Text 23"/>
          <p:cNvSpPr txBox="1"/>
          <p:nvPr/>
        </p:nvSpPr>
        <p:spPr>
          <a:xfrm>
            <a:off x="594360" y="34472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7" name="Text 24"/>
          <p:cNvSpPr txBox="1"/>
          <p:nvPr/>
        </p:nvSpPr>
        <p:spPr>
          <a:xfrm>
            <a:off x="1051560" y="3401568"/>
            <a:ext cx="3291840" cy="292608"/>
          </a:xfrm>
          <a:prstGeom prst="rect">
            <a:avLst/>
          </a:prstGeom>
          <a:noFill/>
          <a:ln/>
        </p:spPr>
        <p:txBody>
          <a:bodyPr wrap="square" lIns="0" tIns="0" rIns="0" bIns="0" rtlCol="0" anchor="t"/>
          <a:lstStyle/>
          <a:p>
            <a:pPr indent="0" marL="0">
              <a:buNone/>
            </a:pPr>
            <a:r>
              <a:rPr lang="en-US" sz="1300" b="1" dirty="0">
                <a:solidFill>
                  <a:schemeClr val="tx2"/>
                </a:solidFill>
              </a:rPr>
              <a:t>Transactional audit</a:t>
            </a:r>
            <a:endParaRPr lang="en-US" sz="1300" dirty="0"/>
          </a:p>
        </p:txBody>
      </p:sp>
      <p:sp>
        <p:nvSpPr>
          <p:cNvPr id="28" name="Text 25"/>
          <p:cNvSpPr txBox="1"/>
          <p:nvPr/>
        </p:nvSpPr>
        <p:spPr>
          <a:xfrm>
            <a:off x="1051560" y="3721608"/>
            <a:ext cx="3291840" cy="502920"/>
          </a:xfrm>
          <a:prstGeom prst="rect">
            <a:avLst/>
          </a:prstGeom>
          <a:noFill/>
          <a:ln/>
        </p:spPr>
        <p:txBody>
          <a:bodyPr wrap="square" lIns="0" tIns="0" rIns="0" bIns="0" rtlCol="0" anchor="t"/>
          <a:lstStyle/>
          <a:p>
            <a:pPr indent="0" marL="0">
              <a:buNone/>
            </a:pPr>
            <a:r>
              <a:rPr lang="en-US" sz="1100" dirty="0">
                <a:solidFill>
                  <a:srgbClr val="475569"/>
                </a:solidFill>
              </a:rPr>
              <a:t>Change and audit row commit together, with actor snapshots</a:t>
            </a:r>
            <a:endParaRPr lang="en-US" sz="1100" dirty="0"/>
          </a:p>
        </p:txBody>
      </p:sp>
      <p:sp>
        <p:nvSpPr>
          <p:cNvPr id="29" name="Shape 26"/>
          <p:cNvSpPr/>
          <p:nvPr/>
        </p:nvSpPr>
        <p:spPr>
          <a:xfrm>
            <a:off x="4617720" y="3291840"/>
            <a:ext cx="4023360" cy="987552"/>
          </a:xfrm>
          <a:prstGeom prst="roundRect">
            <a:avLst>
              <a:gd name="adj" fmla="val 7407"/>
            </a:avLst>
          </a:prstGeom>
          <a:solidFill>
            <a:srgbClr val="F8FAFC"/>
          </a:solidFill>
          <a:ln w="9525">
            <a:solidFill>
              <a:srgbClr val="CBD5E1"/>
            </a:solidFill>
            <a:prstDash val="solid"/>
          </a:ln>
        </p:spPr>
      </p:sp>
      <p:sp>
        <p:nvSpPr>
          <p:cNvPr id="30" name="Shape 27"/>
          <p:cNvSpPr/>
          <p:nvPr/>
        </p:nvSpPr>
        <p:spPr>
          <a:xfrm>
            <a:off x="4754880" y="3447288"/>
            <a:ext cx="329184" cy="329184"/>
          </a:xfrm>
          <a:prstGeom prst="ellipse">
            <a:avLst/>
          </a:prstGeom>
          <a:solidFill>
            <a:srgbClr val="25A596"/>
          </a:solidFill>
          <a:ln w="12700">
            <a:solidFill>
              <a:srgbClr val="25A596"/>
            </a:solidFill>
            <a:prstDash val="solid"/>
          </a:ln>
        </p:spPr>
      </p:sp>
      <p:sp>
        <p:nvSpPr>
          <p:cNvPr id="31" name="Text 28"/>
          <p:cNvSpPr txBox="1"/>
          <p:nvPr/>
        </p:nvSpPr>
        <p:spPr>
          <a:xfrm>
            <a:off x="4754880" y="34472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32" name="Text 29"/>
          <p:cNvSpPr txBox="1"/>
          <p:nvPr/>
        </p:nvSpPr>
        <p:spPr>
          <a:xfrm>
            <a:off x="5212080" y="3401568"/>
            <a:ext cx="3291840" cy="292608"/>
          </a:xfrm>
          <a:prstGeom prst="rect">
            <a:avLst/>
          </a:prstGeom>
          <a:noFill/>
          <a:ln/>
        </p:spPr>
        <p:txBody>
          <a:bodyPr wrap="square" lIns="0" tIns="0" rIns="0" bIns="0" rtlCol="0" anchor="t"/>
          <a:lstStyle/>
          <a:p>
            <a:pPr indent="0" marL="0">
              <a:buNone/>
            </a:pPr>
            <a:r>
              <a:rPr lang="en-US" sz="1300" b="1" dirty="0">
                <a:solidFill>
                  <a:schemeClr val="tx2"/>
                </a:solidFill>
              </a:rPr>
              <a:t>Immutable history</a:t>
            </a:r>
            <a:endParaRPr lang="en-US" sz="1300" dirty="0"/>
          </a:p>
        </p:txBody>
      </p:sp>
      <p:sp>
        <p:nvSpPr>
          <p:cNvPr id="33" name="Text 30"/>
          <p:cNvSpPr txBox="1"/>
          <p:nvPr/>
        </p:nvSpPr>
        <p:spPr>
          <a:xfrm>
            <a:off x="5212080" y="3721608"/>
            <a:ext cx="3291840" cy="502920"/>
          </a:xfrm>
          <a:prstGeom prst="rect">
            <a:avLst/>
          </a:prstGeom>
          <a:noFill/>
          <a:ln/>
        </p:spPr>
        <p:txBody>
          <a:bodyPr wrap="square" lIns="0" tIns="0" rIns="0" bIns="0" rtlCol="0" anchor="t"/>
          <a:lstStyle/>
          <a:p>
            <a:pPr indent="0" marL="0">
              <a:buNone/>
            </a:pPr>
            <a:r>
              <a:rPr lang="en-US" sz="1100" dirty="0">
                <a:solidFill>
                  <a:srgbClr val="475569"/>
                </a:solidFill>
              </a:rPr>
              <a:t>Triggers block edits and deletes; deleting an org leaves a minimal receipt</a:t>
            </a:r>
            <a:endParaRPr lang="en-US" sz="11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Security: implemented vs known gaps</a:t>
            </a:r>
            <a:endParaRPr lang="en-US" sz="2400" dirty="0"/>
          </a:p>
        </p:txBody>
      </p:sp>
      <p:sp>
        <p:nvSpPr>
          <p:cNvPr id="4" name="Text 1"/>
          <p:cNvSpPr txBox="1"/>
          <p:nvPr/>
        </p:nvSpPr>
        <p:spPr>
          <a:xfrm>
            <a:off x="457200" y="960120"/>
            <a:ext cx="4023360" cy="274320"/>
          </a:xfrm>
          <a:prstGeom prst="rect">
            <a:avLst/>
          </a:prstGeom>
          <a:noFill/>
          <a:ln/>
        </p:spPr>
        <p:txBody>
          <a:bodyPr wrap="square" lIns="0" tIns="0" rIns="0" bIns="0" rtlCol="0" anchor="t"/>
          <a:lstStyle/>
          <a:p>
            <a:pPr indent="0" marL="0">
              <a:buNone/>
            </a:pPr>
            <a:r>
              <a:rPr lang="en-US" sz="1400" b="1" dirty="0">
                <a:solidFill>
                  <a:srgbClr val="15803D"/>
                </a:solidFill>
              </a:rPr>
              <a:t>Implemented</a:t>
            </a:r>
            <a:endParaRPr lang="en-US" sz="1400" dirty="0"/>
          </a:p>
        </p:txBody>
      </p:sp>
      <p:sp>
        <p:nvSpPr>
          <p:cNvPr id="5" name="Text 2"/>
          <p:cNvSpPr txBox="1"/>
          <p:nvPr/>
        </p:nvSpPr>
        <p:spPr>
          <a:xfrm>
            <a:off x="457200" y="1280160"/>
            <a:ext cx="4114800"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bcrypt passwords · 15-min JWT · rotated, hashed refresh tokens</a:t>
            </a:r>
            <a:endParaRPr lang="en-US" sz="1200" dirty="0"/>
          </a:p>
          <a:p>
            <a:pPr marL="177800" indent="-177800">
              <a:spcAft>
                <a:spcPts val="500"/>
              </a:spcAft>
              <a:buSzPct val="100000"/>
              <a:buChar char="•"/>
            </a:pPr>
            <a:r>
              <a:rPr lang="en-US" sz="1200" dirty="0">
                <a:solidFill>
                  <a:schemeClr val="tx1"/>
                </a:solidFill>
              </a:rPr>
              <a:t>User + organization reloaded from the DB on every request</a:t>
            </a:r>
            <a:endParaRPr lang="en-US" sz="1200" dirty="0"/>
          </a:p>
          <a:p>
            <a:pPr marL="177800" indent="-177800">
              <a:spcAft>
                <a:spcPts val="500"/>
              </a:spcAft>
              <a:buSzPct val="100000"/>
              <a:buChar char="•"/>
            </a:pPr>
            <a:r>
              <a:rPr lang="en-US" sz="1200" dirty="0">
                <a:solidFill>
                  <a:schemeClr val="tx1"/>
                </a:solidFill>
              </a:rPr>
              <a:t>Tenant &amp; workspace scoping on every query (404, never leak)</a:t>
            </a:r>
            <a:endParaRPr lang="en-US" sz="1200" dirty="0"/>
          </a:p>
          <a:p>
            <a:pPr marL="177800" indent="-177800">
              <a:spcAft>
                <a:spcPts val="500"/>
              </a:spcAft>
              <a:buSzPct val="100000"/>
              <a:buChar char="•"/>
            </a:pPr>
            <a:r>
              <a:rPr lang="en-US" sz="1200" dirty="0">
                <a:solidFill>
                  <a:schemeClr val="tx1"/>
                </a:solidFill>
              </a:rPr>
              <a:t>Backend authorization on every mutation, whatever the UI shows</a:t>
            </a:r>
            <a:endParaRPr lang="en-US" sz="1200" dirty="0"/>
          </a:p>
          <a:p>
            <a:pPr marL="177800" indent="-177800">
              <a:spcAft>
                <a:spcPts val="500"/>
              </a:spcAft>
              <a:buSzPct val="100000"/>
              <a:buChar char="•"/>
            </a:pPr>
            <a:r>
              <a:rPr lang="en-US" sz="1200" dirty="0">
                <a:solidFill>
                  <a:schemeClr val="tx1"/>
                </a:solidFill>
              </a:rPr>
              <a:t>Instant revocation: tokens + live sockets dropped</a:t>
            </a:r>
            <a:endParaRPr lang="en-US" sz="1200" dirty="0"/>
          </a:p>
          <a:p>
            <a:pPr marL="177800" indent="-177800">
              <a:spcAft>
                <a:spcPts val="500"/>
              </a:spcAft>
              <a:buSzPct val="100000"/>
              <a:buChar char="•"/>
            </a:pPr>
            <a:r>
              <a:rPr lang="en-US" sz="1200" dirty="0">
                <a:solidFill>
                  <a:schemeClr val="tx1"/>
                </a:solidFill>
              </a:rPr>
              <a:t>Single-use, hashed, expiring invitation and handover links</a:t>
            </a:r>
            <a:endParaRPr lang="en-US" sz="1200" dirty="0"/>
          </a:p>
          <a:p>
            <a:pPr marL="177800" indent="-177800">
              <a:spcAft>
                <a:spcPts val="500"/>
              </a:spcAft>
              <a:buSzPct val="100000"/>
              <a:buChar char="•"/>
            </a:pPr>
            <a:r>
              <a:rPr lang="en-US" sz="1200" dirty="0">
                <a:solidFill>
                  <a:schemeClr val="tx1"/>
                </a:solidFill>
              </a:rPr>
              <a:t>Transactional, immutable audit with actor snapshots</a:t>
            </a:r>
            <a:endParaRPr lang="en-US" sz="1200" dirty="0"/>
          </a:p>
          <a:p>
            <a:pPr marL="177800" indent="-177800">
              <a:spcAft>
                <a:spcPts val="500"/>
              </a:spcAft>
              <a:buSzPct val="100000"/>
              <a:buChar char="•"/>
            </a:pPr>
            <a:r>
              <a:rPr lang="en-US" sz="1200" dirty="0">
                <a:solidFill>
                  <a:schemeClr val="tx1"/>
                </a:solidFill>
              </a:rPr>
              <a:t>Rate limits per real client (CF-Connecting-IP; spoof-resistant)</a:t>
            </a:r>
            <a:endParaRPr lang="en-US" sz="1200" dirty="0"/>
          </a:p>
        </p:txBody>
      </p:sp>
      <p:sp>
        <p:nvSpPr>
          <p:cNvPr id="6" name="Shape 3"/>
          <p:cNvSpPr/>
          <p:nvPr/>
        </p:nvSpPr>
        <p:spPr>
          <a:xfrm>
            <a:off x="4846320" y="960120"/>
            <a:ext cx="3840480" cy="3520440"/>
          </a:xfrm>
          <a:prstGeom prst="roundRect">
            <a:avLst>
              <a:gd name="adj" fmla="val 2078"/>
            </a:avLst>
          </a:prstGeom>
          <a:solidFill>
            <a:srgbClr val="FEF3C7"/>
          </a:solidFill>
          <a:ln w="9525">
            <a:solidFill>
              <a:srgbClr val="FDE68A"/>
            </a:solidFill>
            <a:prstDash val="solid"/>
          </a:ln>
        </p:spPr>
      </p:sp>
      <p:sp>
        <p:nvSpPr>
          <p:cNvPr id="7" name="Text 4"/>
          <p:cNvSpPr txBox="1"/>
          <p:nvPr/>
        </p:nvSpPr>
        <p:spPr>
          <a:xfrm>
            <a:off x="5029200" y="1024128"/>
            <a:ext cx="3474720" cy="274320"/>
          </a:xfrm>
          <a:prstGeom prst="rect">
            <a:avLst/>
          </a:prstGeom>
          <a:noFill/>
          <a:ln/>
        </p:spPr>
        <p:txBody>
          <a:bodyPr wrap="square" lIns="0" tIns="0" rIns="0" bIns="0" rtlCol="0" anchor="t"/>
          <a:lstStyle/>
          <a:p>
            <a:pPr indent="0" marL="0">
              <a:buNone/>
            </a:pPr>
            <a:r>
              <a:rPr lang="en-US" sz="1400" b="1" dirty="0">
                <a:solidFill>
                  <a:srgbClr val="B45309"/>
                </a:solidFill>
              </a:rPr>
              <a:t>Known gaps</a:t>
            </a:r>
            <a:endParaRPr lang="en-US" sz="1400" dirty="0"/>
          </a:p>
        </p:txBody>
      </p:sp>
      <p:sp>
        <p:nvSpPr>
          <p:cNvPr id="8" name="Text 5"/>
          <p:cNvSpPr txBox="1"/>
          <p:nvPr/>
        </p:nvSpPr>
        <p:spPr>
          <a:xfrm>
            <a:off x="5029200" y="1371600"/>
            <a:ext cx="3520440" cy="30175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Rate limits are in-memory, per process</a:t>
            </a:r>
            <a:endParaRPr lang="en-US" sz="1200" dirty="0"/>
          </a:p>
          <a:p>
            <a:pPr marL="177800" indent="-177800">
              <a:spcAft>
                <a:spcPts val="500"/>
              </a:spcAft>
              <a:buSzPct val="100000"/>
              <a:buChar char="•"/>
            </a:pPr>
            <a:r>
              <a:rPr lang="en-US" sz="1200" dirty="0">
                <a:solidFill>
                  <a:schemeClr val="tx1"/>
                </a:solidFill>
              </a:rPr>
              <a:t>People behind one NAT (campus Wi-Fi, carrier) share a limit</a:t>
            </a:r>
            <a:endParaRPr lang="en-US" sz="1200" dirty="0"/>
          </a:p>
          <a:p>
            <a:pPr marL="177800" indent="-177800">
              <a:spcAft>
                <a:spcPts val="500"/>
              </a:spcAft>
              <a:buSzPct val="100000"/>
              <a:buChar char="•"/>
            </a:pPr>
            <a:r>
              <a:rPr lang="en-US" sz="1200" dirty="0">
                <a:solidFill>
                  <a:schemeClr val="tx1"/>
                </a:solidFill>
              </a:rPr>
              <a:t>No external penetration test or WAF</a:t>
            </a:r>
            <a:endParaRPr lang="en-US" sz="1200" dirty="0"/>
          </a:p>
          <a:p>
            <a:pPr marL="177800" indent="-177800">
              <a:spcAft>
                <a:spcPts val="500"/>
              </a:spcAft>
              <a:buSzPct val="100000"/>
              <a:buChar char="•"/>
            </a:pPr>
            <a:r>
              <a:rPr lang="en-US" sz="1200" dirty="0">
                <a:solidFill>
                  <a:schemeClr val="tx1"/>
                </a:solidFill>
              </a:rPr>
              <a:t>No centralized security monitoring or alerting</a:t>
            </a:r>
            <a:endParaRPr lang="en-US" sz="12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Database design (simplified)</a:t>
            </a:r>
            <a:endParaRPr lang="en-US" sz="2400" dirty="0"/>
          </a:p>
        </p:txBody>
      </p:sp>
      <p:sp>
        <p:nvSpPr>
          <p:cNvPr id="4" name="Shape 1"/>
          <p:cNvSpPr/>
          <p:nvPr/>
        </p:nvSpPr>
        <p:spPr>
          <a:xfrm>
            <a:off x="365760" y="1005840"/>
            <a:ext cx="1600200" cy="566928"/>
          </a:xfrm>
          <a:prstGeom prst="roundRect">
            <a:avLst>
              <a:gd name="adj" fmla="val 12903"/>
            </a:avLst>
          </a:prstGeom>
          <a:solidFill>
            <a:srgbClr val="0C2B4B"/>
          </a:solidFill>
          <a:ln w="9525">
            <a:solidFill>
              <a:srgbClr val="0C2B4B"/>
            </a:solidFill>
            <a:prstDash val="solid"/>
          </a:ln>
        </p:spPr>
      </p:sp>
      <p:sp>
        <p:nvSpPr>
          <p:cNvPr id="5" name="Text 2"/>
          <p:cNvSpPr txBox="1"/>
          <p:nvPr/>
        </p:nvSpPr>
        <p:spPr>
          <a:xfrm>
            <a:off x="457200" y="1060704"/>
            <a:ext cx="1417320" cy="457200"/>
          </a:xfrm>
          <a:prstGeom prst="rect">
            <a:avLst/>
          </a:prstGeom>
          <a:noFill/>
          <a:ln/>
        </p:spPr>
        <p:txBody>
          <a:bodyPr wrap="square" lIns="0" tIns="0" rIns="0" bIns="0" rtlCol="0" anchor="ctr"/>
          <a:lstStyle/>
          <a:p>
            <a:pPr algn="ctr" indent="0" marL="0">
              <a:buNone/>
            </a:pPr>
            <a:r>
              <a:rPr lang="en-US" sz="1150" b="1" dirty="0">
                <a:solidFill>
                  <a:schemeClr val="bg1"/>
                </a:solidFill>
              </a:rPr>
              <a:t>Organization</a:t>
            </a:r>
            <a:endParaRPr lang="en-US" sz="1200" dirty="0"/>
          </a:p>
          <a:p>
            <a:pPr algn="ctr" indent="0" marL="0">
              <a:buNone/>
            </a:pPr>
            <a:r>
              <a:rPr lang="en-US" sz="900" dirty="0">
                <a:solidFill>
                  <a:srgbClr val="D7E7F6"/>
                </a:solidFill>
              </a:rPr>
              <a:t>tenant root</a:t>
            </a:r>
            <a:endParaRPr lang="en-US" sz="1200" dirty="0"/>
          </a:p>
        </p:txBody>
      </p:sp>
      <p:sp>
        <p:nvSpPr>
          <p:cNvPr id="6" name="Shape 3"/>
          <p:cNvSpPr/>
          <p:nvPr/>
        </p:nvSpPr>
        <p:spPr>
          <a:xfrm>
            <a:off x="365760" y="2011680"/>
            <a:ext cx="1600200" cy="566928"/>
          </a:xfrm>
          <a:prstGeom prst="roundRect">
            <a:avLst>
              <a:gd name="adj" fmla="val 12903"/>
            </a:avLst>
          </a:prstGeom>
          <a:solidFill>
            <a:srgbClr val="F8FAFC"/>
          </a:solidFill>
          <a:ln w="9525">
            <a:solidFill>
              <a:srgbClr val="CBD5E1"/>
            </a:solidFill>
            <a:prstDash val="solid"/>
          </a:ln>
        </p:spPr>
      </p:sp>
      <p:sp>
        <p:nvSpPr>
          <p:cNvPr id="7" name="Text 4"/>
          <p:cNvSpPr txBox="1"/>
          <p:nvPr/>
        </p:nvSpPr>
        <p:spPr>
          <a:xfrm>
            <a:off x="457200" y="2066544"/>
            <a:ext cx="1417320" cy="457200"/>
          </a:xfrm>
          <a:prstGeom prst="rect">
            <a:avLst/>
          </a:prstGeom>
          <a:noFill/>
          <a:ln/>
        </p:spPr>
        <p:txBody>
          <a:bodyPr wrap="square" lIns="0" tIns="0" rIns="0" bIns="0" rtlCol="0" anchor="ctr"/>
          <a:lstStyle/>
          <a:p>
            <a:pPr algn="ctr" indent="0" marL="0">
              <a:buNone/>
            </a:pPr>
            <a:r>
              <a:rPr lang="en-US" sz="1150" b="1" dirty="0">
                <a:solidFill>
                  <a:schemeClr val="tx1"/>
                </a:solidFill>
              </a:rPr>
              <a:t>Staff (Associate)</a:t>
            </a:r>
            <a:endParaRPr lang="en-US" sz="1200" dirty="0"/>
          </a:p>
          <a:p>
            <a:pPr algn="ctr" indent="0" marL="0">
              <a:buNone/>
            </a:pPr>
            <a:r>
              <a:rPr lang="en-US" sz="900" dirty="0">
                <a:solidFill>
                  <a:srgbClr val="475569"/>
                </a:solidFill>
              </a:rPr>
              <a:t>role · workspace</a:t>
            </a:r>
            <a:endParaRPr lang="en-US" sz="1200" dirty="0"/>
          </a:p>
        </p:txBody>
      </p:sp>
      <p:sp>
        <p:nvSpPr>
          <p:cNvPr id="8" name="Shape 5"/>
          <p:cNvSpPr/>
          <p:nvPr/>
        </p:nvSpPr>
        <p:spPr>
          <a:xfrm>
            <a:off x="365760" y="3017520"/>
            <a:ext cx="1600200" cy="566928"/>
          </a:xfrm>
          <a:prstGeom prst="roundRect">
            <a:avLst>
              <a:gd name="adj" fmla="val 12903"/>
            </a:avLst>
          </a:prstGeom>
          <a:solidFill>
            <a:srgbClr val="F8FAFC"/>
          </a:solidFill>
          <a:ln w="9525">
            <a:solidFill>
              <a:srgbClr val="CBD5E1"/>
            </a:solidFill>
            <a:prstDash val="solid"/>
          </a:ln>
        </p:spPr>
      </p:sp>
      <p:sp>
        <p:nvSpPr>
          <p:cNvPr id="9" name="Text 6"/>
          <p:cNvSpPr txBox="1"/>
          <p:nvPr/>
        </p:nvSpPr>
        <p:spPr>
          <a:xfrm>
            <a:off x="457200" y="3072384"/>
            <a:ext cx="1417320" cy="457200"/>
          </a:xfrm>
          <a:prstGeom prst="rect">
            <a:avLst/>
          </a:prstGeom>
          <a:noFill/>
          <a:ln/>
        </p:spPr>
        <p:txBody>
          <a:bodyPr wrap="square" lIns="0" tIns="0" rIns="0" bIns="0" rtlCol="0" anchor="ctr"/>
          <a:lstStyle/>
          <a:p>
            <a:pPr algn="ctr" indent="0" marL="0">
              <a:buNone/>
            </a:pPr>
            <a:r>
              <a:rPr lang="en-US" sz="1150" b="1" dirty="0">
                <a:solidFill>
                  <a:schemeClr val="tx1"/>
                </a:solidFill>
              </a:rPr>
              <a:t>AuditLog</a:t>
            </a:r>
            <a:endParaRPr lang="en-US" sz="1200" dirty="0"/>
          </a:p>
          <a:p>
            <a:pPr algn="ctr" indent="0" marL="0">
              <a:buNone/>
            </a:pPr>
            <a:r>
              <a:rPr lang="en-US" sz="900" dirty="0">
                <a:solidFill>
                  <a:srgbClr val="475569"/>
                </a:solidFill>
              </a:rPr>
              <a:t>append-only</a:t>
            </a:r>
            <a:endParaRPr lang="en-US" sz="1200" dirty="0"/>
          </a:p>
        </p:txBody>
      </p:sp>
      <p:sp>
        <p:nvSpPr>
          <p:cNvPr id="10" name="Shape 7"/>
          <p:cNvSpPr/>
          <p:nvPr/>
        </p:nvSpPr>
        <p:spPr>
          <a:xfrm>
            <a:off x="365760" y="3977640"/>
            <a:ext cx="1600200" cy="566928"/>
          </a:xfrm>
          <a:prstGeom prst="roundRect">
            <a:avLst>
              <a:gd name="adj" fmla="val 12903"/>
            </a:avLst>
          </a:prstGeom>
          <a:solidFill>
            <a:srgbClr val="F8FAFC"/>
          </a:solidFill>
          <a:ln w="9525">
            <a:solidFill>
              <a:srgbClr val="CBD5E1"/>
            </a:solidFill>
            <a:prstDash val="solid"/>
          </a:ln>
        </p:spPr>
      </p:sp>
      <p:sp>
        <p:nvSpPr>
          <p:cNvPr id="11" name="Text 8"/>
          <p:cNvSpPr txBox="1"/>
          <p:nvPr/>
        </p:nvSpPr>
        <p:spPr>
          <a:xfrm>
            <a:off x="457200" y="4032504"/>
            <a:ext cx="1417320" cy="457200"/>
          </a:xfrm>
          <a:prstGeom prst="rect">
            <a:avLst/>
          </a:prstGeom>
          <a:noFill/>
          <a:ln/>
        </p:spPr>
        <p:txBody>
          <a:bodyPr wrap="square" lIns="0" tIns="0" rIns="0" bIns="0" rtlCol="0" anchor="ctr"/>
          <a:lstStyle/>
          <a:p>
            <a:pPr algn="ctr" indent="0" marL="0">
              <a:buNone/>
            </a:pPr>
            <a:r>
              <a:rPr lang="en-US" sz="1150" b="1" dirty="0">
                <a:solidFill>
                  <a:schemeClr val="tx1"/>
                </a:solidFill>
              </a:rPr>
              <a:t>Governance</a:t>
            </a:r>
            <a:endParaRPr lang="en-US" sz="1200" dirty="0"/>
          </a:p>
          <a:p>
            <a:pPr algn="ctr" indent="0" marL="0">
              <a:buNone/>
            </a:pPr>
            <a:r>
              <a:rPr lang="en-US" sz="900" dirty="0">
                <a:solidFill>
                  <a:srgbClr val="475569"/>
                </a:solidFill>
              </a:rPr>
              <a:t>tenures · successions</a:t>
            </a:r>
            <a:endParaRPr lang="en-US" sz="1200" dirty="0"/>
          </a:p>
        </p:txBody>
      </p:sp>
      <p:sp>
        <p:nvSpPr>
          <p:cNvPr id="12" name="Shape 9"/>
          <p:cNvSpPr/>
          <p:nvPr/>
        </p:nvSpPr>
        <p:spPr>
          <a:xfrm>
            <a:off x="2514600" y="1005840"/>
            <a:ext cx="1600200" cy="566928"/>
          </a:xfrm>
          <a:prstGeom prst="roundRect">
            <a:avLst>
              <a:gd name="adj" fmla="val 12903"/>
            </a:avLst>
          </a:prstGeom>
          <a:solidFill>
            <a:srgbClr val="F8FAFC"/>
          </a:solidFill>
          <a:ln w="9525">
            <a:solidFill>
              <a:srgbClr val="CBD5E1"/>
            </a:solidFill>
            <a:prstDash val="solid"/>
          </a:ln>
        </p:spPr>
      </p:sp>
      <p:sp>
        <p:nvSpPr>
          <p:cNvPr id="13" name="Text 10"/>
          <p:cNvSpPr txBox="1"/>
          <p:nvPr/>
        </p:nvSpPr>
        <p:spPr>
          <a:xfrm>
            <a:off x="2606040" y="1060704"/>
            <a:ext cx="1417320" cy="457200"/>
          </a:xfrm>
          <a:prstGeom prst="rect">
            <a:avLst/>
          </a:prstGeom>
          <a:noFill/>
          <a:ln/>
        </p:spPr>
        <p:txBody>
          <a:bodyPr wrap="square" lIns="0" tIns="0" rIns="0" bIns="0" rtlCol="0" anchor="ctr"/>
          <a:lstStyle/>
          <a:p>
            <a:pPr algn="ctr" indent="0" marL="0">
              <a:buNone/>
            </a:pPr>
            <a:r>
              <a:rPr lang="en-US" sz="1150" b="1" dirty="0">
                <a:solidFill>
                  <a:schemeClr val="tx1"/>
                </a:solidFill>
              </a:rPr>
              <a:t>Queue</a:t>
            </a:r>
            <a:endParaRPr lang="en-US" sz="1200" dirty="0"/>
          </a:p>
          <a:p>
            <a:pPr algn="ctr" indent="0" marL="0">
              <a:buNone/>
            </a:pPr>
            <a:r>
              <a:rPr lang="en-US" sz="900" dirty="0">
                <a:solidFill>
                  <a:srgbClr val="475569"/>
                </a:solidFill>
              </a:rPr>
              <a:t>≤1 live per Admin</a:t>
            </a:r>
            <a:endParaRPr lang="en-US" sz="1200" dirty="0"/>
          </a:p>
        </p:txBody>
      </p:sp>
      <p:sp>
        <p:nvSpPr>
          <p:cNvPr id="14" name="Shape 11"/>
          <p:cNvSpPr/>
          <p:nvPr/>
        </p:nvSpPr>
        <p:spPr>
          <a:xfrm>
            <a:off x="2514600" y="2011680"/>
            <a:ext cx="1600200" cy="566928"/>
          </a:xfrm>
          <a:prstGeom prst="roundRect">
            <a:avLst>
              <a:gd name="adj" fmla="val 12903"/>
            </a:avLst>
          </a:prstGeom>
          <a:solidFill>
            <a:srgbClr val="F8FAFC"/>
          </a:solidFill>
          <a:ln w="9525">
            <a:solidFill>
              <a:srgbClr val="CBD5E1"/>
            </a:solidFill>
            <a:prstDash val="solid"/>
          </a:ln>
        </p:spPr>
      </p:sp>
      <p:sp>
        <p:nvSpPr>
          <p:cNvPr id="15" name="Text 12"/>
          <p:cNvSpPr txBox="1"/>
          <p:nvPr/>
        </p:nvSpPr>
        <p:spPr>
          <a:xfrm>
            <a:off x="2606040" y="2066544"/>
            <a:ext cx="1417320" cy="457200"/>
          </a:xfrm>
          <a:prstGeom prst="rect">
            <a:avLst/>
          </a:prstGeom>
          <a:noFill/>
          <a:ln/>
        </p:spPr>
        <p:txBody>
          <a:bodyPr wrap="square" lIns="0" tIns="0" rIns="0" bIns="0" rtlCol="0" anchor="ctr"/>
          <a:lstStyle/>
          <a:p>
            <a:pPr algn="ctr" indent="0" marL="0">
              <a:buNone/>
            </a:pPr>
            <a:r>
              <a:rPr lang="en-US" sz="1150" b="1" dirty="0">
                <a:solidFill>
                  <a:schemeClr val="tx1"/>
                </a:solidFill>
              </a:rPr>
              <a:t>Counter</a:t>
            </a:r>
            <a:endParaRPr lang="en-US" sz="1200" dirty="0"/>
          </a:p>
          <a:p>
            <a:pPr algn="ctr" indent="0" marL="0">
              <a:buNone/>
            </a:pPr>
            <a:r>
              <a:rPr lang="en-US" sz="900" dirty="0">
                <a:solidFill>
                  <a:srgbClr val="475569"/>
                </a:solidFill>
              </a:rPr>
              <a:t>Open / Paused / Off</a:t>
            </a:r>
            <a:endParaRPr lang="en-US" sz="1200" dirty="0"/>
          </a:p>
        </p:txBody>
      </p:sp>
      <p:sp>
        <p:nvSpPr>
          <p:cNvPr id="16" name="Shape 13"/>
          <p:cNvSpPr/>
          <p:nvPr/>
        </p:nvSpPr>
        <p:spPr>
          <a:xfrm>
            <a:off x="2514600" y="3017520"/>
            <a:ext cx="1600200" cy="566928"/>
          </a:xfrm>
          <a:prstGeom prst="roundRect">
            <a:avLst>
              <a:gd name="adj" fmla="val 12903"/>
            </a:avLst>
          </a:prstGeom>
          <a:solidFill>
            <a:srgbClr val="EEF5FC"/>
          </a:solidFill>
          <a:ln w="9525">
            <a:solidFill>
              <a:srgbClr val="D7E7F6"/>
            </a:solidFill>
            <a:prstDash val="solid"/>
          </a:ln>
        </p:spPr>
      </p:sp>
      <p:sp>
        <p:nvSpPr>
          <p:cNvPr id="17" name="Text 14"/>
          <p:cNvSpPr txBox="1"/>
          <p:nvPr/>
        </p:nvSpPr>
        <p:spPr>
          <a:xfrm>
            <a:off x="2606040" y="3072384"/>
            <a:ext cx="1417320" cy="457200"/>
          </a:xfrm>
          <a:prstGeom prst="rect">
            <a:avLst/>
          </a:prstGeom>
          <a:noFill/>
          <a:ln/>
        </p:spPr>
        <p:txBody>
          <a:bodyPr wrap="square" lIns="0" tIns="0" rIns="0" bIns="0" rtlCol="0" anchor="ctr"/>
          <a:lstStyle/>
          <a:p>
            <a:pPr algn="ctr" indent="0" marL="0">
              <a:buNone/>
            </a:pPr>
            <a:r>
              <a:rPr lang="en-US" sz="1150" b="1" dirty="0">
                <a:solidFill>
                  <a:schemeClr val="tx1"/>
                </a:solidFill>
              </a:rPr>
              <a:t>CounterService</a:t>
            </a:r>
            <a:endParaRPr lang="en-US" sz="1200" dirty="0"/>
          </a:p>
          <a:p>
            <a:pPr algn="ctr" indent="0" marL="0">
              <a:buNone/>
            </a:pPr>
            <a:r>
              <a:rPr lang="en-US" sz="900" dirty="0">
                <a:solidFill>
                  <a:srgbClr val="475569"/>
                </a:solidFill>
              </a:rPr>
              <a:t>routing (N–M)</a:t>
            </a:r>
            <a:endParaRPr lang="en-US" sz="1200" dirty="0"/>
          </a:p>
        </p:txBody>
      </p:sp>
      <p:sp>
        <p:nvSpPr>
          <p:cNvPr id="18" name="Shape 15"/>
          <p:cNvSpPr/>
          <p:nvPr/>
        </p:nvSpPr>
        <p:spPr>
          <a:xfrm>
            <a:off x="2514600" y="3977640"/>
            <a:ext cx="1600200" cy="566928"/>
          </a:xfrm>
          <a:prstGeom prst="roundRect">
            <a:avLst>
              <a:gd name="adj" fmla="val 12903"/>
            </a:avLst>
          </a:prstGeom>
          <a:solidFill>
            <a:srgbClr val="F8FAFC"/>
          </a:solidFill>
          <a:ln w="9525">
            <a:solidFill>
              <a:srgbClr val="CBD5E1"/>
            </a:solidFill>
            <a:prstDash val="solid"/>
          </a:ln>
        </p:spPr>
      </p:sp>
      <p:sp>
        <p:nvSpPr>
          <p:cNvPr id="19" name="Text 16"/>
          <p:cNvSpPr txBox="1"/>
          <p:nvPr/>
        </p:nvSpPr>
        <p:spPr>
          <a:xfrm>
            <a:off x="2606040" y="4032504"/>
            <a:ext cx="1417320" cy="457200"/>
          </a:xfrm>
          <a:prstGeom prst="rect">
            <a:avLst/>
          </a:prstGeom>
          <a:noFill/>
          <a:ln/>
        </p:spPr>
        <p:txBody>
          <a:bodyPr wrap="square" lIns="0" tIns="0" rIns="0" bIns="0" rtlCol="0" anchor="ctr"/>
          <a:lstStyle/>
          <a:p>
            <a:pPr algn="ctr" indent="0" marL="0">
              <a:buNone/>
            </a:pPr>
            <a:r>
              <a:rPr lang="en-US" sz="1150" b="1" dirty="0">
                <a:solidFill>
                  <a:schemeClr val="tx1"/>
                </a:solidFill>
              </a:rPr>
              <a:t>QueueService</a:t>
            </a:r>
            <a:endParaRPr lang="en-US" sz="1200" dirty="0"/>
          </a:p>
          <a:p>
            <a:pPr algn="ctr" indent="0" marL="0">
              <a:buNone/>
            </a:pPr>
            <a:r>
              <a:rPr lang="en-US" sz="900" dirty="0">
                <a:solidFill>
                  <a:srgbClr val="475569"/>
                </a:solidFill>
              </a:rPr>
              <a:t>duration · repeat limit</a:t>
            </a:r>
            <a:endParaRPr lang="en-US" sz="1200" dirty="0"/>
          </a:p>
        </p:txBody>
      </p:sp>
      <p:sp>
        <p:nvSpPr>
          <p:cNvPr id="20" name="Shape 17"/>
          <p:cNvSpPr/>
          <p:nvPr/>
        </p:nvSpPr>
        <p:spPr>
          <a:xfrm>
            <a:off x="4663440" y="1005840"/>
            <a:ext cx="1600200" cy="566928"/>
          </a:xfrm>
          <a:prstGeom prst="roundRect">
            <a:avLst>
              <a:gd name="adj" fmla="val 12903"/>
            </a:avLst>
          </a:prstGeom>
          <a:solidFill>
            <a:srgbClr val="EEF5FC"/>
          </a:solidFill>
          <a:ln w="9525">
            <a:solidFill>
              <a:srgbClr val="0F539E"/>
            </a:solidFill>
            <a:prstDash val="solid"/>
          </a:ln>
        </p:spPr>
      </p:sp>
      <p:sp>
        <p:nvSpPr>
          <p:cNvPr id="21" name="Text 18"/>
          <p:cNvSpPr txBox="1"/>
          <p:nvPr/>
        </p:nvSpPr>
        <p:spPr>
          <a:xfrm>
            <a:off x="4754880" y="1060704"/>
            <a:ext cx="1417320" cy="457200"/>
          </a:xfrm>
          <a:prstGeom prst="rect">
            <a:avLst/>
          </a:prstGeom>
          <a:noFill/>
          <a:ln/>
        </p:spPr>
        <p:txBody>
          <a:bodyPr wrap="square" lIns="0" tIns="0" rIns="0" bIns="0" rtlCol="0" anchor="ctr"/>
          <a:lstStyle/>
          <a:p>
            <a:pPr algn="ctr" indent="0" marL="0">
              <a:buNone/>
            </a:pPr>
            <a:r>
              <a:rPr lang="en-US" sz="1150" b="1" dirty="0">
                <a:solidFill>
                  <a:schemeClr val="tx1"/>
                </a:solidFill>
              </a:rPr>
              <a:t>Token</a:t>
            </a:r>
            <a:endParaRPr lang="en-US" sz="1200" dirty="0"/>
          </a:p>
          <a:p>
            <a:pPr algn="ctr" indent="0" marL="0">
              <a:buNone/>
            </a:pPr>
            <a:r>
              <a:rPr lang="en-US" sz="900" dirty="0">
                <a:solidFill>
                  <a:srgbClr val="475569"/>
                </a:solidFill>
              </a:rPr>
              <a:t>number unique per queue</a:t>
            </a:r>
            <a:endParaRPr lang="en-US" sz="1200" dirty="0"/>
          </a:p>
        </p:txBody>
      </p:sp>
      <p:sp>
        <p:nvSpPr>
          <p:cNvPr id="22" name="Shape 19"/>
          <p:cNvSpPr/>
          <p:nvPr/>
        </p:nvSpPr>
        <p:spPr>
          <a:xfrm>
            <a:off x="4663440" y="2011680"/>
            <a:ext cx="1600200" cy="566928"/>
          </a:xfrm>
          <a:prstGeom prst="roundRect">
            <a:avLst>
              <a:gd name="adj" fmla="val 12903"/>
            </a:avLst>
          </a:prstGeom>
          <a:solidFill>
            <a:srgbClr val="F8FAFC"/>
          </a:solidFill>
          <a:ln w="9525">
            <a:solidFill>
              <a:srgbClr val="CBD5E1"/>
            </a:solidFill>
            <a:prstDash val="solid"/>
          </a:ln>
        </p:spPr>
      </p:sp>
      <p:sp>
        <p:nvSpPr>
          <p:cNvPr id="23" name="Text 20"/>
          <p:cNvSpPr txBox="1"/>
          <p:nvPr/>
        </p:nvSpPr>
        <p:spPr>
          <a:xfrm>
            <a:off x="4754880" y="2066544"/>
            <a:ext cx="1417320" cy="457200"/>
          </a:xfrm>
          <a:prstGeom prst="rect">
            <a:avLst/>
          </a:prstGeom>
          <a:noFill/>
          <a:ln/>
        </p:spPr>
        <p:txBody>
          <a:bodyPr wrap="square" lIns="0" tIns="0" rIns="0" bIns="0" rtlCol="0" anchor="ctr"/>
          <a:lstStyle/>
          <a:p>
            <a:pPr algn="ctr" indent="0" marL="0">
              <a:buNone/>
            </a:pPr>
            <a:r>
              <a:rPr lang="en-US" sz="1150" b="1" dirty="0">
                <a:solidFill>
                  <a:schemeClr val="tx1"/>
                </a:solidFill>
              </a:rPr>
              <a:t>Journey step</a:t>
            </a:r>
            <a:endParaRPr lang="en-US" sz="1200" dirty="0"/>
          </a:p>
          <a:p>
            <a:pPr algn="ctr" indent="0" marL="0">
              <a:buNone/>
            </a:pPr>
            <a:r>
              <a:rPr lang="en-US" sz="900" dirty="0">
                <a:solidFill>
                  <a:srgbClr val="475569"/>
                </a:solidFill>
              </a:rPr>
              <a:t>ordered · referral</a:t>
            </a:r>
            <a:endParaRPr lang="en-US" sz="1200" dirty="0"/>
          </a:p>
        </p:txBody>
      </p:sp>
      <p:sp>
        <p:nvSpPr>
          <p:cNvPr id="24" name="Shape 21"/>
          <p:cNvSpPr/>
          <p:nvPr/>
        </p:nvSpPr>
        <p:spPr>
          <a:xfrm>
            <a:off x="4663440" y="3017520"/>
            <a:ext cx="1600200" cy="566928"/>
          </a:xfrm>
          <a:prstGeom prst="roundRect">
            <a:avLst>
              <a:gd name="adj" fmla="val 12903"/>
            </a:avLst>
          </a:prstGeom>
          <a:solidFill>
            <a:srgbClr val="F8FAFC"/>
          </a:solidFill>
          <a:ln w="9525">
            <a:solidFill>
              <a:srgbClr val="CBD5E1"/>
            </a:solidFill>
            <a:prstDash val="solid"/>
          </a:ln>
        </p:spPr>
      </p:sp>
      <p:sp>
        <p:nvSpPr>
          <p:cNvPr id="25" name="Text 22"/>
          <p:cNvSpPr txBox="1"/>
          <p:nvPr/>
        </p:nvSpPr>
        <p:spPr>
          <a:xfrm>
            <a:off x="4754880" y="3072384"/>
            <a:ext cx="1417320" cy="457200"/>
          </a:xfrm>
          <a:prstGeom prst="rect">
            <a:avLst/>
          </a:prstGeom>
          <a:noFill/>
          <a:ln/>
        </p:spPr>
        <p:txBody>
          <a:bodyPr wrap="square" lIns="0" tIns="0" rIns="0" bIns="0" rtlCol="0" anchor="ctr"/>
          <a:lstStyle/>
          <a:p>
            <a:pPr algn="ctr" indent="0" marL="0">
              <a:buNone/>
            </a:pPr>
            <a:r>
              <a:rPr lang="en-US" sz="1150" b="1" dirty="0">
                <a:solidFill>
                  <a:schemeClr val="tx1"/>
                </a:solidFill>
              </a:rPr>
              <a:t>Device</a:t>
            </a:r>
            <a:endParaRPr lang="en-US" sz="1200" dirty="0"/>
          </a:p>
          <a:p>
            <a:pPr algn="ctr" indent="0" marL="0">
              <a:buNone/>
            </a:pPr>
            <a:r>
              <a:rPr lang="en-US" sz="900" dirty="0">
                <a:solidFill>
                  <a:srgbClr val="475569"/>
                </a:solidFill>
              </a:rPr>
              <a:t>visitor identity · 1–N tokens</a:t>
            </a:r>
            <a:endParaRPr lang="en-US" sz="1200" dirty="0"/>
          </a:p>
        </p:txBody>
      </p:sp>
      <p:sp>
        <p:nvSpPr>
          <p:cNvPr id="26" name="Shape 23"/>
          <p:cNvSpPr/>
          <p:nvPr/>
        </p:nvSpPr>
        <p:spPr>
          <a:xfrm>
            <a:off x="1161288" y="1572768"/>
            <a:ext cx="914" cy="438912"/>
          </a:xfrm>
          <a:prstGeom prst="line">
            <a:avLst/>
          </a:prstGeom>
          <a:noFill/>
          <a:ln w="15875">
            <a:solidFill>
              <a:srgbClr val="475569"/>
            </a:solidFill>
            <a:prstDash val="solid"/>
            <a:tailEnd type="triangle"/>
          </a:ln>
        </p:spPr>
      </p:sp>
      <p:sp>
        <p:nvSpPr>
          <p:cNvPr id="27" name="Shape 24"/>
          <p:cNvSpPr/>
          <p:nvPr/>
        </p:nvSpPr>
        <p:spPr>
          <a:xfrm>
            <a:off x="1161288" y="2578608"/>
            <a:ext cx="914" cy="438912"/>
          </a:xfrm>
          <a:prstGeom prst="line">
            <a:avLst/>
          </a:prstGeom>
          <a:noFill/>
          <a:ln w="15875">
            <a:solidFill>
              <a:srgbClr val="475569"/>
            </a:solidFill>
            <a:prstDash val="solid"/>
            <a:tailEnd type="triangle"/>
          </a:ln>
        </p:spPr>
      </p:sp>
      <p:sp>
        <p:nvSpPr>
          <p:cNvPr id="28" name="Shape 25"/>
          <p:cNvSpPr/>
          <p:nvPr/>
        </p:nvSpPr>
        <p:spPr>
          <a:xfrm>
            <a:off x="1161288" y="3584448"/>
            <a:ext cx="914" cy="393192"/>
          </a:xfrm>
          <a:prstGeom prst="line">
            <a:avLst/>
          </a:prstGeom>
          <a:noFill/>
          <a:ln w="15875">
            <a:solidFill>
              <a:srgbClr val="475569"/>
            </a:solidFill>
            <a:prstDash val="solid"/>
            <a:tailEnd type="triangle"/>
          </a:ln>
        </p:spPr>
      </p:sp>
      <p:sp>
        <p:nvSpPr>
          <p:cNvPr id="29" name="Shape 26"/>
          <p:cNvSpPr/>
          <p:nvPr/>
        </p:nvSpPr>
        <p:spPr>
          <a:xfrm>
            <a:off x="1965960" y="1289304"/>
            <a:ext cx="548640" cy="914"/>
          </a:xfrm>
          <a:prstGeom prst="line">
            <a:avLst/>
          </a:prstGeom>
          <a:noFill/>
          <a:ln w="15875">
            <a:solidFill>
              <a:srgbClr val="475569"/>
            </a:solidFill>
            <a:prstDash val="solid"/>
            <a:tailEnd type="triangle"/>
          </a:ln>
        </p:spPr>
      </p:sp>
      <p:sp>
        <p:nvSpPr>
          <p:cNvPr id="30" name="Shape 27"/>
          <p:cNvSpPr/>
          <p:nvPr/>
        </p:nvSpPr>
        <p:spPr>
          <a:xfrm>
            <a:off x="3310128" y="1572768"/>
            <a:ext cx="914" cy="438912"/>
          </a:xfrm>
          <a:prstGeom prst="line">
            <a:avLst/>
          </a:prstGeom>
          <a:noFill/>
          <a:ln w="15875">
            <a:solidFill>
              <a:srgbClr val="475569"/>
            </a:solidFill>
            <a:prstDash val="solid"/>
            <a:tailEnd type="triangle"/>
          </a:ln>
        </p:spPr>
      </p:sp>
      <p:sp>
        <p:nvSpPr>
          <p:cNvPr id="31" name="Shape 28"/>
          <p:cNvSpPr/>
          <p:nvPr/>
        </p:nvSpPr>
        <p:spPr>
          <a:xfrm>
            <a:off x="3310128" y="2578608"/>
            <a:ext cx="914" cy="438912"/>
          </a:xfrm>
          <a:prstGeom prst="line">
            <a:avLst/>
          </a:prstGeom>
          <a:noFill/>
          <a:ln w="15875">
            <a:solidFill>
              <a:srgbClr val="475569"/>
            </a:solidFill>
            <a:prstDash val="solid"/>
            <a:tailEnd type="triangle"/>
          </a:ln>
        </p:spPr>
      </p:sp>
      <p:sp>
        <p:nvSpPr>
          <p:cNvPr id="32" name="Shape 29"/>
          <p:cNvSpPr/>
          <p:nvPr/>
        </p:nvSpPr>
        <p:spPr>
          <a:xfrm flipV="1">
            <a:off x="3310128" y="3584448"/>
            <a:ext cx="914" cy="393192"/>
          </a:xfrm>
          <a:prstGeom prst="line">
            <a:avLst/>
          </a:prstGeom>
          <a:noFill/>
          <a:ln w="15875">
            <a:solidFill>
              <a:srgbClr val="475569"/>
            </a:solidFill>
            <a:prstDash val="solid"/>
            <a:tailEnd type="triangle"/>
          </a:ln>
        </p:spPr>
      </p:sp>
      <p:sp>
        <p:nvSpPr>
          <p:cNvPr id="33" name="Shape 30"/>
          <p:cNvSpPr/>
          <p:nvPr/>
        </p:nvSpPr>
        <p:spPr>
          <a:xfrm>
            <a:off x="4114800" y="1289304"/>
            <a:ext cx="548640" cy="914"/>
          </a:xfrm>
          <a:prstGeom prst="line">
            <a:avLst/>
          </a:prstGeom>
          <a:noFill/>
          <a:ln w="15875">
            <a:solidFill>
              <a:srgbClr val="475569"/>
            </a:solidFill>
            <a:prstDash val="solid"/>
            <a:tailEnd type="triangle"/>
          </a:ln>
        </p:spPr>
      </p:sp>
      <p:sp>
        <p:nvSpPr>
          <p:cNvPr id="34" name="Shape 31"/>
          <p:cNvSpPr/>
          <p:nvPr/>
        </p:nvSpPr>
        <p:spPr>
          <a:xfrm>
            <a:off x="5458968" y="1572768"/>
            <a:ext cx="914" cy="438912"/>
          </a:xfrm>
          <a:prstGeom prst="line">
            <a:avLst/>
          </a:prstGeom>
          <a:noFill/>
          <a:ln w="15875">
            <a:solidFill>
              <a:srgbClr val="475569"/>
            </a:solidFill>
            <a:prstDash val="solid"/>
            <a:tailEnd type="triangle"/>
          </a:ln>
        </p:spPr>
      </p:sp>
      <p:sp>
        <p:nvSpPr>
          <p:cNvPr id="35" name="Shape 32"/>
          <p:cNvSpPr/>
          <p:nvPr/>
        </p:nvSpPr>
        <p:spPr>
          <a:xfrm>
            <a:off x="6675120" y="1005840"/>
            <a:ext cx="2011680" cy="3538728"/>
          </a:xfrm>
          <a:prstGeom prst="roundRect">
            <a:avLst>
              <a:gd name="adj" fmla="val 3636"/>
            </a:avLst>
          </a:prstGeom>
          <a:solidFill>
            <a:srgbClr val="F8FAFC"/>
          </a:solidFill>
          <a:ln w="9525">
            <a:solidFill>
              <a:srgbClr val="CBD5E1"/>
            </a:solidFill>
            <a:prstDash val="solid"/>
          </a:ln>
        </p:spPr>
      </p:sp>
      <p:sp>
        <p:nvSpPr>
          <p:cNvPr id="36" name="Text 33"/>
          <p:cNvSpPr txBox="1"/>
          <p:nvPr/>
        </p:nvSpPr>
        <p:spPr>
          <a:xfrm>
            <a:off x="6784848" y="1069848"/>
            <a:ext cx="1600200" cy="411480"/>
          </a:xfrm>
          <a:prstGeom prst="rect">
            <a:avLst/>
          </a:prstGeom>
          <a:noFill/>
          <a:ln/>
        </p:spPr>
        <p:txBody>
          <a:bodyPr wrap="square" lIns="0" tIns="0" rIns="0" bIns="0" rtlCol="0" anchor="t"/>
          <a:lstStyle/>
          <a:p>
            <a:pPr indent="0" marL="0">
              <a:buNone/>
            </a:pPr>
            <a:r>
              <a:rPr lang="en-US" sz="1150" b="1" dirty="0">
                <a:solidFill>
                  <a:schemeClr val="tx2"/>
                </a:solidFill>
              </a:rPr>
              <a:t>Enforced in PostgreSQL</a:t>
            </a:r>
            <a:endParaRPr lang="en-US" sz="1150" dirty="0"/>
          </a:p>
        </p:txBody>
      </p:sp>
      <p:sp>
        <p:nvSpPr>
          <p:cNvPr id="37" name="Text 34"/>
          <p:cNvSpPr txBox="1"/>
          <p:nvPr/>
        </p:nvSpPr>
        <p:spPr>
          <a:xfrm>
            <a:off x="6784848" y="1508760"/>
            <a:ext cx="1828800" cy="2971800"/>
          </a:xfrm>
          <a:prstGeom prst="rect">
            <a:avLst/>
          </a:prstGeom>
          <a:noFill/>
          <a:ln/>
        </p:spPr>
        <p:txBody>
          <a:bodyPr wrap="square" lIns="0" tIns="0" rIns="0" bIns="0" rtlCol="0" anchor="t"/>
          <a:lstStyle/>
          <a:p>
            <a:pPr marL="127000" indent="-127000">
              <a:spcAft>
                <a:spcPts val="400"/>
              </a:spcAft>
              <a:buSzPct val="100000"/>
              <a:buChar char="•"/>
            </a:pPr>
            <a:r>
              <a:rPr lang="en-US" sz="1050" dirty="0">
                <a:solidFill>
                  <a:schemeClr val="tx1"/>
                </a:solidFill>
              </a:rPr>
              <a:t>One Head per org</a:t>
            </a:r>
            <a:endParaRPr lang="en-US" sz="1050" dirty="0"/>
          </a:p>
          <a:p>
            <a:pPr marL="127000" indent="-127000">
              <a:spcAft>
                <a:spcPts val="400"/>
              </a:spcAft>
              <a:buSzPct val="100000"/>
              <a:buChar char="•"/>
            </a:pPr>
            <a:r>
              <a:rPr lang="en-US" sz="1050" dirty="0">
                <a:solidFill>
                  <a:schemeClr val="tx1"/>
                </a:solidFill>
              </a:rPr>
              <a:t>One live queue per Admin</a:t>
            </a:r>
            <a:endParaRPr lang="en-US" sz="1050" dirty="0"/>
          </a:p>
          <a:p>
            <a:pPr marL="127000" indent="-127000">
              <a:spcAft>
                <a:spcPts val="400"/>
              </a:spcAft>
              <a:buSzPct val="100000"/>
              <a:buChar char="•"/>
            </a:pPr>
            <a:r>
              <a:rPr lang="en-US" sz="1050" dirty="0">
                <a:solidFill>
                  <a:schemeClr val="tx1"/>
                </a:solidFill>
              </a:rPr>
              <a:t>Live queue needs an Admin</a:t>
            </a:r>
            <a:endParaRPr lang="en-US" sz="1050" dirty="0"/>
          </a:p>
          <a:p>
            <a:pPr marL="127000" indent="-127000">
              <a:spcAft>
                <a:spcPts val="400"/>
              </a:spcAft>
              <a:buSzPct val="100000"/>
              <a:buChar char="•"/>
            </a:pPr>
            <a:r>
              <a:rPr lang="en-US" sz="1050" dirty="0">
                <a:solidFill>
                  <a:schemeClr val="tx1"/>
                </a:solidFill>
              </a:rPr>
              <a:t>One open succession</a:t>
            </a:r>
            <a:endParaRPr lang="en-US" sz="1050" dirty="0"/>
          </a:p>
          <a:p>
            <a:pPr marL="127000" indent="-127000">
              <a:spcAft>
                <a:spcPts val="400"/>
              </a:spcAft>
              <a:buSzPct val="100000"/>
              <a:buChar char="•"/>
            </a:pPr>
            <a:r>
              <a:rPr lang="en-US" sz="1050" dirty="0">
                <a:solidFill>
                  <a:schemeClr val="tx1"/>
                </a:solidFill>
              </a:rPr>
              <a:t>Unique token number per queue</a:t>
            </a:r>
            <a:endParaRPr lang="en-US" sz="1050" dirty="0"/>
          </a:p>
          <a:p>
            <a:pPr marL="127000" indent="-127000">
              <a:spcAft>
                <a:spcPts val="400"/>
              </a:spcAft>
              <a:buSzPct val="100000"/>
              <a:buChar char="•"/>
            </a:pPr>
            <a:r>
              <a:rPr lang="en-US" sz="1050" dirty="0">
                <a:solidFill>
                  <a:schemeClr val="tx1"/>
                </a:solidFill>
              </a:rPr>
              <a:t>History append-only (triggers)</a:t>
            </a:r>
            <a:endParaRPr lang="en-US" sz="10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Deployment and release pipeline</a:t>
            </a:r>
            <a:endParaRPr lang="en-US" sz="2400" dirty="0"/>
          </a:p>
        </p:txBody>
      </p:sp>
      <p:sp>
        <p:nvSpPr>
          <p:cNvPr id="4" name="Shape 1"/>
          <p:cNvSpPr/>
          <p:nvPr/>
        </p:nvSpPr>
        <p:spPr>
          <a:xfrm>
            <a:off x="457200" y="960120"/>
            <a:ext cx="1828800" cy="640080"/>
          </a:xfrm>
          <a:prstGeom prst="roundRect">
            <a:avLst>
              <a:gd name="adj" fmla="val 11429"/>
            </a:avLst>
          </a:prstGeom>
          <a:solidFill>
            <a:srgbClr val="FFFFFF"/>
          </a:solidFill>
          <a:ln w="9525">
            <a:solidFill>
              <a:srgbClr val="25A596"/>
            </a:solidFill>
            <a:prstDash val="solid"/>
          </a:ln>
        </p:spPr>
      </p:sp>
      <p:sp>
        <p:nvSpPr>
          <p:cNvPr id="5" name="Text 2"/>
          <p:cNvSpPr txBox="1"/>
          <p:nvPr/>
        </p:nvSpPr>
        <p:spPr>
          <a:xfrm>
            <a:off x="548640" y="1014984"/>
            <a:ext cx="1645920" cy="530352"/>
          </a:xfrm>
          <a:prstGeom prst="rect">
            <a:avLst/>
          </a:prstGeom>
          <a:noFill/>
          <a:ln/>
        </p:spPr>
        <p:txBody>
          <a:bodyPr wrap="square" lIns="0" tIns="0" rIns="0" bIns="0" rtlCol="0" anchor="ctr"/>
          <a:lstStyle/>
          <a:p>
            <a:pPr algn="ctr" indent="0" marL="0">
              <a:buNone/>
            </a:pPr>
            <a:r>
              <a:rPr lang="en-US" sz="1200" b="1" dirty="0">
                <a:solidFill>
                  <a:schemeClr val="tx1"/>
                </a:solidFill>
              </a:rPr>
              <a:t>Cloudflare Pages</a:t>
            </a:r>
            <a:endParaRPr lang="en-US" sz="1200" dirty="0"/>
          </a:p>
          <a:p>
            <a:pPr algn="ctr" indent="0" marL="0">
              <a:buNone/>
            </a:pPr>
            <a:r>
              <a:rPr lang="en-US" sz="1000" dirty="0">
                <a:solidFill>
                  <a:srgbClr val="475569"/>
                </a:solidFill>
              </a:rPr>
              <a:t>dashboard + portal (static)</a:t>
            </a:r>
            <a:endParaRPr lang="en-US" sz="1200" dirty="0"/>
          </a:p>
        </p:txBody>
      </p:sp>
      <p:sp>
        <p:nvSpPr>
          <p:cNvPr id="6" name="Shape 3"/>
          <p:cNvSpPr/>
          <p:nvPr/>
        </p:nvSpPr>
        <p:spPr>
          <a:xfrm>
            <a:off x="2743200" y="960120"/>
            <a:ext cx="2377440" cy="640080"/>
          </a:xfrm>
          <a:prstGeom prst="roundRect">
            <a:avLst>
              <a:gd name="adj" fmla="val 11429"/>
            </a:avLst>
          </a:prstGeom>
          <a:solidFill>
            <a:srgbClr val="EEF5FC"/>
          </a:solidFill>
          <a:ln w="9525">
            <a:solidFill>
              <a:srgbClr val="0F539E"/>
            </a:solidFill>
            <a:prstDash val="solid"/>
          </a:ln>
        </p:spPr>
      </p:sp>
      <p:sp>
        <p:nvSpPr>
          <p:cNvPr id="7" name="Text 4"/>
          <p:cNvSpPr txBox="1"/>
          <p:nvPr/>
        </p:nvSpPr>
        <p:spPr>
          <a:xfrm>
            <a:off x="2834640" y="1014984"/>
            <a:ext cx="2194560" cy="530352"/>
          </a:xfrm>
          <a:prstGeom prst="rect">
            <a:avLst/>
          </a:prstGeom>
          <a:noFill/>
          <a:ln/>
        </p:spPr>
        <p:txBody>
          <a:bodyPr wrap="square" lIns="0" tIns="0" rIns="0" bIns="0" rtlCol="0" anchor="ctr"/>
          <a:lstStyle/>
          <a:p>
            <a:pPr algn="ctr" indent="0" marL="0">
              <a:buNone/>
            </a:pPr>
            <a:r>
              <a:rPr lang="en-US" sz="1200" b="1" dirty="0">
                <a:solidFill>
                  <a:schemeClr val="tx1"/>
                </a:solidFill>
              </a:rPr>
              <a:t>Render · 1 instance</a:t>
            </a:r>
            <a:endParaRPr lang="en-US" sz="1200" dirty="0"/>
          </a:p>
          <a:p>
            <a:pPr algn="ctr" indent="0" marL="0">
              <a:buNone/>
            </a:pPr>
            <a:r>
              <a:rPr lang="en-US" sz="1000" dirty="0">
                <a:solidFill>
                  <a:srgbClr val="475569"/>
                </a:solidFill>
              </a:rPr>
              <a:t>API + Socket.io + cron</a:t>
            </a:r>
            <a:endParaRPr lang="en-US" sz="1200" dirty="0"/>
          </a:p>
        </p:txBody>
      </p:sp>
      <p:sp>
        <p:nvSpPr>
          <p:cNvPr id="8" name="Shape 5"/>
          <p:cNvSpPr/>
          <p:nvPr/>
        </p:nvSpPr>
        <p:spPr>
          <a:xfrm>
            <a:off x="5577840" y="960120"/>
            <a:ext cx="1463040" cy="640080"/>
          </a:xfrm>
          <a:prstGeom prst="roundRect">
            <a:avLst>
              <a:gd name="adj" fmla="val 11429"/>
            </a:avLst>
          </a:prstGeom>
          <a:solidFill>
            <a:srgbClr val="0C2B4B"/>
          </a:solidFill>
          <a:ln w="9525">
            <a:solidFill>
              <a:srgbClr val="0C2B4B"/>
            </a:solidFill>
            <a:prstDash val="solid"/>
          </a:ln>
        </p:spPr>
      </p:sp>
      <p:sp>
        <p:nvSpPr>
          <p:cNvPr id="9" name="Text 6"/>
          <p:cNvSpPr txBox="1"/>
          <p:nvPr/>
        </p:nvSpPr>
        <p:spPr>
          <a:xfrm>
            <a:off x="5669280" y="1014984"/>
            <a:ext cx="1280160" cy="530352"/>
          </a:xfrm>
          <a:prstGeom prst="rect">
            <a:avLst/>
          </a:prstGeom>
          <a:noFill/>
          <a:ln/>
        </p:spPr>
        <p:txBody>
          <a:bodyPr wrap="square" lIns="0" tIns="0" rIns="0" bIns="0" rtlCol="0" anchor="ctr"/>
          <a:lstStyle/>
          <a:p>
            <a:pPr algn="ctr" indent="0" marL="0">
              <a:buNone/>
            </a:pPr>
            <a:r>
              <a:rPr lang="en-US" sz="1200" b="1" dirty="0">
                <a:solidFill>
                  <a:schemeClr val="bg1"/>
                </a:solidFill>
              </a:rPr>
              <a:t>Neon</a:t>
            </a:r>
            <a:endParaRPr lang="en-US" sz="1200" dirty="0"/>
          </a:p>
          <a:p>
            <a:pPr algn="ctr" indent="0" marL="0">
              <a:buNone/>
            </a:pPr>
            <a:r>
              <a:rPr lang="en-US" sz="1000" dirty="0">
                <a:solidFill>
                  <a:srgbClr val="D7E7F6"/>
                </a:solidFill>
              </a:rPr>
              <a:t>PostgreSQL</a:t>
            </a:r>
            <a:endParaRPr lang="en-US" sz="1200" dirty="0"/>
          </a:p>
        </p:txBody>
      </p:sp>
      <p:sp>
        <p:nvSpPr>
          <p:cNvPr id="10" name="Shape 7"/>
          <p:cNvSpPr/>
          <p:nvPr/>
        </p:nvSpPr>
        <p:spPr>
          <a:xfrm>
            <a:off x="7315200" y="960120"/>
            <a:ext cx="1371600" cy="640080"/>
          </a:xfrm>
          <a:prstGeom prst="roundRect">
            <a:avLst>
              <a:gd name="adj" fmla="val 11429"/>
            </a:avLst>
          </a:prstGeom>
          <a:solidFill>
            <a:srgbClr val="F8FAFC"/>
          </a:solidFill>
          <a:ln w="9525">
            <a:solidFill>
              <a:srgbClr val="CBD5E1"/>
            </a:solidFill>
            <a:prstDash val="solid"/>
          </a:ln>
        </p:spPr>
      </p:sp>
      <p:sp>
        <p:nvSpPr>
          <p:cNvPr id="11" name="Text 8"/>
          <p:cNvSpPr txBox="1"/>
          <p:nvPr/>
        </p:nvSpPr>
        <p:spPr>
          <a:xfrm>
            <a:off x="7388352" y="960120"/>
            <a:ext cx="1225296" cy="640080"/>
          </a:xfrm>
          <a:prstGeom prst="rect">
            <a:avLst/>
          </a:prstGeom>
          <a:noFill/>
          <a:ln/>
        </p:spPr>
        <p:txBody>
          <a:bodyPr wrap="square" lIns="0" tIns="0" rIns="0" bIns="0" rtlCol="0" anchor="ctr"/>
          <a:lstStyle/>
          <a:p>
            <a:pPr algn="ctr" indent="0" marL="0">
              <a:buNone/>
            </a:pPr>
            <a:r>
              <a:rPr lang="en-US" sz="1050" b="1" dirty="0">
                <a:solidFill>
                  <a:schemeClr val="tx1"/>
                </a:solidFill>
              </a:rPr>
              <a:t>FCM · Push · Resend</a:t>
            </a:r>
            <a:endParaRPr lang="en-US" sz="1050" dirty="0"/>
          </a:p>
        </p:txBody>
      </p:sp>
      <p:sp>
        <p:nvSpPr>
          <p:cNvPr id="12" name="Shape 9"/>
          <p:cNvSpPr/>
          <p:nvPr/>
        </p:nvSpPr>
        <p:spPr>
          <a:xfrm>
            <a:off x="5120640" y="1280160"/>
            <a:ext cx="457200" cy="914"/>
          </a:xfrm>
          <a:prstGeom prst="line">
            <a:avLst/>
          </a:prstGeom>
          <a:noFill/>
          <a:ln w="15875">
            <a:solidFill>
              <a:srgbClr val="475569"/>
            </a:solidFill>
            <a:prstDash val="solid"/>
            <a:headEnd type="triangle"/>
            <a:tailEnd type="triangle"/>
          </a:ln>
        </p:spPr>
      </p:sp>
      <p:sp>
        <p:nvSpPr>
          <p:cNvPr id="13" name="Shape 10"/>
          <p:cNvSpPr/>
          <p:nvPr/>
        </p:nvSpPr>
        <p:spPr>
          <a:xfrm>
            <a:off x="7040880" y="1280160"/>
            <a:ext cx="274320" cy="914"/>
          </a:xfrm>
          <a:prstGeom prst="line">
            <a:avLst/>
          </a:prstGeom>
          <a:noFill/>
          <a:ln w="15875">
            <a:solidFill>
              <a:srgbClr val="475569"/>
            </a:solidFill>
            <a:prstDash val="solid"/>
            <a:tailEnd type="triangle"/>
          </a:ln>
        </p:spPr>
      </p:sp>
      <p:sp>
        <p:nvSpPr>
          <p:cNvPr id="14" name="Shape 11"/>
          <p:cNvSpPr/>
          <p:nvPr/>
        </p:nvSpPr>
        <p:spPr>
          <a:xfrm>
            <a:off x="2286000" y="1280160"/>
            <a:ext cx="457200" cy="914"/>
          </a:xfrm>
          <a:prstGeom prst="line">
            <a:avLst/>
          </a:prstGeom>
          <a:noFill/>
          <a:ln w="15875">
            <a:solidFill>
              <a:srgbClr val="94A3B8"/>
            </a:solidFill>
            <a:prstDash val="dash"/>
            <a:tailEnd type="triangle"/>
          </a:ln>
        </p:spPr>
      </p:sp>
      <p:sp>
        <p:nvSpPr>
          <p:cNvPr id="15" name="Text 12"/>
          <p:cNvSpPr txBox="1"/>
          <p:nvPr/>
        </p:nvSpPr>
        <p:spPr>
          <a:xfrm>
            <a:off x="2743200" y="1645920"/>
            <a:ext cx="5943600" cy="274320"/>
          </a:xfrm>
          <a:prstGeom prst="rect">
            <a:avLst/>
          </a:prstGeom>
          <a:noFill/>
          <a:ln/>
        </p:spPr>
        <p:txBody>
          <a:bodyPr wrap="square" lIns="0" tIns="0" rIns="0" bIns="0" rtlCol="0" anchor="t"/>
          <a:lstStyle/>
          <a:p>
            <a:pPr indent="0" marL="0">
              <a:buNone/>
            </a:pPr>
            <a:r>
              <a:rPr lang="en-US" sz="1050" dirty="0">
                <a:solidFill>
                  <a:srgbClr val="B45309"/>
                </a:solidFill>
              </a:rPr>
              <a:t>Single instance by design: Socket.io has no cross-instance adapter yet.</a:t>
            </a:r>
            <a:endParaRPr lang="en-US" sz="1050" dirty="0"/>
          </a:p>
        </p:txBody>
      </p:sp>
      <p:sp>
        <p:nvSpPr>
          <p:cNvPr id="16" name="Text 13"/>
          <p:cNvSpPr txBox="1"/>
          <p:nvPr/>
        </p:nvSpPr>
        <p:spPr>
          <a:xfrm>
            <a:off x="457200" y="2103120"/>
            <a:ext cx="5486400" cy="274320"/>
          </a:xfrm>
          <a:prstGeom prst="rect">
            <a:avLst/>
          </a:prstGeom>
          <a:noFill/>
          <a:ln/>
        </p:spPr>
        <p:txBody>
          <a:bodyPr wrap="square" lIns="0" tIns="0" rIns="0" bIns="0" rtlCol="0" anchor="t"/>
          <a:lstStyle/>
          <a:p>
            <a:pPr indent="0" marL="0">
              <a:buNone/>
            </a:pPr>
            <a:r>
              <a:rPr lang="en-US" sz="1300" b="1" dirty="0">
                <a:solidFill>
                  <a:schemeClr val="tx2"/>
                </a:solidFill>
              </a:rPr>
              <a:t>Release process (used for v1.0.6)</a:t>
            </a:r>
            <a:endParaRPr lang="en-US" sz="1300" dirty="0"/>
          </a:p>
        </p:txBody>
      </p:sp>
      <p:sp>
        <p:nvSpPr>
          <p:cNvPr id="17" name="Shape 14"/>
          <p:cNvSpPr/>
          <p:nvPr/>
        </p:nvSpPr>
        <p:spPr>
          <a:xfrm>
            <a:off x="457200" y="2468880"/>
            <a:ext cx="1261872" cy="868680"/>
          </a:xfrm>
          <a:prstGeom prst="roundRect">
            <a:avLst>
              <a:gd name="adj" fmla="val 8421"/>
            </a:avLst>
          </a:prstGeom>
          <a:solidFill>
            <a:srgbClr val="F8FAFC"/>
          </a:solidFill>
          <a:ln w="9525">
            <a:solidFill>
              <a:srgbClr val="CBD5E1"/>
            </a:solidFill>
            <a:prstDash val="solid"/>
          </a:ln>
        </p:spPr>
      </p:sp>
      <p:sp>
        <p:nvSpPr>
          <p:cNvPr id="18" name="Text 15"/>
          <p:cNvSpPr txBox="1"/>
          <p:nvPr/>
        </p:nvSpPr>
        <p:spPr>
          <a:xfrm>
            <a:off x="530352" y="2468880"/>
            <a:ext cx="1115568" cy="868680"/>
          </a:xfrm>
          <a:prstGeom prst="rect">
            <a:avLst/>
          </a:prstGeom>
          <a:noFill/>
          <a:ln/>
        </p:spPr>
        <p:txBody>
          <a:bodyPr wrap="square" lIns="0" tIns="0" rIns="0" bIns="0" rtlCol="0" anchor="ctr"/>
          <a:lstStyle/>
          <a:p>
            <a:pPr algn="ctr" indent="0" marL="0">
              <a:buNone/>
            </a:pPr>
            <a:r>
              <a:rPr lang="en-US" sz="1000" b="1" dirty="0">
                <a:solidFill>
                  <a:schemeClr val="tx1"/>
                </a:solidFill>
              </a:rPr>
              <a:t>Feature branch + tests</a:t>
            </a:r>
            <a:endParaRPr lang="en-US" sz="1000" dirty="0"/>
          </a:p>
        </p:txBody>
      </p:sp>
      <p:sp>
        <p:nvSpPr>
          <p:cNvPr id="19" name="Shape 16"/>
          <p:cNvSpPr/>
          <p:nvPr/>
        </p:nvSpPr>
        <p:spPr>
          <a:xfrm>
            <a:off x="1719072" y="2898648"/>
            <a:ext cx="137160" cy="914"/>
          </a:xfrm>
          <a:prstGeom prst="line">
            <a:avLst/>
          </a:prstGeom>
          <a:noFill/>
          <a:ln w="15875">
            <a:solidFill>
              <a:srgbClr val="0F539E"/>
            </a:solidFill>
            <a:prstDash val="solid"/>
            <a:tailEnd type="triangle"/>
          </a:ln>
        </p:spPr>
      </p:sp>
      <p:sp>
        <p:nvSpPr>
          <p:cNvPr id="20" name="Shape 17"/>
          <p:cNvSpPr/>
          <p:nvPr/>
        </p:nvSpPr>
        <p:spPr>
          <a:xfrm>
            <a:off x="1856232" y="2468880"/>
            <a:ext cx="1261872" cy="868680"/>
          </a:xfrm>
          <a:prstGeom prst="roundRect">
            <a:avLst>
              <a:gd name="adj" fmla="val 8421"/>
            </a:avLst>
          </a:prstGeom>
          <a:solidFill>
            <a:srgbClr val="F8FAFC"/>
          </a:solidFill>
          <a:ln w="9525">
            <a:solidFill>
              <a:srgbClr val="CBD5E1"/>
            </a:solidFill>
            <a:prstDash val="solid"/>
          </a:ln>
        </p:spPr>
      </p:sp>
      <p:sp>
        <p:nvSpPr>
          <p:cNvPr id="21" name="Text 18"/>
          <p:cNvSpPr txBox="1"/>
          <p:nvPr/>
        </p:nvSpPr>
        <p:spPr>
          <a:xfrm>
            <a:off x="1929384" y="2468880"/>
            <a:ext cx="1115568" cy="868680"/>
          </a:xfrm>
          <a:prstGeom prst="rect">
            <a:avLst/>
          </a:prstGeom>
          <a:noFill/>
          <a:ln/>
        </p:spPr>
        <p:txBody>
          <a:bodyPr wrap="square" lIns="0" tIns="0" rIns="0" bIns="0" rtlCol="0" anchor="ctr"/>
          <a:lstStyle/>
          <a:p>
            <a:pPr algn="ctr" indent="0" marL="0">
              <a:buNone/>
            </a:pPr>
            <a:r>
              <a:rPr lang="en-US" sz="1000" b="1" dirty="0">
                <a:solidFill>
                  <a:schemeClr val="tx1"/>
                </a:solidFill>
              </a:rPr>
              <a:t>Merge to master</a:t>
            </a:r>
            <a:endParaRPr lang="en-US" sz="1000" dirty="0"/>
          </a:p>
        </p:txBody>
      </p:sp>
      <p:sp>
        <p:nvSpPr>
          <p:cNvPr id="22" name="Shape 19"/>
          <p:cNvSpPr/>
          <p:nvPr/>
        </p:nvSpPr>
        <p:spPr>
          <a:xfrm>
            <a:off x="3118104" y="2898648"/>
            <a:ext cx="137160" cy="914"/>
          </a:xfrm>
          <a:prstGeom prst="line">
            <a:avLst/>
          </a:prstGeom>
          <a:noFill/>
          <a:ln w="15875">
            <a:solidFill>
              <a:srgbClr val="0F539E"/>
            </a:solidFill>
            <a:prstDash val="solid"/>
            <a:tailEnd type="triangle"/>
          </a:ln>
        </p:spPr>
      </p:sp>
      <p:sp>
        <p:nvSpPr>
          <p:cNvPr id="23" name="Shape 20"/>
          <p:cNvSpPr/>
          <p:nvPr/>
        </p:nvSpPr>
        <p:spPr>
          <a:xfrm>
            <a:off x="3255264" y="2468880"/>
            <a:ext cx="1261872" cy="868680"/>
          </a:xfrm>
          <a:prstGeom prst="roundRect">
            <a:avLst>
              <a:gd name="adj" fmla="val 8421"/>
            </a:avLst>
          </a:prstGeom>
          <a:solidFill>
            <a:srgbClr val="F8FAFC"/>
          </a:solidFill>
          <a:ln w="9525">
            <a:solidFill>
              <a:srgbClr val="CBD5E1"/>
            </a:solidFill>
            <a:prstDash val="solid"/>
          </a:ln>
        </p:spPr>
      </p:sp>
      <p:sp>
        <p:nvSpPr>
          <p:cNvPr id="24" name="Text 21"/>
          <p:cNvSpPr txBox="1"/>
          <p:nvPr/>
        </p:nvSpPr>
        <p:spPr>
          <a:xfrm>
            <a:off x="3328416" y="2468880"/>
            <a:ext cx="1115568" cy="868680"/>
          </a:xfrm>
          <a:prstGeom prst="rect">
            <a:avLst/>
          </a:prstGeom>
          <a:noFill/>
          <a:ln/>
        </p:spPr>
        <p:txBody>
          <a:bodyPr wrap="square" lIns="0" tIns="0" rIns="0" bIns="0" rtlCol="0" anchor="ctr"/>
          <a:lstStyle/>
          <a:p>
            <a:pPr algn="ctr" indent="0" marL="0">
              <a:buNone/>
            </a:pPr>
            <a:r>
              <a:rPr lang="en-US" sz="1000" b="1" dirty="0">
                <a:solidFill>
                  <a:schemeClr val="tx1"/>
                </a:solidFill>
              </a:rPr>
              <a:t>Render: prisma migrate deploy, then start</a:t>
            </a:r>
            <a:endParaRPr lang="en-US" sz="1000" dirty="0"/>
          </a:p>
        </p:txBody>
      </p:sp>
      <p:sp>
        <p:nvSpPr>
          <p:cNvPr id="25" name="Shape 22"/>
          <p:cNvSpPr/>
          <p:nvPr/>
        </p:nvSpPr>
        <p:spPr>
          <a:xfrm>
            <a:off x="4517136" y="2898648"/>
            <a:ext cx="137160" cy="914"/>
          </a:xfrm>
          <a:prstGeom prst="line">
            <a:avLst/>
          </a:prstGeom>
          <a:noFill/>
          <a:ln w="15875">
            <a:solidFill>
              <a:srgbClr val="0F539E"/>
            </a:solidFill>
            <a:prstDash val="solid"/>
            <a:tailEnd type="triangle"/>
          </a:ln>
        </p:spPr>
      </p:sp>
      <p:sp>
        <p:nvSpPr>
          <p:cNvPr id="26" name="Shape 23"/>
          <p:cNvSpPr/>
          <p:nvPr/>
        </p:nvSpPr>
        <p:spPr>
          <a:xfrm>
            <a:off x="4654296" y="2468880"/>
            <a:ext cx="1261872" cy="868680"/>
          </a:xfrm>
          <a:prstGeom prst="roundRect">
            <a:avLst>
              <a:gd name="adj" fmla="val 8421"/>
            </a:avLst>
          </a:prstGeom>
          <a:solidFill>
            <a:srgbClr val="F8FAFC"/>
          </a:solidFill>
          <a:ln w="9525">
            <a:solidFill>
              <a:srgbClr val="CBD5E1"/>
            </a:solidFill>
            <a:prstDash val="solid"/>
          </a:ln>
        </p:spPr>
      </p:sp>
      <p:sp>
        <p:nvSpPr>
          <p:cNvPr id="27" name="Text 24"/>
          <p:cNvSpPr txBox="1"/>
          <p:nvPr/>
        </p:nvSpPr>
        <p:spPr>
          <a:xfrm>
            <a:off x="4727448" y="2468880"/>
            <a:ext cx="1115568" cy="868680"/>
          </a:xfrm>
          <a:prstGeom prst="rect">
            <a:avLst/>
          </a:prstGeom>
          <a:noFill/>
          <a:ln/>
        </p:spPr>
        <p:txBody>
          <a:bodyPr wrap="square" lIns="0" tIns="0" rIns="0" bIns="0" rtlCol="0" anchor="ctr"/>
          <a:lstStyle/>
          <a:p>
            <a:pPr algn="ctr" indent="0" marL="0">
              <a:buNone/>
            </a:pPr>
            <a:r>
              <a:rPr lang="en-US" sz="1000" b="1" dirty="0">
                <a:solidFill>
                  <a:schemeClr val="tx1"/>
                </a:solidFill>
              </a:rPr>
              <a:t>Production smoke checks</a:t>
            </a:r>
            <a:endParaRPr lang="en-US" sz="1000" dirty="0"/>
          </a:p>
        </p:txBody>
      </p:sp>
      <p:sp>
        <p:nvSpPr>
          <p:cNvPr id="28" name="Shape 25"/>
          <p:cNvSpPr/>
          <p:nvPr/>
        </p:nvSpPr>
        <p:spPr>
          <a:xfrm>
            <a:off x="5916168" y="2898648"/>
            <a:ext cx="137160" cy="914"/>
          </a:xfrm>
          <a:prstGeom prst="line">
            <a:avLst/>
          </a:prstGeom>
          <a:noFill/>
          <a:ln w="15875">
            <a:solidFill>
              <a:srgbClr val="0F539E"/>
            </a:solidFill>
            <a:prstDash val="solid"/>
            <a:tailEnd type="triangle"/>
          </a:ln>
        </p:spPr>
      </p:sp>
      <p:sp>
        <p:nvSpPr>
          <p:cNvPr id="29" name="Shape 26"/>
          <p:cNvSpPr/>
          <p:nvPr/>
        </p:nvSpPr>
        <p:spPr>
          <a:xfrm>
            <a:off x="6053328" y="2468880"/>
            <a:ext cx="1261872" cy="868680"/>
          </a:xfrm>
          <a:prstGeom prst="roundRect">
            <a:avLst>
              <a:gd name="adj" fmla="val 8421"/>
            </a:avLst>
          </a:prstGeom>
          <a:solidFill>
            <a:srgbClr val="EEF5FC"/>
          </a:solidFill>
          <a:ln w="9525">
            <a:solidFill>
              <a:srgbClr val="0F539E"/>
            </a:solidFill>
            <a:prstDash val="solid"/>
          </a:ln>
        </p:spPr>
      </p:sp>
      <p:sp>
        <p:nvSpPr>
          <p:cNvPr id="30" name="Text 27"/>
          <p:cNvSpPr txBox="1"/>
          <p:nvPr/>
        </p:nvSpPr>
        <p:spPr>
          <a:xfrm>
            <a:off x="6126480" y="2468880"/>
            <a:ext cx="1115568" cy="868680"/>
          </a:xfrm>
          <a:prstGeom prst="rect">
            <a:avLst/>
          </a:prstGeom>
          <a:noFill/>
          <a:ln/>
        </p:spPr>
        <p:txBody>
          <a:bodyPr wrap="square" lIns="0" tIns="0" rIns="0" bIns="0" rtlCol="0" anchor="ctr"/>
          <a:lstStyle/>
          <a:p>
            <a:pPr algn="ctr" indent="0" marL="0">
              <a:buNone/>
            </a:pPr>
            <a:r>
              <a:rPr lang="en-US" sz="1000" b="1" dirty="0">
                <a:solidFill>
                  <a:schemeClr val="tx1"/>
                </a:solidFill>
              </a:rPr>
              <a:t>Signed APK dry run + verification</a:t>
            </a:r>
            <a:endParaRPr lang="en-US" sz="1000" dirty="0"/>
          </a:p>
        </p:txBody>
      </p:sp>
      <p:sp>
        <p:nvSpPr>
          <p:cNvPr id="31" name="Shape 28"/>
          <p:cNvSpPr/>
          <p:nvPr/>
        </p:nvSpPr>
        <p:spPr>
          <a:xfrm>
            <a:off x="7315200" y="2898648"/>
            <a:ext cx="137160" cy="914"/>
          </a:xfrm>
          <a:prstGeom prst="line">
            <a:avLst/>
          </a:prstGeom>
          <a:noFill/>
          <a:ln w="15875">
            <a:solidFill>
              <a:srgbClr val="0F539E"/>
            </a:solidFill>
            <a:prstDash val="solid"/>
            <a:tailEnd type="triangle"/>
          </a:ln>
        </p:spPr>
      </p:sp>
      <p:sp>
        <p:nvSpPr>
          <p:cNvPr id="32" name="Shape 29"/>
          <p:cNvSpPr/>
          <p:nvPr/>
        </p:nvSpPr>
        <p:spPr>
          <a:xfrm>
            <a:off x="7452360" y="2468880"/>
            <a:ext cx="1261872" cy="868680"/>
          </a:xfrm>
          <a:prstGeom prst="roundRect">
            <a:avLst>
              <a:gd name="adj" fmla="val 8421"/>
            </a:avLst>
          </a:prstGeom>
          <a:solidFill>
            <a:srgbClr val="F8FAFC"/>
          </a:solidFill>
          <a:ln w="9525">
            <a:solidFill>
              <a:srgbClr val="CBD5E1"/>
            </a:solidFill>
            <a:prstDash val="solid"/>
          </a:ln>
        </p:spPr>
      </p:sp>
      <p:sp>
        <p:nvSpPr>
          <p:cNvPr id="33" name="Text 30"/>
          <p:cNvSpPr txBox="1"/>
          <p:nvPr/>
        </p:nvSpPr>
        <p:spPr>
          <a:xfrm>
            <a:off x="7525512" y="2468880"/>
            <a:ext cx="1115568" cy="868680"/>
          </a:xfrm>
          <a:prstGeom prst="rect">
            <a:avLst/>
          </a:prstGeom>
          <a:noFill/>
          <a:ln/>
        </p:spPr>
        <p:txBody>
          <a:bodyPr wrap="square" lIns="0" tIns="0" rIns="0" bIns="0" rtlCol="0" anchor="ctr"/>
          <a:lstStyle/>
          <a:p>
            <a:pPr algn="ctr" indent="0" marL="0">
              <a:buNone/>
            </a:pPr>
            <a:r>
              <a:rPr lang="en-US" sz="1000" b="1" dirty="0">
                <a:solidFill>
                  <a:schemeClr val="tx1"/>
                </a:solidFill>
              </a:rPr>
              <a:t>Publish GitHub Release</a:t>
            </a:r>
            <a:endParaRPr lang="en-US" sz="1000" dirty="0"/>
          </a:p>
        </p:txBody>
      </p:sp>
      <p:sp>
        <p:nvSpPr>
          <p:cNvPr id="34" name="Shape 31"/>
          <p:cNvSpPr/>
          <p:nvPr/>
        </p:nvSpPr>
        <p:spPr>
          <a:xfrm>
            <a:off x="457200" y="3611880"/>
            <a:ext cx="8229600" cy="914400"/>
          </a:xfrm>
          <a:prstGeom prst="roundRect">
            <a:avLst>
              <a:gd name="adj" fmla="val 8000"/>
            </a:avLst>
          </a:prstGeom>
          <a:solidFill>
            <a:srgbClr val="F8FAFC"/>
          </a:solidFill>
          <a:ln w="9525">
            <a:solidFill>
              <a:srgbClr val="CBD5E1"/>
            </a:solidFill>
            <a:prstDash val="solid"/>
          </a:ln>
        </p:spPr>
      </p:sp>
      <p:sp>
        <p:nvSpPr>
          <p:cNvPr id="35" name="Text 32"/>
          <p:cNvSpPr txBox="1"/>
          <p:nvPr/>
        </p:nvSpPr>
        <p:spPr>
          <a:xfrm>
            <a:off x="640080" y="3675888"/>
            <a:ext cx="7863840" cy="786384"/>
          </a:xfrm>
          <a:prstGeom prst="rect">
            <a:avLst/>
          </a:prstGeom>
          <a:noFill/>
          <a:ln/>
        </p:spPr>
        <p:txBody>
          <a:bodyPr wrap="square" lIns="0" tIns="0" rIns="0" bIns="0" rtlCol="0" anchor="ctr"/>
          <a:lstStyle/>
          <a:p>
            <a:pPr indent="0" marL="0">
              <a:buNone/>
            </a:pPr>
            <a:r>
              <a:rPr lang="en-US" sz="1100" b="1" dirty="0">
                <a:solidFill>
                  <a:schemeClr val="tx1"/>
                </a:solidFill>
              </a:rPr>
              <a:t>APK verification on every release: </a:t>
            </a:r>
            <a:pPr indent="0" marL="0">
              <a:buNone/>
            </a:pPr>
            <a:r>
              <a:rPr lang="en-US" sz="1100" dirty="0">
                <a:solidFill>
                  <a:schemeClr val="tx1"/>
                </a:solidFill>
              </a:rPr>
              <a:t>exactly one signer · certificate pinned to 70:08:D3:…:0A:93 · package com.livequeue.mobile_app · version 1.0.6 (build 7) · not debuggable · production API compiled in. Signing keys live only in GitHub secrets — never in the repository.</a:t>
            </a:r>
            <a:endParaRPr lang="en-US" sz="11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Testing and current production status</a:t>
            </a:r>
            <a:endParaRPr lang="en-US" sz="2400" dirty="0"/>
          </a:p>
        </p:txBody>
      </p:sp>
      <p:sp>
        <p:nvSpPr>
          <p:cNvPr id="4" name="Text 1"/>
          <p:cNvSpPr txBox="1"/>
          <p:nvPr/>
        </p:nvSpPr>
        <p:spPr>
          <a:xfrm>
            <a:off x="457200" y="960120"/>
            <a:ext cx="1463040" cy="548640"/>
          </a:xfrm>
          <a:prstGeom prst="rect">
            <a:avLst/>
          </a:prstGeom>
          <a:noFill/>
          <a:ln/>
        </p:spPr>
        <p:txBody>
          <a:bodyPr wrap="square" lIns="0" tIns="0" rIns="0" bIns="0" rtlCol="0" anchor="t"/>
          <a:lstStyle/>
          <a:p>
            <a:pPr indent="0" marL="0">
              <a:buNone/>
            </a:pPr>
            <a:r>
              <a:rPr lang="en-US" sz="3000" b="1" dirty="0">
                <a:solidFill>
                  <a:schemeClr val="accent1"/>
                </a:solidFill>
              </a:rPr>
              <a:t>1,234</a:t>
            </a:r>
            <a:endParaRPr lang="en-US" sz="3000" dirty="0"/>
          </a:p>
        </p:txBody>
      </p:sp>
      <p:sp>
        <p:nvSpPr>
          <p:cNvPr id="5" name="Text 2"/>
          <p:cNvSpPr txBox="1"/>
          <p:nvPr/>
        </p:nvSpPr>
        <p:spPr>
          <a:xfrm>
            <a:off x="457200" y="1508760"/>
            <a:ext cx="1371600" cy="274320"/>
          </a:xfrm>
          <a:prstGeom prst="rect">
            <a:avLst/>
          </a:prstGeom>
          <a:noFill/>
          <a:ln/>
        </p:spPr>
        <p:txBody>
          <a:bodyPr wrap="square" lIns="0" tIns="0" rIns="0" bIns="0" rtlCol="0" anchor="t"/>
          <a:lstStyle/>
          <a:p>
            <a:pPr indent="0" marL="0">
              <a:buNone/>
            </a:pPr>
            <a:r>
              <a:rPr lang="en-US" sz="1100" dirty="0">
                <a:solidFill>
                  <a:srgbClr val="475569"/>
                </a:solidFill>
              </a:rPr>
              <a:t>backend tests</a:t>
            </a:r>
            <a:endParaRPr lang="en-US" sz="1100" dirty="0"/>
          </a:p>
        </p:txBody>
      </p:sp>
      <p:sp>
        <p:nvSpPr>
          <p:cNvPr id="6" name="Text 3"/>
          <p:cNvSpPr txBox="1"/>
          <p:nvPr/>
        </p:nvSpPr>
        <p:spPr>
          <a:xfrm>
            <a:off x="1965960" y="960120"/>
            <a:ext cx="1463040" cy="548640"/>
          </a:xfrm>
          <a:prstGeom prst="rect">
            <a:avLst/>
          </a:prstGeom>
          <a:noFill/>
          <a:ln/>
        </p:spPr>
        <p:txBody>
          <a:bodyPr wrap="square" lIns="0" tIns="0" rIns="0" bIns="0" rtlCol="0" anchor="t"/>
          <a:lstStyle/>
          <a:p>
            <a:pPr indent="0" marL="0">
              <a:buNone/>
            </a:pPr>
            <a:r>
              <a:rPr lang="en-US" sz="3000" b="1" dirty="0">
                <a:solidFill>
                  <a:schemeClr val="accent1"/>
                </a:solidFill>
              </a:rPr>
              <a:t>640</a:t>
            </a:r>
            <a:endParaRPr lang="en-US" sz="3000" dirty="0"/>
          </a:p>
        </p:txBody>
      </p:sp>
      <p:sp>
        <p:nvSpPr>
          <p:cNvPr id="7" name="Text 4"/>
          <p:cNvSpPr txBox="1"/>
          <p:nvPr/>
        </p:nvSpPr>
        <p:spPr>
          <a:xfrm>
            <a:off x="1965960" y="1508760"/>
            <a:ext cx="1371600" cy="274320"/>
          </a:xfrm>
          <a:prstGeom prst="rect">
            <a:avLst/>
          </a:prstGeom>
          <a:noFill/>
          <a:ln/>
        </p:spPr>
        <p:txBody>
          <a:bodyPr wrap="square" lIns="0" tIns="0" rIns="0" bIns="0" rtlCol="0" anchor="t"/>
          <a:lstStyle/>
          <a:p>
            <a:pPr indent="0" marL="0">
              <a:buNone/>
            </a:pPr>
            <a:r>
              <a:rPr lang="en-US" sz="1100" dirty="0">
                <a:solidFill>
                  <a:srgbClr val="475569"/>
                </a:solidFill>
              </a:rPr>
              <a:t>dashboard tests</a:t>
            </a:r>
            <a:endParaRPr lang="en-US" sz="1100" dirty="0"/>
          </a:p>
        </p:txBody>
      </p:sp>
      <p:sp>
        <p:nvSpPr>
          <p:cNvPr id="8" name="Text 5"/>
          <p:cNvSpPr txBox="1"/>
          <p:nvPr/>
        </p:nvSpPr>
        <p:spPr>
          <a:xfrm>
            <a:off x="3474720" y="960120"/>
            <a:ext cx="1463040" cy="548640"/>
          </a:xfrm>
          <a:prstGeom prst="rect">
            <a:avLst/>
          </a:prstGeom>
          <a:noFill/>
          <a:ln/>
        </p:spPr>
        <p:txBody>
          <a:bodyPr wrap="square" lIns="0" tIns="0" rIns="0" bIns="0" rtlCol="0" anchor="t"/>
          <a:lstStyle/>
          <a:p>
            <a:pPr indent="0" marL="0">
              <a:buNone/>
            </a:pPr>
            <a:r>
              <a:rPr lang="en-US" sz="3000" b="1" dirty="0">
                <a:solidFill>
                  <a:schemeClr val="accent1"/>
                </a:solidFill>
              </a:rPr>
              <a:t>479</a:t>
            </a:r>
            <a:endParaRPr lang="en-US" sz="3000" dirty="0"/>
          </a:p>
        </p:txBody>
      </p:sp>
      <p:sp>
        <p:nvSpPr>
          <p:cNvPr id="9" name="Text 6"/>
          <p:cNvSpPr txBox="1"/>
          <p:nvPr/>
        </p:nvSpPr>
        <p:spPr>
          <a:xfrm>
            <a:off x="3474720" y="1508760"/>
            <a:ext cx="1371600" cy="274320"/>
          </a:xfrm>
          <a:prstGeom prst="rect">
            <a:avLst/>
          </a:prstGeom>
          <a:noFill/>
          <a:ln/>
        </p:spPr>
        <p:txBody>
          <a:bodyPr wrap="square" lIns="0" tIns="0" rIns="0" bIns="0" rtlCol="0" anchor="t"/>
          <a:lstStyle/>
          <a:p>
            <a:pPr indent="0" marL="0">
              <a:buNone/>
            </a:pPr>
            <a:r>
              <a:rPr lang="en-US" sz="1100" dirty="0">
                <a:solidFill>
                  <a:srgbClr val="475569"/>
                </a:solidFill>
              </a:rPr>
              <a:t>Flutter tests</a:t>
            </a:r>
            <a:endParaRPr lang="en-US" sz="1100" dirty="0"/>
          </a:p>
        </p:txBody>
      </p:sp>
      <p:sp>
        <p:nvSpPr>
          <p:cNvPr id="10" name="Text 7"/>
          <p:cNvSpPr txBox="1"/>
          <p:nvPr/>
        </p:nvSpPr>
        <p:spPr>
          <a:xfrm>
            <a:off x="457200" y="1874520"/>
            <a:ext cx="4297680" cy="457200"/>
          </a:xfrm>
          <a:prstGeom prst="rect">
            <a:avLst/>
          </a:prstGeom>
          <a:noFill/>
          <a:ln/>
        </p:spPr>
        <p:txBody>
          <a:bodyPr wrap="square" lIns="0" tIns="0" rIns="0" bIns="0" rtlCol="0" anchor="t"/>
          <a:lstStyle/>
          <a:p>
            <a:pPr indent="0" marL="0">
              <a:buNone/>
            </a:pPr>
            <a:r>
              <a:rPr lang="en-US" sz="1100" dirty="0">
                <a:solidFill>
                  <a:srgbClr val="64748B"/>
                </a:solidFill>
              </a:rPr>
              <a:t>All passing on production master (9 Oct 2026). Typecheck, lint and production builds clean.</a:t>
            </a:r>
            <a:endParaRPr lang="en-US" sz="1100" dirty="0"/>
          </a:p>
        </p:txBody>
      </p:sp>
      <p:sp>
        <p:nvSpPr>
          <p:cNvPr id="11" name="Text 8"/>
          <p:cNvSpPr txBox="1"/>
          <p:nvPr/>
        </p:nvSpPr>
        <p:spPr>
          <a:xfrm>
            <a:off x="457200" y="2468880"/>
            <a:ext cx="4206240" cy="274320"/>
          </a:xfrm>
          <a:prstGeom prst="rect">
            <a:avLst/>
          </a:prstGeom>
          <a:noFill/>
          <a:ln/>
        </p:spPr>
        <p:txBody>
          <a:bodyPr wrap="square" lIns="0" tIns="0" rIns="0" bIns="0" rtlCol="0" anchor="t"/>
          <a:lstStyle/>
          <a:p>
            <a:pPr indent="0" marL="0">
              <a:buNone/>
            </a:pPr>
            <a:r>
              <a:rPr lang="en-US" sz="1300" b="1" dirty="0">
                <a:solidFill>
                  <a:srgbClr val="15803D"/>
                </a:solidFill>
              </a:rPr>
              <a:t>Verified automatically</a:t>
            </a:r>
            <a:endParaRPr lang="en-US" sz="1300" dirty="0"/>
          </a:p>
        </p:txBody>
      </p:sp>
      <p:sp>
        <p:nvSpPr>
          <p:cNvPr id="12" name="Text 9"/>
          <p:cNvSpPr txBox="1"/>
          <p:nvPr/>
        </p:nvSpPr>
        <p:spPr>
          <a:xfrm>
            <a:off x="457200" y="2788920"/>
            <a:ext cx="4297680" cy="173736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chemeClr val="tx1"/>
                </a:solidFill>
              </a:rPr>
              <a:t>Backend live: health, Socket.io handshake, Web Push config</a:t>
            </a:r>
            <a:endParaRPr lang="en-US" sz="1150" dirty="0"/>
          </a:p>
          <a:p>
            <a:pPr marL="177800" indent="-177800">
              <a:spcAft>
                <a:spcPts val="500"/>
              </a:spcAft>
              <a:buSzPct val="100000"/>
              <a:buChar char="•"/>
            </a:pPr>
            <a:r>
              <a:rPr lang="en-US" sz="1150" dirty="0">
                <a:solidFill>
                  <a:schemeClr val="tx1"/>
                </a:solidFill>
              </a:rPr>
              <a:t>Both governance migrations applied; new routes respond</a:t>
            </a:r>
            <a:endParaRPr lang="en-US" sz="1150" dirty="0"/>
          </a:p>
          <a:p>
            <a:pPr marL="177800" indent="-177800">
              <a:spcAft>
                <a:spcPts val="500"/>
              </a:spcAft>
              <a:buSzPct val="100000"/>
              <a:buChar char="•"/>
            </a:pPr>
            <a:r>
              <a:rPr lang="en-US" sz="1150" dirty="0">
                <a:solidFill>
                  <a:schemeClr val="tx1"/>
                </a:solidFill>
              </a:rPr>
              <a:t>Dashboard + portal render (headless Chromium checks)</a:t>
            </a:r>
            <a:endParaRPr lang="en-US" sz="1150" dirty="0"/>
          </a:p>
          <a:p>
            <a:pPr marL="177800" indent="-177800">
              <a:spcAft>
                <a:spcPts val="500"/>
              </a:spcAft>
              <a:buSzPct val="100000"/>
              <a:buChar char="•"/>
            </a:pPr>
            <a:r>
              <a:rPr lang="en-US" sz="1150" dirty="0">
                <a:solidFill>
                  <a:schemeClr val="tx1"/>
                </a:solidFill>
              </a:rPr>
              <a:t>Android v1.0.6 published, Latest; APK independently verified</a:t>
            </a:r>
            <a:endParaRPr lang="en-US" sz="1150" dirty="0"/>
          </a:p>
          <a:p>
            <a:pPr marL="177800" indent="-177800">
              <a:spcAft>
                <a:spcPts val="500"/>
              </a:spcAft>
              <a:buSzPct val="100000"/>
              <a:buChar char="•"/>
            </a:pPr>
            <a:r>
              <a:rPr lang="en-US" sz="1150" dirty="0">
                <a:solidFill>
                  <a:schemeClr val="tx1"/>
                </a:solidFill>
              </a:rPr>
              <a:t>Console + performance fixes live; per-client rate limits verified</a:t>
            </a:r>
            <a:endParaRPr lang="en-US" sz="1150" dirty="0"/>
          </a:p>
        </p:txBody>
      </p:sp>
      <p:sp>
        <p:nvSpPr>
          <p:cNvPr id="13" name="Shape 10"/>
          <p:cNvSpPr/>
          <p:nvPr/>
        </p:nvSpPr>
        <p:spPr>
          <a:xfrm>
            <a:off x="5029200" y="960120"/>
            <a:ext cx="3657600" cy="3566160"/>
          </a:xfrm>
          <a:prstGeom prst="roundRect">
            <a:avLst>
              <a:gd name="adj" fmla="val 2051"/>
            </a:avLst>
          </a:prstGeom>
          <a:solidFill>
            <a:srgbClr val="FEF3C7"/>
          </a:solidFill>
          <a:ln w="9525">
            <a:solidFill>
              <a:srgbClr val="FDE68A"/>
            </a:solidFill>
            <a:prstDash val="solid"/>
          </a:ln>
        </p:spPr>
      </p:sp>
      <p:sp>
        <p:nvSpPr>
          <p:cNvPr id="14" name="Text 11"/>
          <p:cNvSpPr txBox="1"/>
          <p:nvPr/>
        </p:nvSpPr>
        <p:spPr>
          <a:xfrm>
            <a:off x="5212080" y="1024128"/>
            <a:ext cx="3291840" cy="274320"/>
          </a:xfrm>
          <a:prstGeom prst="rect">
            <a:avLst/>
          </a:prstGeom>
          <a:noFill/>
          <a:ln/>
        </p:spPr>
        <p:txBody>
          <a:bodyPr wrap="square" lIns="0" tIns="0" rIns="0" bIns="0" rtlCol="0" anchor="t"/>
          <a:lstStyle/>
          <a:p>
            <a:pPr indent="0" marL="0">
              <a:buNone/>
            </a:pPr>
            <a:r>
              <a:rPr lang="en-US" sz="1300" b="1" dirty="0">
                <a:solidFill>
                  <a:srgbClr val="B45309"/>
                </a:solidFill>
              </a:rPr>
              <a:t>Pending / not yet done</a:t>
            </a:r>
            <a:endParaRPr lang="en-US" sz="1300" dirty="0"/>
          </a:p>
        </p:txBody>
      </p:sp>
      <p:sp>
        <p:nvSpPr>
          <p:cNvPr id="15" name="Text 12"/>
          <p:cNvSpPr txBox="1"/>
          <p:nvPr/>
        </p:nvSpPr>
        <p:spPr>
          <a:xfrm>
            <a:off x="5212080" y="1371600"/>
            <a:ext cx="3337560" cy="301752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chemeClr val="tx1"/>
                </a:solidFill>
              </a:rPr>
              <a:t>Real iPhone Web Push delivery — pending physical iPhone test</a:t>
            </a:r>
            <a:endParaRPr lang="en-US" sz="1150" dirty="0"/>
          </a:p>
          <a:p>
            <a:pPr marL="177800" indent="-177800">
              <a:spcAft>
                <a:spcPts val="500"/>
              </a:spcAft>
              <a:buSzPct val="100000"/>
              <a:buChar char="•"/>
            </a:pPr>
            <a:r>
              <a:rPr lang="en-US" sz="1150" dirty="0">
                <a:solidFill>
                  <a:schemeClr val="tx1"/>
                </a:solidFill>
              </a:rPr>
              <a:t>Physical Android device QA — pending</a:t>
            </a:r>
            <a:endParaRPr lang="en-US" sz="1150" dirty="0"/>
          </a:p>
          <a:p>
            <a:pPr marL="177800" indent="-177800">
              <a:spcAft>
                <a:spcPts val="500"/>
              </a:spcAft>
              <a:buSzPct val="100000"/>
              <a:buChar char="•"/>
            </a:pPr>
            <a:r>
              <a:rPr lang="en-US" sz="1150" dirty="0">
                <a:solidFill>
                  <a:schemeClr val="tx1"/>
                </a:solidFill>
              </a:rPr>
              <a:t>Formal load testing — not done</a:t>
            </a:r>
            <a:endParaRPr lang="en-US" sz="1150" dirty="0"/>
          </a:p>
          <a:p>
            <a:pPr marL="177800" indent="-177800">
              <a:spcAft>
                <a:spcPts val="500"/>
              </a:spcAft>
              <a:buSzPct val="100000"/>
              <a:buChar char="•"/>
            </a:pPr>
            <a:r>
              <a:rPr lang="en-US" sz="1150" dirty="0">
                <a:solidFill>
                  <a:schemeClr val="tx1"/>
                </a:solidFill>
              </a:rPr>
              <a:t>Console always-on-top on a real desktop OS — not verified headlessly</a:t>
            </a:r>
            <a:endParaRPr lang="en-US" sz="1150" dirty="0"/>
          </a:p>
          <a:p>
            <a:pPr marL="177800" indent="-177800">
              <a:spcAft>
                <a:spcPts val="500"/>
              </a:spcAft>
              <a:buSzPct val="100000"/>
              <a:buChar char="•"/>
            </a:pPr>
            <a:r>
              <a:rPr lang="en-US" sz="1150" dirty="0">
                <a:solidFill>
                  <a:schemeClr val="tx1"/>
                </a:solidFill>
              </a:rPr>
              <a:t>Post-deploy DB counts recorded manually by the owner (read-only SQL)</a:t>
            </a:r>
            <a:endParaRPr lang="en-US" sz="11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822960"/>
          </a:xfrm>
          <a:prstGeom prst="rect">
            <a:avLst/>
          </a:prstGeom>
          <a:noFill/>
          <a:ln/>
        </p:spPr>
        <p:txBody>
          <a:bodyPr wrap="square" rtlCol="0" anchor="ctr"/>
          <a:lstStyle/>
          <a:p>
            <a:pPr indent="0" marL="0">
              <a:buNone/>
            </a:pPr>
            <a:r>
              <a:rPr lang="en-US" sz="3400" b="1" dirty="0">
                <a:solidFill>
                  <a:schemeClr val="bg1"/>
                </a:solidFill>
              </a:rPr>
              <a:t>Capacity, cost and scaling</a:t>
            </a:r>
            <a:endParaRPr lang="en-US" sz="3400" dirty="0"/>
          </a:p>
        </p:txBody>
      </p:sp>
      <p:sp>
        <p:nvSpPr>
          <p:cNvPr id="3" name="Text 0"/>
          <p:cNvSpPr/>
          <p:nvPr>
            <p:ph idx="101" type="body" hasCustomPrompt="1"/>
          </p:nvPr>
        </p:nvSpPr>
        <p:spPr>
          <a:xfrm>
            <a:off x="548640" y="2651760"/>
            <a:ext cx="8046720" cy="731520"/>
          </a:xfrm>
          <a:prstGeom prst="rect">
            <a:avLst/>
          </a:prstGeom>
          <a:noFill/>
          <a:ln/>
        </p:spPr>
        <p:txBody>
          <a:bodyPr wrap="square" rtlCol="0" anchor="t"/>
          <a:lstStyle/>
          <a:p>
            <a:pPr indent="0" marL="0">
              <a:buNone/>
            </a:pPr>
            <a:r>
              <a:rPr lang="en-US" sz="1600" dirty="0">
                <a:solidFill>
                  <a:srgbClr val="AECDEB"/>
                </a:solidFill>
              </a:rPr>
              <a:t>Answering “How big can it run for free?” — with every number labelled</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What is actually free today?</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920240"/>
                <a:gridCol w="1371600"/>
                <a:gridCol w="493776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Service</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Plan</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Key free limits (PROVIDER LIMIT)</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r>
              <a:tr h="0">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Render (API + Socket.io)</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Free web · Hobby</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0.1 CPU · 512 MB · 1 instance · sleeps after 15 min (≈1 min wake) · 5 GB outbound/month</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Neon (PostgreSQL)</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Free</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100 CU-h/month (≈400 h at 0.25 CU) · 1 GB storage · 5 GB egress · sleeps after 5 min</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Cloudflare Pages</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Free</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500 builds/month · no published static bandwidth cap</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Firebase Cloud Messaging</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No-cost</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600k messages/min per project</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Web Push (VAPID)</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No fee</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iPhone/iPad Safari Home Screen PWA via Apple's push service; iOS/iPadOS 16.4+ and user permission</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Resend</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Free</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100 emails/day · 3,000/month</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GitHub</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Free (public repo)</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Standard Actions runners free for public repos</a:t>
                      </a:r>
                      <a:endParaRPr lang="en-US" sz="11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5" name="Text 1"/>
          <p:cNvSpPr txBox="1"/>
          <p:nvPr/>
        </p:nvSpPr>
        <p:spPr>
          <a:xfrm>
            <a:off x="457200" y="3840480"/>
            <a:ext cx="8229600" cy="228600"/>
          </a:xfrm>
          <a:prstGeom prst="rect">
            <a:avLst/>
          </a:prstGeom>
          <a:noFill/>
          <a:ln/>
        </p:spPr>
        <p:txBody>
          <a:bodyPr wrap="square" lIns="0" tIns="0" rIns="0" bIns="0" rtlCol="0" anchor="t"/>
          <a:lstStyle/>
          <a:p>
            <a:pPr indent="0" marL="0">
              <a:buNone/>
            </a:pPr>
            <a:r>
              <a:rPr lang="en-US" sz="950" dirty="0">
                <a:solidFill>
                  <a:srgbClr val="64748B"/>
                </a:solidFill>
              </a:rPr>
              <a:t>Domain (tdastudbook.au): separate registration/renewal cost — not verified.   Quotas checked on: 2026-10-08 · production state: 2026-10-09</a:t>
            </a:r>
            <a:endParaRPr lang="en-US" sz="950" dirty="0"/>
          </a:p>
        </p:txBody>
      </p:sp>
      <p:sp>
        <p:nvSpPr>
          <p:cNvPr id="6" name="Shape 2"/>
          <p:cNvSpPr/>
          <p:nvPr/>
        </p:nvSpPr>
        <p:spPr>
          <a:xfrm>
            <a:off x="457200" y="4114800"/>
            <a:ext cx="8229600" cy="548640"/>
          </a:xfrm>
          <a:prstGeom prst="roundRect">
            <a:avLst>
              <a:gd name="adj" fmla="val 13333"/>
            </a:avLst>
          </a:prstGeom>
          <a:solidFill>
            <a:srgbClr val="EEF5FC"/>
          </a:solidFill>
          <a:ln w="9525">
            <a:solidFill>
              <a:srgbClr val="D7E7F6"/>
            </a:solidFill>
            <a:prstDash val="solid"/>
          </a:ln>
        </p:spPr>
      </p:sp>
      <p:sp>
        <p:nvSpPr>
          <p:cNvPr id="7" name="Text 3"/>
          <p:cNvSpPr txBox="1"/>
          <p:nvPr/>
        </p:nvSpPr>
        <p:spPr>
          <a:xfrm>
            <a:off x="594360" y="4142232"/>
            <a:ext cx="7955280" cy="502920"/>
          </a:xfrm>
          <a:prstGeom prst="rect">
            <a:avLst/>
          </a:prstGeom>
          <a:noFill/>
          <a:ln/>
        </p:spPr>
        <p:txBody>
          <a:bodyPr wrap="square" lIns="0" tIns="0" rIns="0" bIns="0" rtlCol="0" anchor="ctr"/>
          <a:lstStyle/>
          <a:p>
            <a:pPr indent="0" marL="0">
              <a:buNone/>
            </a:pPr>
            <a:r>
              <a:rPr lang="en-US" sz="1150" b="1" dirty="0">
                <a:solidFill>
                  <a:schemeClr val="tx1"/>
                </a:solidFill>
              </a:rPr>
              <a:t>Registered ≠ daily active ≠ waiting now ≠ open sockets ≠ requests/second. </a:t>
            </a:r>
            <a:pPr indent="0" marL="0">
              <a:buNone/>
            </a:pPr>
            <a:r>
              <a:rPr lang="en-US" sz="1150" dirty="0">
                <a:solidFill>
                  <a:schemeClr val="tx1"/>
                </a:solidFill>
              </a:rPr>
              <a:t>Infrastructure is sized by concurrency and event rate, not by accounts.</a:t>
            </a:r>
            <a:endParaRPr lang="en-US" sz="11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Capacity: one queue</a:t>
            </a:r>
            <a:endParaRPr lang="en-US" sz="2400" dirty="0"/>
          </a:p>
        </p:txBody>
      </p:sp>
      <p:graphicFrame>
        <p:nvGraphicFramePr>
          <p:cNvPr id="4" name="Chart 0" descr=""/>
          <p:cNvGraphicFramePr/>
          <p:nvPr/>
        </p:nvGraphicFramePr>
        <p:xfrm>
          <a:off x="365760" y="91440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3703320"/>
            <a:ext cx="4114800" cy="274320"/>
          </a:xfrm>
          <a:prstGeom prst="rect">
            <a:avLst/>
          </a:prstGeom>
          <a:noFill/>
          <a:ln/>
        </p:spPr>
        <p:txBody>
          <a:bodyPr wrap="square" lIns="0" tIns="0" rIns="0" bIns="0" rtlCol="0" anchor="t"/>
          <a:lstStyle/>
          <a:p>
            <a:pPr indent="0" marL="0">
              <a:buNone/>
            </a:pPr>
            <a:r>
              <a:rPr lang="en-US" sz="1000" dirty="0">
                <a:solidFill>
                  <a:srgbClr val="475569"/>
                </a:solidFill>
              </a:rPr>
              <a:t>ETA recompute per event (local): 16 ms · 103 ms · 454 ms</a:t>
            </a:r>
            <a:endParaRPr lang="en-US" sz="1000" dirty="0"/>
          </a:p>
        </p:txBody>
      </p:sp>
      <p:sp>
        <p:nvSpPr>
          <p:cNvPr id="6" name="Text 2"/>
          <p:cNvSpPr txBox="1"/>
          <p:nvPr/>
        </p:nvSpPr>
        <p:spPr>
          <a:xfrm>
            <a:off x="457200" y="3977640"/>
            <a:ext cx="4114800" cy="411480"/>
          </a:xfrm>
          <a:prstGeom prst="rect">
            <a:avLst/>
          </a:prstGeom>
          <a:noFill/>
          <a:ln/>
        </p:spPr>
        <p:txBody>
          <a:bodyPr wrap="square" lIns="0" tIns="0" rIns="0" bIns="0" rtlCol="0" anchor="t"/>
          <a:lstStyle/>
          <a:p>
            <a:pPr indent="0" marL="0">
              <a:buNone/>
            </a:pPr>
            <a:r>
              <a:rPr lang="en-US" sz="1000" dirty="0">
                <a:solidFill>
                  <a:srgbClr val="15803D"/>
                </a:solidFill>
              </a:rPr>
              <a:t>1 Serve next, 200 waiting: ~400 → 4 dashboard requests · 0 visitor re-reads (MEASURED, local)</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846320" y="960120"/>
          <a:ext cx="3840480" cy="914400"/>
        </p:xfrm>
        <a:graphic>
          <a:graphicData uri="http://schemas.openxmlformats.org/drawingml/2006/table">
            <a:tbl>
              <a:tblPr/>
              <a:tblGrid>
                <a:gridCol w="1417320"/>
                <a:gridCol w="2423160"/>
              </a:tblGrid>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People waiting in one queue</a:t>
                      </a:r>
                      <a:endParaRPr lang="en-US" sz="10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r>
              <a:tr h="0">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Application limit</a:t>
                      </a:r>
                      <a:endParaRPr lang="en-US" sz="10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None (HARD LIMIT: 32-bit token number)</a:t>
                      </a:r>
                      <a:endParaRPr lang="en-US" sz="10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Comfortable</a:t>
                      </a:r>
                      <a:endParaRPr lang="en-US" sz="10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~300 – 500 on free CPU (ESTIMATE)</a:t>
                      </a:r>
                      <a:endParaRPr lang="en-US" sz="10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Caution</a:t>
                      </a:r>
                      <a:endParaRPr lang="en-US" sz="10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&gt; 500, or many open staff tabs (ESTIMATE)</a:t>
                      </a:r>
                      <a:endParaRPr lang="en-US" sz="10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Before the fixes</a:t>
                      </a:r>
                      <a:endParaRPr lang="en-US" sz="10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 ~50 (ESTIMATE)</a:t>
                      </a:r>
                      <a:endParaRPr lang="en-US" sz="10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Load-tested</a:t>
                      </a:r>
                      <a:endParaRPr lang="en-US" sz="10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NOT LOAD-TEST VALIDATED</a:t>
                      </a:r>
                      <a:endParaRPr lang="en-US" sz="105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8" name="Text 3"/>
          <p:cNvSpPr txBox="1"/>
          <p:nvPr/>
        </p:nvSpPr>
        <p:spPr>
          <a:xfrm>
            <a:off x="4846320" y="3291840"/>
            <a:ext cx="3840480" cy="411480"/>
          </a:xfrm>
          <a:prstGeom prst="rect">
            <a:avLst/>
          </a:prstGeom>
          <a:noFill/>
          <a:ln/>
        </p:spPr>
        <p:txBody>
          <a:bodyPr wrap="square" lIns="0" tIns="0" rIns="0" bIns="0" rtlCol="0" anchor="t"/>
          <a:lstStyle/>
          <a:p>
            <a:pPr indent="0" marL="0">
              <a:buNone/>
            </a:pPr>
            <a:r>
              <a:rPr lang="en-US" sz="1050" dirty="0">
                <a:solidFill>
                  <a:srgbClr val="475569"/>
                </a:solidFill>
              </a:rPr>
              <a:t>Counters per queue: no limit; comfortable 1–10, caution 10–25 (ESTIMATE).</a:t>
            </a:r>
            <a:endParaRPr lang="en-US" sz="10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Capacity at every level</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463040"/>
                <a:gridCol w="2286000"/>
                <a:gridCol w="2651760"/>
                <a:gridCol w="182880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Level</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Application rule (HARD LIMIT)</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Comfortable (ESTIMATE)</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Upgrade trigger</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r>
              <a:tr h="56692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One counter</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One operator · one person at a time</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~12 visits/hour (5-min service)</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6692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One queue</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No waiting limit</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~300–500 waiting · 1–10 counters</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&gt; 500 waiting · &gt; 25 counters</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6692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One organization</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 live queue per Admin; no Admin limit</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1–2 queues · ~200 visits/day</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 5 busy queues</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68580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Whole platform</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No organization limit</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 25,000 visits/month · ~5 small organizations</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Neon free quotas exhausted</a:t>
                      </a:r>
                      <a:endParaRPr lang="en-US" sz="12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5" name="Text 1"/>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000" dirty="0">
                <a:solidFill>
                  <a:srgbClr val="64748B"/>
                </a:solidFill>
              </a:rPr>
              <a:t>Assumptions: 4 queue events per visit, ~10 waiting, 2 staff tabs per queue, 8 h/day, 22 days/month. NOT LOAD-TEST VALIDATED.</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Current bottlenecks, in order</a:t>
            </a:r>
            <a:endParaRPr lang="en-US" sz="2400" dirty="0"/>
          </a:p>
        </p:txBody>
      </p:sp>
      <p:sp>
        <p:nvSpPr>
          <p:cNvPr id="4" name="Shape 1"/>
          <p:cNvSpPr/>
          <p:nvPr/>
        </p:nvSpPr>
        <p:spPr>
          <a:xfrm>
            <a:off x="457200" y="1014984"/>
            <a:ext cx="384048" cy="384048"/>
          </a:xfrm>
          <a:prstGeom prst="ellipse">
            <a:avLst/>
          </a:prstGeom>
          <a:solidFill>
            <a:srgbClr val="15803D"/>
          </a:solidFill>
          <a:ln w="12700">
            <a:solidFill>
              <a:srgbClr val="15803D"/>
            </a:solidFill>
            <a:prstDash val="solid"/>
          </a:ln>
        </p:spPr>
      </p:sp>
      <p:sp>
        <p:nvSpPr>
          <p:cNvPr id="5" name="Text 2"/>
          <p:cNvSpPr txBox="1"/>
          <p:nvPr/>
        </p:nvSpPr>
        <p:spPr>
          <a:xfrm>
            <a:off x="457200" y="1014984"/>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6" name="Text 3"/>
          <p:cNvSpPr txBox="1"/>
          <p:nvPr/>
        </p:nvSpPr>
        <p:spPr>
          <a:xfrm>
            <a:off x="1005840" y="960120"/>
            <a:ext cx="7680960" cy="548640"/>
          </a:xfrm>
          <a:prstGeom prst="rect">
            <a:avLst/>
          </a:prstGeom>
          <a:noFill/>
          <a:ln/>
        </p:spPr>
        <p:txBody>
          <a:bodyPr wrap="square" lIns="0" tIns="0" rIns="0" bIns="0" rtlCol="0" anchor="t"/>
          <a:lstStyle/>
          <a:p>
            <a:pPr indent="0" marL="0">
              <a:buNone/>
            </a:pPr>
            <a:r>
              <a:rPr lang="en-US" sz="1250" b="1" dirty="0">
                <a:solidFill>
                  <a:schemeClr val="tx1"/>
                </a:solidFill>
              </a:rPr>
              <a:t>Fixed and live (9 Oct 2026)</a:t>
            </a:r>
            <a:endParaRPr lang="en-US" sz="1200" dirty="0"/>
          </a:p>
          <a:p>
            <a:pPr indent="0" marL="0">
              <a:buNone/>
            </a:pPr>
            <a:r>
              <a:rPr lang="en-US" sz="1050" dirty="0">
                <a:solidFill>
                  <a:srgbClr val="475569"/>
                </a:solidFill>
              </a:rPr>
              <a:t>Dashboard refetch storm · iPhone portal re-reads · shared rate-limit bucket</a:t>
            </a:r>
            <a:endParaRPr lang="en-US" sz="1200" dirty="0"/>
          </a:p>
        </p:txBody>
      </p:sp>
      <p:sp>
        <p:nvSpPr>
          <p:cNvPr id="7" name="Shape 4"/>
          <p:cNvSpPr/>
          <p:nvPr/>
        </p:nvSpPr>
        <p:spPr>
          <a:xfrm>
            <a:off x="457200" y="1618488"/>
            <a:ext cx="384048" cy="384048"/>
          </a:xfrm>
          <a:prstGeom prst="ellipse">
            <a:avLst/>
          </a:prstGeom>
          <a:solidFill>
            <a:srgbClr val="B91C1C"/>
          </a:solidFill>
          <a:ln w="12700">
            <a:solidFill>
              <a:srgbClr val="B91C1C"/>
            </a:solidFill>
            <a:prstDash val="solid"/>
          </a:ln>
        </p:spPr>
      </p:sp>
      <p:sp>
        <p:nvSpPr>
          <p:cNvPr id="8" name="Text 5"/>
          <p:cNvSpPr txBox="1"/>
          <p:nvPr/>
        </p:nvSpPr>
        <p:spPr>
          <a:xfrm>
            <a:off x="457200" y="161848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6"/>
          <p:cNvSpPr txBox="1"/>
          <p:nvPr/>
        </p:nvSpPr>
        <p:spPr>
          <a:xfrm>
            <a:off x="1005840" y="1563624"/>
            <a:ext cx="7680960" cy="548640"/>
          </a:xfrm>
          <a:prstGeom prst="rect">
            <a:avLst/>
          </a:prstGeom>
          <a:noFill/>
          <a:ln/>
        </p:spPr>
        <p:txBody>
          <a:bodyPr wrap="square" lIns="0" tIns="0" rIns="0" bIns="0" rtlCol="0" anchor="t"/>
          <a:lstStyle/>
          <a:p>
            <a:pPr indent="0" marL="0">
              <a:buNone/>
            </a:pPr>
            <a:r>
              <a:rPr lang="en-US" sz="1250" b="1" dirty="0">
                <a:solidFill>
                  <a:schemeClr val="tx1"/>
                </a:solidFill>
              </a:rPr>
              <a:t>Neon free quotas: 5 GB transfer + 100 CU-h/month</a:t>
            </a:r>
            <a:endParaRPr lang="en-US" sz="1200" dirty="0"/>
          </a:p>
          <a:p>
            <a:pPr indent="0" marL="0">
              <a:buNone/>
            </a:pPr>
            <a:r>
              <a:rPr lang="en-US" sz="1050" dirty="0">
                <a:solidFill>
                  <a:srgbClr val="475569"/>
                </a:solidFill>
              </a:rPr>
              <a:t>First likely limit; the reminder job keeps the DB awake while the backend is</a:t>
            </a:r>
            <a:endParaRPr lang="en-US" sz="1200" dirty="0"/>
          </a:p>
        </p:txBody>
      </p:sp>
      <p:sp>
        <p:nvSpPr>
          <p:cNvPr id="10" name="Shape 7"/>
          <p:cNvSpPr/>
          <p:nvPr/>
        </p:nvSpPr>
        <p:spPr>
          <a:xfrm>
            <a:off x="457200" y="2221992"/>
            <a:ext cx="384048" cy="384048"/>
          </a:xfrm>
          <a:prstGeom prst="ellipse">
            <a:avLst/>
          </a:prstGeom>
          <a:solidFill>
            <a:srgbClr val="B45309"/>
          </a:solidFill>
          <a:ln w="12700">
            <a:solidFill>
              <a:srgbClr val="B45309"/>
            </a:solidFill>
            <a:prstDash val="solid"/>
          </a:ln>
        </p:spPr>
      </p:sp>
      <p:sp>
        <p:nvSpPr>
          <p:cNvPr id="11" name="Text 8"/>
          <p:cNvSpPr txBox="1"/>
          <p:nvPr/>
        </p:nvSpPr>
        <p:spPr>
          <a:xfrm>
            <a:off x="457200" y="22219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9"/>
          <p:cNvSpPr txBox="1"/>
          <p:nvPr/>
        </p:nvSpPr>
        <p:spPr>
          <a:xfrm>
            <a:off x="1005840" y="2167128"/>
            <a:ext cx="7680960" cy="548640"/>
          </a:xfrm>
          <a:prstGeom prst="rect">
            <a:avLst/>
          </a:prstGeom>
          <a:noFill/>
          <a:ln/>
        </p:spPr>
        <p:txBody>
          <a:bodyPr wrap="square" lIns="0" tIns="0" rIns="0" bIns="0" rtlCol="0" anchor="t"/>
          <a:lstStyle/>
          <a:p>
            <a:pPr indent="0" marL="0">
              <a:buNone/>
            </a:pPr>
            <a:r>
              <a:rPr lang="en-US" sz="1250" b="1" dirty="0">
                <a:solidFill>
                  <a:schemeClr val="tx1"/>
                </a:solidFill>
              </a:rPr>
              <a:t>Render Free: 0.1 CPU, ~1-minute cold start</a:t>
            </a:r>
            <a:endParaRPr lang="en-US" sz="1200" dirty="0"/>
          </a:p>
          <a:p>
            <a:pPr indent="0" marL="0">
              <a:buNone/>
            </a:pPr>
            <a:r>
              <a:rPr lang="en-US" sz="1050" dirty="0">
                <a:solidFill>
                  <a:srgbClr val="475569"/>
                </a:solidFill>
              </a:rPr>
              <a:t>Per-event ETA work grows with queue length</a:t>
            </a:r>
            <a:endParaRPr lang="en-US" sz="1200" dirty="0"/>
          </a:p>
        </p:txBody>
      </p:sp>
      <p:sp>
        <p:nvSpPr>
          <p:cNvPr id="13" name="Shape 10"/>
          <p:cNvSpPr/>
          <p:nvPr/>
        </p:nvSpPr>
        <p:spPr>
          <a:xfrm>
            <a:off x="457200" y="2825496"/>
            <a:ext cx="384048" cy="384048"/>
          </a:xfrm>
          <a:prstGeom prst="ellipse">
            <a:avLst/>
          </a:prstGeom>
          <a:solidFill>
            <a:srgbClr val="B45309"/>
          </a:solidFill>
          <a:ln w="12700">
            <a:solidFill>
              <a:srgbClr val="B45309"/>
            </a:solidFill>
            <a:prstDash val="solid"/>
          </a:ln>
        </p:spPr>
      </p:sp>
      <p:sp>
        <p:nvSpPr>
          <p:cNvPr id="14" name="Text 11"/>
          <p:cNvSpPr txBox="1"/>
          <p:nvPr/>
        </p:nvSpPr>
        <p:spPr>
          <a:xfrm>
            <a:off x="457200" y="282549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Text 12"/>
          <p:cNvSpPr txBox="1"/>
          <p:nvPr/>
        </p:nvSpPr>
        <p:spPr>
          <a:xfrm>
            <a:off x="1005840" y="2770632"/>
            <a:ext cx="7680960" cy="548640"/>
          </a:xfrm>
          <a:prstGeom prst="rect">
            <a:avLst/>
          </a:prstGeom>
          <a:noFill/>
          <a:ln/>
        </p:spPr>
        <p:txBody>
          <a:bodyPr wrap="square" lIns="0" tIns="0" rIns="0" bIns="0" rtlCol="0" anchor="t"/>
          <a:lstStyle/>
          <a:p>
            <a:pPr indent="0" marL="0">
              <a:buNone/>
            </a:pPr>
            <a:r>
              <a:rPr lang="en-US" sz="1250" b="1" dirty="0">
                <a:solidFill>
                  <a:schemeClr val="tx1"/>
                </a:solidFill>
              </a:rPr>
              <a:t>Render outbound: 5 GB/month</a:t>
            </a:r>
            <a:endParaRPr lang="en-US" sz="1200" dirty="0"/>
          </a:p>
          <a:p>
            <a:pPr indent="0" marL="0">
              <a:buNone/>
            </a:pPr>
            <a:r>
              <a:rPr lang="en-US" sz="1050" dirty="0">
                <a:solidFill>
                  <a:srgbClr val="475569"/>
                </a:solidFill>
              </a:rPr>
              <a:t>Socket updates grow with waiting × open staff tabs</a:t>
            </a:r>
            <a:endParaRPr lang="en-US" sz="1200" dirty="0"/>
          </a:p>
        </p:txBody>
      </p:sp>
      <p:sp>
        <p:nvSpPr>
          <p:cNvPr id="16" name="Shape 13"/>
          <p:cNvSpPr/>
          <p:nvPr/>
        </p:nvSpPr>
        <p:spPr>
          <a:xfrm>
            <a:off x="457200" y="3429000"/>
            <a:ext cx="384048" cy="384048"/>
          </a:xfrm>
          <a:prstGeom prst="ellipse">
            <a:avLst/>
          </a:prstGeom>
          <a:solidFill>
            <a:srgbClr val="475569"/>
          </a:solidFill>
          <a:ln w="12700">
            <a:solidFill>
              <a:srgbClr val="475569"/>
            </a:solidFill>
            <a:prstDash val="solid"/>
          </a:ln>
        </p:spPr>
      </p:sp>
      <p:sp>
        <p:nvSpPr>
          <p:cNvPr id="17" name="Text 14"/>
          <p:cNvSpPr txBox="1"/>
          <p:nvPr/>
        </p:nvSpPr>
        <p:spPr>
          <a:xfrm>
            <a:off x="457200" y="34290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8" name="Text 15"/>
          <p:cNvSpPr txBox="1"/>
          <p:nvPr/>
        </p:nvSpPr>
        <p:spPr>
          <a:xfrm>
            <a:off x="1005840" y="3374136"/>
            <a:ext cx="7680960" cy="548640"/>
          </a:xfrm>
          <a:prstGeom prst="rect">
            <a:avLst/>
          </a:prstGeom>
          <a:noFill/>
          <a:ln/>
        </p:spPr>
        <p:txBody>
          <a:bodyPr wrap="square" lIns="0" tIns="0" rIns="0" bIns="0" rtlCol="0" anchor="t"/>
          <a:lstStyle/>
          <a:p>
            <a:pPr indent="0" marL="0">
              <a:buNone/>
            </a:pPr>
            <a:r>
              <a:rPr lang="en-US" sz="1250" b="1" dirty="0">
                <a:solidFill>
                  <a:schemeClr val="tx1"/>
                </a:solidFill>
              </a:rPr>
              <a:t>Resend: 100 emails/day</a:t>
            </a:r>
            <a:endParaRPr lang="en-US" sz="1200" dirty="0"/>
          </a:p>
          <a:p>
            <a:pPr indent="0" marL="0">
              <a:buNone/>
            </a:pPr>
            <a:r>
              <a:rPr lang="en-US" sz="1050" dirty="0">
                <a:solidFill>
                  <a:srgbClr val="475569"/>
                </a:solidFill>
              </a:rPr>
              <a:t>Only if queues verify every visitor by email</a:t>
            </a:r>
            <a:endParaRPr lang="en-US" sz="1200" dirty="0"/>
          </a:p>
        </p:txBody>
      </p:sp>
      <p:sp>
        <p:nvSpPr>
          <p:cNvPr id="19" name="Shape 16"/>
          <p:cNvSpPr/>
          <p:nvPr/>
        </p:nvSpPr>
        <p:spPr>
          <a:xfrm>
            <a:off x="457200" y="4032504"/>
            <a:ext cx="384048" cy="384048"/>
          </a:xfrm>
          <a:prstGeom prst="ellipse">
            <a:avLst/>
          </a:prstGeom>
          <a:solidFill>
            <a:srgbClr val="15803D"/>
          </a:solidFill>
          <a:ln w="12700">
            <a:solidFill>
              <a:srgbClr val="15803D"/>
            </a:solidFill>
            <a:prstDash val="solid"/>
          </a:ln>
        </p:spPr>
      </p:sp>
      <p:sp>
        <p:nvSpPr>
          <p:cNvPr id="20" name="Text 17"/>
          <p:cNvSpPr txBox="1"/>
          <p:nvPr/>
        </p:nvSpPr>
        <p:spPr>
          <a:xfrm>
            <a:off x="457200" y="4032504"/>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1" name="Text 18"/>
          <p:cNvSpPr txBox="1"/>
          <p:nvPr/>
        </p:nvSpPr>
        <p:spPr>
          <a:xfrm>
            <a:off x="1005840" y="3977640"/>
            <a:ext cx="7680960" cy="548640"/>
          </a:xfrm>
          <a:prstGeom prst="rect">
            <a:avLst/>
          </a:prstGeom>
          <a:noFill/>
          <a:ln/>
        </p:spPr>
        <p:txBody>
          <a:bodyPr wrap="square" lIns="0" tIns="0" rIns="0" bIns="0" rtlCol="0" anchor="t"/>
          <a:lstStyle/>
          <a:p>
            <a:pPr indent="0" marL="0">
              <a:buNone/>
            </a:pPr>
            <a:r>
              <a:rPr lang="en-US" sz="1250" b="1" dirty="0">
                <a:solidFill>
                  <a:schemeClr val="tx1"/>
                </a:solidFill>
              </a:rPr>
              <a:t>Not limiting now: Cloudflare Pages, FCM, Web Push, GitHub Actions</a:t>
            </a:r>
            <a:endParaRPr lang="en-US" sz="1200" dirty="0"/>
          </a:p>
          <a:p>
            <a:pPr indent="0" marL="0">
              <a:buNone/>
            </a:pPr>
            <a:r>
              <a:rPr lang="en-US" sz="1050" dirty="0">
                <a:solidFill>
                  <a:srgbClr val="475569"/>
                </a:solidFill>
              </a:rPr>
              <a:t>Free or no published cap at this scale</a:t>
            </a:r>
            <a:endParaRPr lang="en-US" sz="1200" dirty="0"/>
          </a:p>
        </p:txBody>
      </p:sp>
      <p:sp>
        <p:nvSpPr>
          <p:cNvPr id="22" name="Text 19"/>
          <p:cNvSpPr txBox="1"/>
          <p:nvPr/>
        </p:nvSpPr>
        <p:spPr>
          <a:xfrm>
            <a:off x="457200" y="4572000"/>
            <a:ext cx="8229600" cy="201168"/>
          </a:xfrm>
          <a:prstGeom prst="rect">
            <a:avLst/>
          </a:prstGeom>
          <a:noFill/>
          <a:ln/>
        </p:spPr>
        <p:txBody>
          <a:bodyPr wrap="square" lIns="0" tIns="0" rIns="0" bIns="0" rtlCol="0" anchor="t"/>
          <a:lstStyle/>
          <a:p>
            <a:pPr indent="0" marL="0">
              <a:buNone/>
            </a:pPr>
            <a:r>
              <a:rPr lang="en-US" sz="900" dirty="0">
                <a:solidFill>
                  <a:srgbClr val="64748B"/>
                </a:solidFill>
              </a:rPr>
              <a:t>ESTIMATE from measured payloads + published quotas. Quotas checked on: 2026-10-08 · production state: 2026-10-09</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When do we need to pay?</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691640"/>
                <a:gridCol w="1234440"/>
                <a:gridCol w="1874520"/>
                <a:gridCol w="1965960"/>
                <a:gridCol w="14630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When this happens</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Service</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Upgrade to</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Approx. cost</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C2B4B"/>
                    </a:solidFill>
                  </a:tcPr>
                </a:tc>
              </a:tr>
              <a:tr h="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Refetch storm / shared limits</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Code</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Done — live 9 Oct 2026</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Batched refetch · per-client limits</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Neon egress or hours run out</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Neon</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Launch (usage-based)</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500 GB egress, no hour cap</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 $11–20/mo*</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Cold starts / CPU busy</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Render</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Starter 0.5 CPU</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Always on, 5× CPU</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$7/mo†</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Outbound &gt; 5 GB</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Render workspace</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Payment method or Pro</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Avoid suspension; 25 GB</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$0.15/GB or $25/mo</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Sustained load</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Render</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Standard 1 CPU · 2 GB</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More compute, 1 instance</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$25/mo†</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&gt; 100 emails/day</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Resend</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Pro</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50k/month, no daily cap</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$20/mo</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Need &gt; 1 instance</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Render + Redis</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Replicas + Socket.io adapter</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Events reach every instance</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Size after load test</a:t>
                      </a:r>
                      <a:endParaRPr lang="en-US" sz="1100" dirty="0">
                        <a:latin typeface="Calibri" charset="0"/>
                        <a:ea typeface="Calibri" charset="0"/>
                        <a:cs typeface="Calibri" charset="0"/>
                      </a:endParaRPr>
                    </a:p>
                  </a:txBody>
                  <a:tcPr marL="63500" marR="635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5" name="Text 1"/>
          <p:cNvSpPr txBox="1"/>
          <p:nvPr/>
        </p:nvSpPr>
        <p:spPr>
          <a:xfrm>
            <a:off x="457200" y="4297680"/>
            <a:ext cx="8229600" cy="411480"/>
          </a:xfrm>
          <a:prstGeom prst="rect">
            <a:avLst/>
          </a:prstGeom>
          <a:noFill/>
          <a:ln/>
        </p:spPr>
        <p:txBody>
          <a:bodyPr wrap="square" lIns="0" tIns="0" rIns="0" bIns="0" rtlCol="0" anchor="t"/>
          <a:lstStyle/>
          <a:p>
            <a:pPr indent="0" marL="0">
              <a:buNone/>
            </a:pPr>
            <a:r>
              <a:rPr lang="en-US" sz="900" dirty="0">
                <a:solidFill>
                  <a:srgbClr val="64748B"/>
                </a:solidFill>
              </a:rPr>
              <a:t>* 0.25 CU × 400–730 h × $0.106/CU-h.  † Render pricing page is dynamic; figures corroborated by third-party listings — confirm in dashboard.  Quotas checked on: 2026-10-08 · production state: 2026-10-09</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From one backend to distributed realtime</a:t>
            </a:r>
            <a:endParaRPr lang="en-US" sz="2400" dirty="0"/>
          </a:p>
        </p:txBody>
      </p:sp>
      <p:sp>
        <p:nvSpPr>
          <p:cNvPr id="4" name="Text 1"/>
          <p:cNvSpPr txBox="1"/>
          <p:nvPr/>
        </p:nvSpPr>
        <p:spPr>
          <a:xfrm>
            <a:off x="457200" y="960120"/>
            <a:ext cx="3474720" cy="274320"/>
          </a:xfrm>
          <a:prstGeom prst="rect">
            <a:avLst/>
          </a:prstGeom>
          <a:noFill/>
          <a:ln/>
        </p:spPr>
        <p:txBody>
          <a:bodyPr wrap="square" lIns="0" tIns="0" rIns="0" bIns="0" rtlCol="0" anchor="t"/>
          <a:lstStyle/>
          <a:p>
            <a:pPr indent="0" marL="0">
              <a:buNone/>
            </a:pPr>
            <a:r>
              <a:rPr lang="en-US" sz="1200" b="1" dirty="0">
                <a:solidFill>
                  <a:srgbClr val="15803D"/>
                </a:solidFill>
              </a:rPr>
              <a:t>TODAY</a:t>
            </a:r>
            <a:endParaRPr lang="en-US" sz="1200" dirty="0"/>
          </a:p>
        </p:txBody>
      </p:sp>
      <p:sp>
        <p:nvSpPr>
          <p:cNvPr id="5" name="Shape 2"/>
          <p:cNvSpPr/>
          <p:nvPr/>
        </p:nvSpPr>
        <p:spPr>
          <a:xfrm>
            <a:off x="822960" y="1325880"/>
            <a:ext cx="2743200" cy="594360"/>
          </a:xfrm>
          <a:prstGeom prst="roundRect">
            <a:avLst>
              <a:gd name="adj" fmla="val 12308"/>
            </a:avLst>
          </a:prstGeom>
          <a:solidFill>
            <a:srgbClr val="F8FAFC"/>
          </a:solidFill>
          <a:ln w="9525">
            <a:solidFill>
              <a:srgbClr val="CBD5E1"/>
            </a:solidFill>
            <a:prstDash val="solid"/>
          </a:ln>
        </p:spPr>
      </p:sp>
      <p:sp>
        <p:nvSpPr>
          <p:cNvPr id="6" name="Text 3"/>
          <p:cNvSpPr txBox="1"/>
          <p:nvPr/>
        </p:nvSpPr>
        <p:spPr>
          <a:xfrm>
            <a:off x="914400" y="1380744"/>
            <a:ext cx="2560320" cy="484632"/>
          </a:xfrm>
          <a:prstGeom prst="rect">
            <a:avLst/>
          </a:prstGeom>
          <a:noFill/>
          <a:ln/>
        </p:spPr>
        <p:txBody>
          <a:bodyPr wrap="square" lIns="0" tIns="0" rIns="0" bIns="0" rtlCol="0" anchor="ctr"/>
          <a:lstStyle/>
          <a:p>
            <a:pPr algn="ctr" indent="0" marL="0">
              <a:buNone/>
            </a:pPr>
            <a:r>
              <a:rPr lang="en-US" sz="1200" b="1" dirty="0">
                <a:solidFill>
                  <a:schemeClr val="tx1"/>
                </a:solidFill>
              </a:rPr>
              <a:t>Clients</a:t>
            </a:r>
            <a:endParaRPr lang="en-US" sz="1200" dirty="0"/>
          </a:p>
          <a:p>
            <a:pPr algn="ctr" indent="0" marL="0">
              <a:buNone/>
            </a:pPr>
            <a:r>
              <a:rPr lang="en-US" sz="1000" dirty="0">
                <a:solidFill>
                  <a:srgbClr val="475569"/>
                </a:solidFill>
              </a:rPr>
              <a:t>app · portal · dashboard</a:t>
            </a:r>
            <a:endParaRPr lang="en-US" sz="1200" dirty="0"/>
          </a:p>
        </p:txBody>
      </p:sp>
      <p:sp>
        <p:nvSpPr>
          <p:cNvPr id="7" name="Shape 4"/>
          <p:cNvSpPr/>
          <p:nvPr/>
        </p:nvSpPr>
        <p:spPr>
          <a:xfrm>
            <a:off x="822960" y="2286000"/>
            <a:ext cx="2743200" cy="685800"/>
          </a:xfrm>
          <a:prstGeom prst="roundRect">
            <a:avLst>
              <a:gd name="adj" fmla="val 10667"/>
            </a:avLst>
          </a:prstGeom>
          <a:solidFill>
            <a:srgbClr val="EEF5FC"/>
          </a:solidFill>
          <a:ln w="9525">
            <a:solidFill>
              <a:srgbClr val="0F539E"/>
            </a:solidFill>
            <a:prstDash val="solid"/>
          </a:ln>
        </p:spPr>
      </p:sp>
      <p:sp>
        <p:nvSpPr>
          <p:cNvPr id="8" name="Text 5"/>
          <p:cNvSpPr txBox="1"/>
          <p:nvPr/>
        </p:nvSpPr>
        <p:spPr>
          <a:xfrm>
            <a:off x="914400" y="2340864"/>
            <a:ext cx="2560320" cy="576072"/>
          </a:xfrm>
          <a:prstGeom prst="rect">
            <a:avLst/>
          </a:prstGeom>
          <a:noFill/>
          <a:ln/>
        </p:spPr>
        <p:txBody>
          <a:bodyPr wrap="square" lIns="0" tIns="0" rIns="0" bIns="0" rtlCol="0" anchor="ctr"/>
          <a:lstStyle/>
          <a:p>
            <a:pPr algn="ctr" indent="0" marL="0">
              <a:buNone/>
            </a:pPr>
            <a:r>
              <a:rPr lang="en-US" sz="1200" b="1" dirty="0">
                <a:solidFill>
                  <a:schemeClr val="tx1"/>
                </a:solidFill>
              </a:rPr>
              <a:t>One backend</a:t>
            </a:r>
            <a:endParaRPr lang="en-US" sz="1200" dirty="0"/>
          </a:p>
          <a:p>
            <a:pPr algn="ctr" indent="0" marL="0">
              <a:buNone/>
            </a:pPr>
            <a:r>
              <a:rPr lang="en-US" sz="1000" dirty="0">
                <a:solidFill>
                  <a:srgbClr val="475569"/>
                </a:solidFill>
              </a:rPr>
              <a:t>REST + Socket.io + cron</a:t>
            </a:r>
            <a:endParaRPr lang="en-US" sz="1200" dirty="0"/>
          </a:p>
        </p:txBody>
      </p:sp>
      <p:sp>
        <p:nvSpPr>
          <p:cNvPr id="9" name="Shape 6"/>
          <p:cNvSpPr/>
          <p:nvPr/>
        </p:nvSpPr>
        <p:spPr>
          <a:xfrm>
            <a:off x="822960" y="3337560"/>
            <a:ext cx="2743200" cy="594360"/>
          </a:xfrm>
          <a:prstGeom prst="roundRect">
            <a:avLst>
              <a:gd name="adj" fmla="val 12308"/>
            </a:avLst>
          </a:prstGeom>
          <a:solidFill>
            <a:srgbClr val="0C2B4B"/>
          </a:solidFill>
          <a:ln w="9525">
            <a:solidFill>
              <a:srgbClr val="0C2B4B"/>
            </a:solidFill>
            <a:prstDash val="solid"/>
          </a:ln>
        </p:spPr>
      </p:sp>
      <p:sp>
        <p:nvSpPr>
          <p:cNvPr id="10" name="Text 7"/>
          <p:cNvSpPr txBox="1"/>
          <p:nvPr/>
        </p:nvSpPr>
        <p:spPr>
          <a:xfrm>
            <a:off x="896112" y="3337560"/>
            <a:ext cx="2596896" cy="594360"/>
          </a:xfrm>
          <a:prstGeom prst="rect">
            <a:avLst/>
          </a:prstGeom>
          <a:noFill/>
          <a:ln/>
        </p:spPr>
        <p:txBody>
          <a:bodyPr wrap="square" lIns="0" tIns="0" rIns="0" bIns="0" rtlCol="0" anchor="ctr"/>
          <a:lstStyle/>
          <a:p>
            <a:pPr algn="ctr" indent="0" marL="0">
              <a:buNone/>
            </a:pPr>
            <a:r>
              <a:rPr lang="en-US" sz="1200" b="1" dirty="0">
                <a:solidFill>
                  <a:schemeClr val="bg1"/>
                </a:solidFill>
              </a:rPr>
              <a:t>PostgreSQL (Neon)</a:t>
            </a:r>
            <a:endParaRPr lang="en-US" sz="1200" dirty="0"/>
          </a:p>
        </p:txBody>
      </p:sp>
      <p:sp>
        <p:nvSpPr>
          <p:cNvPr id="11" name="Shape 8"/>
          <p:cNvSpPr/>
          <p:nvPr/>
        </p:nvSpPr>
        <p:spPr>
          <a:xfrm>
            <a:off x="2194560" y="1920240"/>
            <a:ext cx="914" cy="365760"/>
          </a:xfrm>
          <a:prstGeom prst="line">
            <a:avLst/>
          </a:prstGeom>
          <a:noFill/>
          <a:ln w="15875">
            <a:solidFill>
              <a:srgbClr val="475569"/>
            </a:solidFill>
            <a:prstDash val="solid"/>
            <a:headEnd type="triangle"/>
            <a:tailEnd type="triangle"/>
          </a:ln>
        </p:spPr>
      </p:sp>
      <p:sp>
        <p:nvSpPr>
          <p:cNvPr id="12" name="Shape 9"/>
          <p:cNvSpPr/>
          <p:nvPr/>
        </p:nvSpPr>
        <p:spPr>
          <a:xfrm>
            <a:off x="2194560" y="2971800"/>
            <a:ext cx="914" cy="365760"/>
          </a:xfrm>
          <a:prstGeom prst="line">
            <a:avLst/>
          </a:prstGeom>
          <a:noFill/>
          <a:ln w="15875">
            <a:solidFill>
              <a:srgbClr val="475569"/>
            </a:solidFill>
            <a:prstDash val="solid"/>
            <a:headEnd type="triangle"/>
            <a:tailEnd type="triangle"/>
          </a:ln>
        </p:spPr>
      </p:sp>
      <p:sp>
        <p:nvSpPr>
          <p:cNvPr id="13" name="Text 10"/>
          <p:cNvSpPr txBox="1"/>
          <p:nvPr/>
        </p:nvSpPr>
        <p:spPr>
          <a:xfrm>
            <a:off x="4572000" y="960120"/>
            <a:ext cx="4114800" cy="274320"/>
          </a:xfrm>
          <a:prstGeom prst="rect">
            <a:avLst/>
          </a:prstGeom>
          <a:noFill/>
          <a:ln/>
        </p:spPr>
        <p:txBody>
          <a:bodyPr wrap="square" lIns="0" tIns="0" rIns="0" bIns="0" rtlCol="0" anchor="t"/>
          <a:lstStyle/>
          <a:p>
            <a:pPr indent="0" marL="0">
              <a:buNone/>
            </a:pPr>
            <a:r>
              <a:rPr lang="en-US" sz="1200" b="1" dirty="0">
                <a:solidFill>
                  <a:srgbClr val="B45309"/>
                </a:solidFill>
              </a:rPr>
              <a:t>FUTURE (not implemented)</a:t>
            </a:r>
            <a:endParaRPr lang="en-US" sz="1200" dirty="0"/>
          </a:p>
        </p:txBody>
      </p:sp>
      <p:sp>
        <p:nvSpPr>
          <p:cNvPr id="14" name="Shape 11"/>
          <p:cNvSpPr/>
          <p:nvPr/>
        </p:nvSpPr>
        <p:spPr>
          <a:xfrm>
            <a:off x="5120640" y="1325880"/>
            <a:ext cx="3017520" cy="502920"/>
          </a:xfrm>
          <a:prstGeom prst="roundRect">
            <a:avLst>
              <a:gd name="adj" fmla="val 14545"/>
            </a:avLst>
          </a:prstGeom>
          <a:solidFill>
            <a:srgbClr val="F8FAFC"/>
          </a:solidFill>
          <a:ln w="9525">
            <a:solidFill>
              <a:srgbClr val="CBD5E1"/>
            </a:solidFill>
            <a:prstDash val="solid"/>
          </a:ln>
        </p:spPr>
      </p:sp>
      <p:sp>
        <p:nvSpPr>
          <p:cNvPr id="15" name="Text 12"/>
          <p:cNvSpPr txBox="1"/>
          <p:nvPr/>
        </p:nvSpPr>
        <p:spPr>
          <a:xfrm>
            <a:off x="5212080" y="1380744"/>
            <a:ext cx="2834640" cy="393192"/>
          </a:xfrm>
          <a:prstGeom prst="rect">
            <a:avLst/>
          </a:prstGeom>
          <a:noFill/>
          <a:ln/>
        </p:spPr>
        <p:txBody>
          <a:bodyPr wrap="square" lIns="0" tIns="0" rIns="0" bIns="0" rtlCol="0" anchor="ctr"/>
          <a:lstStyle/>
          <a:p>
            <a:pPr algn="ctr" indent="0" marL="0">
              <a:buNone/>
            </a:pPr>
            <a:r>
              <a:rPr lang="en-US" sz="1200" b="1" dirty="0">
                <a:solidFill>
                  <a:schemeClr val="tx1"/>
                </a:solidFill>
              </a:rPr>
              <a:t>Load balancer</a:t>
            </a:r>
            <a:endParaRPr lang="en-US" sz="1200" dirty="0"/>
          </a:p>
          <a:p>
            <a:pPr algn="ctr" indent="0" marL="0">
              <a:buNone/>
            </a:pPr>
            <a:r>
              <a:rPr lang="en-US" sz="1000" dirty="0">
                <a:solidFill>
                  <a:srgbClr val="475569"/>
                </a:solidFill>
              </a:rPr>
              <a:t>sticky sessions / WebSocket-only</a:t>
            </a:r>
            <a:endParaRPr lang="en-US" sz="1200" dirty="0"/>
          </a:p>
        </p:txBody>
      </p:sp>
      <p:sp>
        <p:nvSpPr>
          <p:cNvPr id="16" name="Shape 13"/>
          <p:cNvSpPr/>
          <p:nvPr/>
        </p:nvSpPr>
        <p:spPr>
          <a:xfrm>
            <a:off x="4754880" y="2148840"/>
            <a:ext cx="1645920" cy="594360"/>
          </a:xfrm>
          <a:prstGeom prst="roundRect">
            <a:avLst>
              <a:gd name="adj" fmla="val 12308"/>
            </a:avLst>
          </a:prstGeom>
          <a:solidFill>
            <a:srgbClr val="EEF5FC"/>
          </a:solidFill>
          <a:ln w="9525">
            <a:solidFill>
              <a:srgbClr val="0F539E"/>
            </a:solidFill>
            <a:prstDash val="solid"/>
          </a:ln>
        </p:spPr>
      </p:sp>
      <p:sp>
        <p:nvSpPr>
          <p:cNvPr id="17" name="Text 14"/>
          <p:cNvSpPr txBox="1"/>
          <p:nvPr/>
        </p:nvSpPr>
        <p:spPr>
          <a:xfrm>
            <a:off x="4828032" y="2148840"/>
            <a:ext cx="1499616" cy="594360"/>
          </a:xfrm>
          <a:prstGeom prst="rect">
            <a:avLst/>
          </a:prstGeom>
          <a:noFill/>
          <a:ln/>
        </p:spPr>
        <p:txBody>
          <a:bodyPr wrap="square" lIns="0" tIns="0" rIns="0" bIns="0" rtlCol="0" anchor="ctr"/>
          <a:lstStyle/>
          <a:p>
            <a:pPr algn="ctr" indent="0" marL="0">
              <a:buNone/>
            </a:pPr>
            <a:r>
              <a:rPr lang="en-US" sz="1200" b="1" dirty="0">
                <a:solidFill>
                  <a:schemeClr val="tx1"/>
                </a:solidFill>
              </a:rPr>
              <a:t>Backend 1</a:t>
            </a:r>
            <a:endParaRPr lang="en-US" sz="1200" dirty="0"/>
          </a:p>
        </p:txBody>
      </p:sp>
      <p:sp>
        <p:nvSpPr>
          <p:cNvPr id="18" name="Shape 15"/>
          <p:cNvSpPr/>
          <p:nvPr/>
        </p:nvSpPr>
        <p:spPr>
          <a:xfrm>
            <a:off x="6858000" y="2148840"/>
            <a:ext cx="1645920" cy="594360"/>
          </a:xfrm>
          <a:prstGeom prst="roundRect">
            <a:avLst>
              <a:gd name="adj" fmla="val 12308"/>
            </a:avLst>
          </a:prstGeom>
          <a:solidFill>
            <a:srgbClr val="EEF5FC"/>
          </a:solidFill>
          <a:ln w="9525">
            <a:solidFill>
              <a:srgbClr val="0F539E"/>
            </a:solidFill>
            <a:prstDash val="solid"/>
          </a:ln>
        </p:spPr>
      </p:sp>
      <p:sp>
        <p:nvSpPr>
          <p:cNvPr id="19" name="Text 16"/>
          <p:cNvSpPr txBox="1"/>
          <p:nvPr/>
        </p:nvSpPr>
        <p:spPr>
          <a:xfrm>
            <a:off x="6931152" y="2148840"/>
            <a:ext cx="1499616" cy="594360"/>
          </a:xfrm>
          <a:prstGeom prst="rect">
            <a:avLst/>
          </a:prstGeom>
          <a:noFill/>
          <a:ln/>
        </p:spPr>
        <p:txBody>
          <a:bodyPr wrap="square" lIns="0" tIns="0" rIns="0" bIns="0" rtlCol="0" anchor="ctr"/>
          <a:lstStyle/>
          <a:p>
            <a:pPr algn="ctr" indent="0" marL="0">
              <a:buNone/>
            </a:pPr>
            <a:r>
              <a:rPr lang="en-US" sz="1200" b="1" dirty="0">
                <a:solidFill>
                  <a:schemeClr val="tx1"/>
                </a:solidFill>
              </a:rPr>
              <a:t>Backend 2</a:t>
            </a:r>
            <a:endParaRPr lang="en-US" sz="1200" dirty="0"/>
          </a:p>
        </p:txBody>
      </p:sp>
      <p:sp>
        <p:nvSpPr>
          <p:cNvPr id="20" name="Shape 17"/>
          <p:cNvSpPr/>
          <p:nvPr/>
        </p:nvSpPr>
        <p:spPr>
          <a:xfrm>
            <a:off x="5806440" y="2926080"/>
            <a:ext cx="1645920" cy="502920"/>
          </a:xfrm>
          <a:prstGeom prst="roundRect">
            <a:avLst>
              <a:gd name="adj" fmla="val 14545"/>
            </a:avLst>
          </a:prstGeom>
          <a:solidFill>
            <a:srgbClr val="FEE2E2"/>
          </a:solidFill>
          <a:ln w="9525">
            <a:solidFill>
              <a:srgbClr val="B91C1C"/>
            </a:solidFill>
            <a:prstDash val="solid"/>
          </a:ln>
        </p:spPr>
      </p:sp>
      <p:sp>
        <p:nvSpPr>
          <p:cNvPr id="21" name="Text 18"/>
          <p:cNvSpPr txBox="1"/>
          <p:nvPr/>
        </p:nvSpPr>
        <p:spPr>
          <a:xfrm>
            <a:off x="5897880" y="2980944"/>
            <a:ext cx="1463040" cy="393192"/>
          </a:xfrm>
          <a:prstGeom prst="rect">
            <a:avLst/>
          </a:prstGeom>
          <a:noFill/>
          <a:ln/>
        </p:spPr>
        <p:txBody>
          <a:bodyPr wrap="square" lIns="0" tIns="0" rIns="0" bIns="0" rtlCol="0" anchor="ctr"/>
          <a:lstStyle/>
          <a:p>
            <a:pPr algn="ctr" indent="0" marL="0">
              <a:buNone/>
            </a:pPr>
            <a:r>
              <a:rPr lang="en-US" sz="1200" b="1" dirty="0">
                <a:solidFill>
                  <a:schemeClr val="tx1"/>
                </a:solidFill>
              </a:rPr>
              <a:t>Redis</a:t>
            </a:r>
            <a:endParaRPr lang="en-US" sz="1200" dirty="0"/>
          </a:p>
          <a:p>
            <a:pPr algn="ctr" indent="0" marL="0">
              <a:buNone/>
            </a:pPr>
            <a:r>
              <a:rPr lang="en-US" sz="850" dirty="0">
                <a:solidFill>
                  <a:srgbClr val="475569"/>
                </a:solidFill>
              </a:rPr>
              <a:t>Socket.io adapter · rate limits</a:t>
            </a:r>
            <a:endParaRPr lang="en-US" sz="1200" dirty="0"/>
          </a:p>
        </p:txBody>
      </p:sp>
      <p:sp>
        <p:nvSpPr>
          <p:cNvPr id="22" name="Shape 19"/>
          <p:cNvSpPr/>
          <p:nvPr/>
        </p:nvSpPr>
        <p:spPr>
          <a:xfrm>
            <a:off x="5806440" y="3611880"/>
            <a:ext cx="1645920" cy="457200"/>
          </a:xfrm>
          <a:prstGeom prst="roundRect">
            <a:avLst>
              <a:gd name="adj" fmla="val 16000"/>
            </a:avLst>
          </a:prstGeom>
          <a:solidFill>
            <a:srgbClr val="0C2B4B"/>
          </a:solidFill>
          <a:ln w="9525">
            <a:solidFill>
              <a:srgbClr val="0C2B4B"/>
            </a:solidFill>
            <a:prstDash val="solid"/>
          </a:ln>
        </p:spPr>
      </p:sp>
      <p:sp>
        <p:nvSpPr>
          <p:cNvPr id="23" name="Text 20"/>
          <p:cNvSpPr txBox="1"/>
          <p:nvPr/>
        </p:nvSpPr>
        <p:spPr>
          <a:xfrm>
            <a:off x="5879592" y="3611880"/>
            <a:ext cx="1499616" cy="457200"/>
          </a:xfrm>
          <a:prstGeom prst="rect">
            <a:avLst/>
          </a:prstGeom>
          <a:noFill/>
          <a:ln/>
        </p:spPr>
        <p:txBody>
          <a:bodyPr wrap="square" lIns="0" tIns="0" rIns="0" bIns="0" rtlCol="0" anchor="ctr"/>
          <a:lstStyle/>
          <a:p>
            <a:pPr algn="ctr" indent="0" marL="0">
              <a:buNone/>
            </a:pPr>
            <a:r>
              <a:rPr lang="en-US" sz="1200" b="1" dirty="0">
                <a:solidFill>
                  <a:schemeClr val="bg1"/>
                </a:solidFill>
              </a:rPr>
              <a:t>PostgreSQL</a:t>
            </a:r>
            <a:endParaRPr lang="en-US" sz="1200" dirty="0"/>
          </a:p>
        </p:txBody>
      </p:sp>
      <p:sp>
        <p:nvSpPr>
          <p:cNvPr id="24" name="Shape 21"/>
          <p:cNvSpPr/>
          <p:nvPr/>
        </p:nvSpPr>
        <p:spPr>
          <a:xfrm flipH="1">
            <a:off x="5577840" y="1828800"/>
            <a:ext cx="457200" cy="320040"/>
          </a:xfrm>
          <a:prstGeom prst="line">
            <a:avLst/>
          </a:prstGeom>
          <a:noFill/>
          <a:ln w="15875">
            <a:solidFill>
              <a:srgbClr val="475569"/>
            </a:solidFill>
            <a:prstDash val="solid"/>
            <a:tailEnd type="triangle"/>
          </a:ln>
        </p:spPr>
      </p:sp>
      <p:sp>
        <p:nvSpPr>
          <p:cNvPr id="25" name="Shape 22"/>
          <p:cNvSpPr/>
          <p:nvPr/>
        </p:nvSpPr>
        <p:spPr>
          <a:xfrm>
            <a:off x="7223760" y="1828800"/>
            <a:ext cx="457200" cy="320040"/>
          </a:xfrm>
          <a:prstGeom prst="line">
            <a:avLst/>
          </a:prstGeom>
          <a:noFill/>
          <a:ln w="15875">
            <a:solidFill>
              <a:srgbClr val="475569"/>
            </a:solidFill>
            <a:prstDash val="solid"/>
            <a:tailEnd type="triangle"/>
          </a:ln>
        </p:spPr>
      </p:sp>
      <p:sp>
        <p:nvSpPr>
          <p:cNvPr id="26" name="Shape 23"/>
          <p:cNvSpPr/>
          <p:nvPr/>
        </p:nvSpPr>
        <p:spPr>
          <a:xfrm>
            <a:off x="5577840" y="2743200"/>
            <a:ext cx="548640" cy="182880"/>
          </a:xfrm>
          <a:prstGeom prst="line">
            <a:avLst/>
          </a:prstGeom>
          <a:noFill/>
          <a:ln w="15875">
            <a:solidFill>
              <a:srgbClr val="475569"/>
            </a:solidFill>
            <a:prstDash val="solid"/>
            <a:headEnd type="triangle"/>
            <a:tailEnd type="triangle"/>
          </a:ln>
        </p:spPr>
      </p:sp>
      <p:sp>
        <p:nvSpPr>
          <p:cNvPr id="27" name="Shape 24"/>
          <p:cNvSpPr/>
          <p:nvPr/>
        </p:nvSpPr>
        <p:spPr>
          <a:xfrm flipH="1">
            <a:off x="7132320" y="2743200"/>
            <a:ext cx="548640" cy="182880"/>
          </a:xfrm>
          <a:prstGeom prst="line">
            <a:avLst/>
          </a:prstGeom>
          <a:noFill/>
          <a:ln w="15875">
            <a:solidFill>
              <a:srgbClr val="475569"/>
            </a:solidFill>
            <a:prstDash val="solid"/>
            <a:headEnd type="triangle"/>
            <a:tailEnd type="triangle"/>
          </a:ln>
        </p:spPr>
      </p:sp>
      <p:sp>
        <p:nvSpPr>
          <p:cNvPr id="28" name="Shape 25"/>
          <p:cNvSpPr/>
          <p:nvPr/>
        </p:nvSpPr>
        <p:spPr>
          <a:xfrm>
            <a:off x="6629400" y="3429000"/>
            <a:ext cx="914" cy="182880"/>
          </a:xfrm>
          <a:prstGeom prst="line">
            <a:avLst/>
          </a:prstGeom>
          <a:noFill/>
          <a:ln w="15875">
            <a:solidFill>
              <a:srgbClr val="475569"/>
            </a:solidFill>
            <a:prstDash val="solid"/>
            <a:headEnd type="triangle"/>
            <a:tailEnd type="triangle"/>
          </a:ln>
        </p:spPr>
      </p:sp>
      <p:sp>
        <p:nvSpPr>
          <p:cNvPr id="29" name="Text 26"/>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150" dirty="0">
                <a:solidFill>
                  <a:srgbClr val="B91C1C"/>
                </a:solidFill>
              </a:rPr>
              <a:t>Adding instances alone breaks realtime: events stay on the instance that emitted them.</a:t>
            </a:r>
            <a:endParaRPr lang="en-US" sz="11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Cost &amp; capacity roadmap</a:t>
            </a:r>
            <a:endParaRPr lang="en-US" sz="2400" dirty="0"/>
          </a:p>
        </p:txBody>
      </p:sp>
      <p:sp>
        <p:nvSpPr>
          <p:cNvPr id="4" name="Shape 1"/>
          <p:cNvSpPr/>
          <p:nvPr/>
        </p:nvSpPr>
        <p:spPr>
          <a:xfrm>
            <a:off x="457200" y="1005840"/>
            <a:ext cx="1536192" cy="3246120"/>
          </a:xfrm>
          <a:prstGeom prst="roundRect">
            <a:avLst>
              <a:gd name="adj" fmla="val 4762"/>
            </a:avLst>
          </a:prstGeom>
          <a:solidFill>
            <a:srgbClr val="F8FAFC"/>
          </a:solidFill>
          <a:ln w="9525">
            <a:solidFill>
              <a:srgbClr val="CBD5E1"/>
            </a:solidFill>
            <a:prstDash val="solid"/>
          </a:ln>
        </p:spPr>
      </p:sp>
      <p:sp>
        <p:nvSpPr>
          <p:cNvPr id="5" name="Text 2"/>
          <p:cNvSpPr txBox="1"/>
          <p:nvPr/>
        </p:nvSpPr>
        <p:spPr>
          <a:xfrm>
            <a:off x="566928" y="1097280"/>
            <a:ext cx="1325880" cy="256032"/>
          </a:xfrm>
          <a:prstGeom prst="rect">
            <a:avLst/>
          </a:prstGeom>
          <a:noFill/>
          <a:ln/>
        </p:spPr>
        <p:txBody>
          <a:bodyPr wrap="square" lIns="0" tIns="0" rIns="0" bIns="0" rtlCol="0" anchor="t"/>
          <a:lstStyle/>
          <a:p>
            <a:pPr indent="0" marL="0">
              <a:buNone/>
            </a:pPr>
            <a:r>
              <a:rPr lang="en-US" sz="1000" b="1" dirty="0">
                <a:solidFill>
                  <a:schemeClr val="accent2"/>
                </a:solidFill>
              </a:rPr>
              <a:t>Stage 0</a:t>
            </a:r>
            <a:endParaRPr lang="en-US" sz="1000" dirty="0"/>
          </a:p>
        </p:txBody>
      </p:sp>
      <p:sp>
        <p:nvSpPr>
          <p:cNvPr id="6" name="Text 3"/>
          <p:cNvSpPr txBox="1"/>
          <p:nvPr/>
        </p:nvSpPr>
        <p:spPr>
          <a:xfrm>
            <a:off x="566928" y="1353312"/>
            <a:ext cx="1325880" cy="457200"/>
          </a:xfrm>
          <a:prstGeom prst="rect">
            <a:avLst/>
          </a:prstGeom>
          <a:noFill/>
          <a:ln/>
        </p:spPr>
        <p:txBody>
          <a:bodyPr wrap="square" lIns="0" tIns="0" rIns="0" bIns="0" rtlCol="0" anchor="t"/>
          <a:lstStyle/>
          <a:p>
            <a:pPr indent="0" marL="0">
              <a:buNone/>
            </a:pPr>
            <a:r>
              <a:rPr lang="en-US" sz="1300" b="1" dirty="0">
                <a:solidFill>
                  <a:schemeClr val="tx2"/>
                </a:solidFill>
              </a:rPr>
              <a:t>Before fixes</a:t>
            </a:r>
            <a:endParaRPr lang="en-US" sz="1300" dirty="0"/>
          </a:p>
        </p:txBody>
      </p:sp>
      <p:sp>
        <p:nvSpPr>
          <p:cNvPr id="7" name="Text 4"/>
          <p:cNvSpPr txBox="1"/>
          <p:nvPr/>
        </p:nvSpPr>
        <p:spPr>
          <a:xfrm>
            <a:off x="566928" y="1874520"/>
            <a:ext cx="1325880" cy="411480"/>
          </a:xfrm>
          <a:prstGeom prst="rect">
            <a:avLst/>
          </a:prstGeom>
          <a:noFill/>
          <a:ln/>
        </p:spPr>
        <p:txBody>
          <a:bodyPr wrap="square" lIns="0" tIns="0" rIns="0" bIns="0" rtlCol="0" anchor="t"/>
          <a:lstStyle/>
          <a:p>
            <a:pPr indent="0" marL="0">
              <a:buNone/>
            </a:pPr>
            <a:r>
              <a:rPr lang="en-US" sz="1500" b="1" dirty="0">
                <a:solidFill>
                  <a:schemeClr val="accent1"/>
                </a:solidFill>
              </a:rPr>
              <a:t>$0</a:t>
            </a:r>
            <a:endParaRPr lang="en-US" sz="1500" dirty="0"/>
          </a:p>
        </p:txBody>
      </p:sp>
      <p:sp>
        <p:nvSpPr>
          <p:cNvPr id="8" name="Text 5"/>
          <p:cNvSpPr txBox="1"/>
          <p:nvPr/>
        </p:nvSpPr>
        <p:spPr>
          <a:xfrm>
            <a:off x="566928" y="2377440"/>
            <a:ext cx="1325880" cy="1051560"/>
          </a:xfrm>
          <a:prstGeom prst="rect">
            <a:avLst/>
          </a:prstGeom>
          <a:noFill/>
          <a:ln/>
        </p:spPr>
        <p:txBody>
          <a:bodyPr wrap="square" lIns="0" tIns="0" rIns="0" bIns="0" rtlCol="0" anchor="t"/>
          <a:lstStyle/>
          <a:p>
            <a:pPr indent="0" marL="0">
              <a:buNone/>
            </a:pPr>
            <a:r>
              <a:rPr lang="en-US" sz="1050" dirty="0">
                <a:solidFill>
                  <a:srgbClr val="475569"/>
                </a:solidFill>
              </a:rPr>
              <a:t>All free tiers · 1 instance</a:t>
            </a:r>
            <a:endParaRPr lang="en-US" sz="1050" dirty="0"/>
          </a:p>
        </p:txBody>
      </p:sp>
      <p:sp>
        <p:nvSpPr>
          <p:cNvPr id="9" name="Text 6"/>
          <p:cNvSpPr txBox="1"/>
          <p:nvPr/>
        </p:nvSpPr>
        <p:spPr>
          <a:xfrm>
            <a:off x="566928" y="3474720"/>
            <a:ext cx="1325880" cy="685800"/>
          </a:xfrm>
          <a:prstGeom prst="rect">
            <a:avLst/>
          </a:prstGeom>
          <a:noFill/>
          <a:ln/>
        </p:spPr>
        <p:txBody>
          <a:bodyPr wrap="square" lIns="0" tIns="0" rIns="0" bIns="0" rtlCol="0" anchor="t"/>
          <a:lstStyle/>
          <a:p>
            <a:pPr indent="0" marL="0">
              <a:buNone/>
            </a:pPr>
            <a:r>
              <a:rPr lang="en-US" sz="1000" i="1" dirty="0">
                <a:solidFill>
                  <a:srgbClr val="0F172A"/>
                </a:solidFill>
              </a:rPr>
              <a:t>≈ 4k visits/mo</a:t>
            </a:r>
            <a:endParaRPr lang="en-US" sz="1000" dirty="0"/>
          </a:p>
        </p:txBody>
      </p:sp>
      <p:sp>
        <p:nvSpPr>
          <p:cNvPr id="10" name="Shape 7"/>
          <p:cNvSpPr/>
          <p:nvPr/>
        </p:nvSpPr>
        <p:spPr>
          <a:xfrm>
            <a:off x="2121408" y="1005840"/>
            <a:ext cx="1536192" cy="3246120"/>
          </a:xfrm>
          <a:prstGeom prst="roundRect">
            <a:avLst>
              <a:gd name="adj" fmla="val 4762"/>
            </a:avLst>
          </a:prstGeom>
          <a:solidFill>
            <a:srgbClr val="EEF5FC"/>
          </a:solidFill>
          <a:ln w="9525">
            <a:solidFill>
              <a:srgbClr val="0F539E"/>
            </a:solidFill>
            <a:prstDash val="solid"/>
          </a:ln>
        </p:spPr>
      </p:sp>
      <p:sp>
        <p:nvSpPr>
          <p:cNvPr id="11" name="Text 8"/>
          <p:cNvSpPr txBox="1"/>
          <p:nvPr/>
        </p:nvSpPr>
        <p:spPr>
          <a:xfrm>
            <a:off x="2231136" y="1097280"/>
            <a:ext cx="1325880" cy="256032"/>
          </a:xfrm>
          <a:prstGeom prst="rect">
            <a:avLst/>
          </a:prstGeom>
          <a:noFill/>
          <a:ln/>
        </p:spPr>
        <p:txBody>
          <a:bodyPr wrap="square" lIns="0" tIns="0" rIns="0" bIns="0" rtlCol="0" anchor="t"/>
          <a:lstStyle/>
          <a:p>
            <a:pPr indent="0" marL="0">
              <a:buNone/>
            </a:pPr>
            <a:r>
              <a:rPr lang="en-US" sz="1000" b="1" dirty="0">
                <a:solidFill>
                  <a:schemeClr val="accent2"/>
                </a:solidFill>
              </a:rPr>
              <a:t>Stage 1</a:t>
            </a:r>
            <a:endParaRPr lang="en-US" sz="1000" dirty="0"/>
          </a:p>
        </p:txBody>
      </p:sp>
      <p:sp>
        <p:nvSpPr>
          <p:cNvPr id="12" name="Text 9"/>
          <p:cNvSpPr txBox="1"/>
          <p:nvPr/>
        </p:nvSpPr>
        <p:spPr>
          <a:xfrm>
            <a:off x="2231136" y="1353312"/>
            <a:ext cx="1325880" cy="457200"/>
          </a:xfrm>
          <a:prstGeom prst="rect">
            <a:avLst/>
          </a:prstGeom>
          <a:noFill/>
          <a:ln/>
        </p:spPr>
        <p:txBody>
          <a:bodyPr wrap="square" lIns="0" tIns="0" rIns="0" bIns="0" rtlCol="0" anchor="t"/>
          <a:lstStyle/>
          <a:p>
            <a:pPr indent="0" marL="0">
              <a:buNone/>
            </a:pPr>
            <a:r>
              <a:rPr lang="en-US" sz="1300" b="1" dirty="0">
                <a:solidFill>
                  <a:schemeClr val="tx2"/>
                </a:solidFill>
              </a:rPr>
              <a:t>Today: software fixes live</a:t>
            </a:r>
            <a:endParaRPr lang="en-US" sz="1300" dirty="0"/>
          </a:p>
        </p:txBody>
      </p:sp>
      <p:sp>
        <p:nvSpPr>
          <p:cNvPr id="13" name="Text 10"/>
          <p:cNvSpPr txBox="1"/>
          <p:nvPr/>
        </p:nvSpPr>
        <p:spPr>
          <a:xfrm>
            <a:off x="2231136" y="1874520"/>
            <a:ext cx="1325880" cy="411480"/>
          </a:xfrm>
          <a:prstGeom prst="rect">
            <a:avLst/>
          </a:prstGeom>
          <a:noFill/>
          <a:ln/>
        </p:spPr>
        <p:txBody>
          <a:bodyPr wrap="square" lIns="0" tIns="0" rIns="0" bIns="0" rtlCol="0" anchor="t"/>
          <a:lstStyle/>
          <a:p>
            <a:pPr indent="0" marL="0">
              <a:buNone/>
            </a:pPr>
            <a:r>
              <a:rPr lang="en-US" sz="1500" b="1" dirty="0">
                <a:solidFill>
                  <a:schemeClr val="accent1"/>
                </a:solidFill>
              </a:rPr>
              <a:t>$0</a:t>
            </a:r>
            <a:endParaRPr lang="en-US" sz="1500" dirty="0"/>
          </a:p>
        </p:txBody>
      </p:sp>
      <p:sp>
        <p:nvSpPr>
          <p:cNvPr id="14" name="Text 11"/>
          <p:cNvSpPr txBox="1"/>
          <p:nvPr/>
        </p:nvSpPr>
        <p:spPr>
          <a:xfrm>
            <a:off x="2231136" y="2377440"/>
            <a:ext cx="1325880" cy="1051560"/>
          </a:xfrm>
          <a:prstGeom prst="rect">
            <a:avLst/>
          </a:prstGeom>
          <a:noFill/>
          <a:ln/>
        </p:spPr>
        <p:txBody>
          <a:bodyPr wrap="square" lIns="0" tIns="0" rIns="0" bIns="0" rtlCol="0" anchor="t"/>
          <a:lstStyle/>
          <a:p>
            <a:pPr indent="0" marL="0">
              <a:buNone/>
            </a:pPr>
            <a:r>
              <a:rPr lang="en-US" sz="1050" dirty="0">
                <a:solidFill>
                  <a:srgbClr val="475569"/>
                </a:solidFill>
              </a:rPr>
              <a:t>Batched refetch · portal payloads · per-client limits</a:t>
            </a:r>
            <a:endParaRPr lang="en-US" sz="1050" dirty="0"/>
          </a:p>
        </p:txBody>
      </p:sp>
      <p:sp>
        <p:nvSpPr>
          <p:cNvPr id="15" name="Text 12"/>
          <p:cNvSpPr txBox="1"/>
          <p:nvPr/>
        </p:nvSpPr>
        <p:spPr>
          <a:xfrm>
            <a:off x="2231136" y="3474720"/>
            <a:ext cx="1325880" cy="685800"/>
          </a:xfrm>
          <a:prstGeom prst="rect">
            <a:avLst/>
          </a:prstGeom>
          <a:noFill/>
          <a:ln/>
        </p:spPr>
        <p:txBody>
          <a:bodyPr wrap="square" lIns="0" tIns="0" rIns="0" bIns="0" rtlCol="0" anchor="t"/>
          <a:lstStyle/>
          <a:p>
            <a:pPr indent="0" marL="0">
              <a:buNone/>
            </a:pPr>
            <a:r>
              <a:rPr lang="en-US" sz="1000" i="1" dirty="0">
                <a:solidFill>
                  <a:srgbClr val="0F172A"/>
                </a:solidFill>
              </a:rPr>
              <a:t>≈ 25k visits/mo</a:t>
            </a:r>
            <a:endParaRPr lang="en-US" sz="1000" dirty="0"/>
          </a:p>
        </p:txBody>
      </p:sp>
      <p:sp>
        <p:nvSpPr>
          <p:cNvPr id="16" name="Shape 13"/>
          <p:cNvSpPr/>
          <p:nvPr/>
        </p:nvSpPr>
        <p:spPr>
          <a:xfrm>
            <a:off x="3785616" y="1005840"/>
            <a:ext cx="1536192" cy="3246120"/>
          </a:xfrm>
          <a:prstGeom prst="roundRect">
            <a:avLst>
              <a:gd name="adj" fmla="val 4762"/>
            </a:avLst>
          </a:prstGeom>
          <a:solidFill>
            <a:srgbClr val="F8FAFC"/>
          </a:solidFill>
          <a:ln w="9525">
            <a:solidFill>
              <a:srgbClr val="CBD5E1"/>
            </a:solidFill>
            <a:prstDash val="solid"/>
          </a:ln>
        </p:spPr>
      </p:sp>
      <p:sp>
        <p:nvSpPr>
          <p:cNvPr id="17" name="Text 14"/>
          <p:cNvSpPr txBox="1"/>
          <p:nvPr/>
        </p:nvSpPr>
        <p:spPr>
          <a:xfrm>
            <a:off x="3895344" y="1097280"/>
            <a:ext cx="1325880" cy="256032"/>
          </a:xfrm>
          <a:prstGeom prst="rect">
            <a:avLst/>
          </a:prstGeom>
          <a:noFill/>
          <a:ln/>
        </p:spPr>
        <p:txBody>
          <a:bodyPr wrap="square" lIns="0" tIns="0" rIns="0" bIns="0" rtlCol="0" anchor="t"/>
          <a:lstStyle/>
          <a:p>
            <a:pPr indent="0" marL="0">
              <a:buNone/>
            </a:pPr>
            <a:r>
              <a:rPr lang="en-US" sz="1000" b="1" dirty="0">
                <a:solidFill>
                  <a:schemeClr val="accent2"/>
                </a:solidFill>
              </a:rPr>
              <a:t>Stage 2</a:t>
            </a:r>
            <a:endParaRPr lang="en-US" sz="1000" dirty="0"/>
          </a:p>
        </p:txBody>
      </p:sp>
      <p:sp>
        <p:nvSpPr>
          <p:cNvPr id="18" name="Text 15"/>
          <p:cNvSpPr txBox="1"/>
          <p:nvPr/>
        </p:nvSpPr>
        <p:spPr>
          <a:xfrm>
            <a:off x="3895344" y="1353312"/>
            <a:ext cx="1325880" cy="457200"/>
          </a:xfrm>
          <a:prstGeom prst="rect">
            <a:avLst/>
          </a:prstGeom>
          <a:noFill/>
          <a:ln/>
        </p:spPr>
        <p:txBody>
          <a:bodyPr wrap="square" lIns="0" tIns="0" rIns="0" bIns="0" rtlCol="0" anchor="t"/>
          <a:lstStyle/>
          <a:p>
            <a:pPr indent="0" marL="0">
              <a:buNone/>
            </a:pPr>
            <a:r>
              <a:rPr lang="en-US" sz="1300" b="1" dirty="0">
                <a:solidFill>
                  <a:schemeClr val="tx2"/>
                </a:solidFill>
              </a:rPr>
              <a:t>First paid</a:t>
            </a:r>
            <a:endParaRPr lang="en-US" sz="1300" dirty="0"/>
          </a:p>
        </p:txBody>
      </p:sp>
      <p:sp>
        <p:nvSpPr>
          <p:cNvPr id="19" name="Text 16"/>
          <p:cNvSpPr txBox="1"/>
          <p:nvPr/>
        </p:nvSpPr>
        <p:spPr>
          <a:xfrm>
            <a:off x="3895344" y="1874520"/>
            <a:ext cx="1325880" cy="411480"/>
          </a:xfrm>
          <a:prstGeom prst="rect">
            <a:avLst/>
          </a:prstGeom>
          <a:noFill/>
          <a:ln/>
        </p:spPr>
        <p:txBody>
          <a:bodyPr wrap="square" lIns="0" tIns="0" rIns="0" bIns="0" rtlCol="0" anchor="t"/>
          <a:lstStyle/>
          <a:p>
            <a:pPr indent="0" marL="0">
              <a:buNone/>
            </a:pPr>
            <a:r>
              <a:rPr lang="en-US" sz="1500" b="1" dirty="0">
                <a:solidFill>
                  <a:schemeClr val="accent1"/>
                </a:solidFill>
              </a:rPr>
              <a:t>≈ $18–27/mo</a:t>
            </a:r>
            <a:endParaRPr lang="en-US" sz="1500" dirty="0"/>
          </a:p>
        </p:txBody>
      </p:sp>
      <p:sp>
        <p:nvSpPr>
          <p:cNvPr id="20" name="Text 17"/>
          <p:cNvSpPr txBox="1"/>
          <p:nvPr/>
        </p:nvSpPr>
        <p:spPr>
          <a:xfrm>
            <a:off x="3895344" y="2377440"/>
            <a:ext cx="1325880" cy="1051560"/>
          </a:xfrm>
          <a:prstGeom prst="rect">
            <a:avLst/>
          </a:prstGeom>
          <a:noFill/>
          <a:ln/>
        </p:spPr>
        <p:txBody>
          <a:bodyPr wrap="square" lIns="0" tIns="0" rIns="0" bIns="0" rtlCol="0" anchor="t"/>
          <a:lstStyle/>
          <a:p>
            <a:pPr indent="0" marL="0">
              <a:buNone/>
            </a:pPr>
            <a:r>
              <a:rPr lang="en-US" sz="1050" dirty="0">
                <a:solidFill>
                  <a:srgbClr val="475569"/>
                </a:solidFill>
              </a:rPr>
              <a:t>Neon Launch · Render Starter</a:t>
            </a:r>
            <a:endParaRPr lang="en-US" sz="1050" dirty="0"/>
          </a:p>
        </p:txBody>
      </p:sp>
      <p:sp>
        <p:nvSpPr>
          <p:cNvPr id="21" name="Text 18"/>
          <p:cNvSpPr txBox="1"/>
          <p:nvPr/>
        </p:nvSpPr>
        <p:spPr>
          <a:xfrm>
            <a:off x="3895344" y="3474720"/>
            <a:ext cx="1325880" cy="685800"/>
          </a:xfrm>
          <a:prstGeom prst="rect">
            <a:avLst/>
          </a:prstGeom>
          <a:noFill/>
          <a:ln/>
        </p:spPr>
        <p:txBody>
          <a:bodyPr wrap="square" lIns="0" tIns="0" rIns="0" bIns="0" rtlCol="0" anchor="t"/>
          <a:lstStyle/>
          <a:p>
            <a:pPr indent="0" marL="0">
              <a:buNone/>
            </a:pPr>
            <a:r>
              <a:rPr lang="en-US" sz="1000" i="1" dirty="0">
                <a:solidFill>
                  <a:srgbClr val="0F172A"/>
                </a:solidFill>
              </a:rPr>
              <a:t>Always-on; no Neon hour cap</a:t>
            </a:r>
            <a:endParaRPr lang="en-US" sz="1000" dirty="0"/>
          </a:p>
        </p:txBody>
      </p:sp>
      <p:sp>
        <p:nvSpPr>
          <p:cNvPr id="22" name="Shape 19"/>
          <p:cNvSpPr/>
          <p:nvPr/>
        </p:nvSpPr>
        <p:spPr>
          <a:xfrm>
            <a:off x="5449824" y="1005840"/>
            <a:ext cx="1536192" cy="3246120"/>
          </a:xfrm>
          <a:prstGeom prst="roundRect">
            <a:avLst>
              <a:gd name="adj" fmla="val 4762"/>
            </a:avLst>
          </a:prstGeom>
          <a:solidFill>
            <a:srgbClr val="F8FAFC"/>
          </a:solidFill>
          <a:ln w="9525">
            <a:solidFill>
              <a:srgbClr val="CBD5E1"/>
            </a:solidFill>
            <a:prstDash val="solid"/>
          </a:ln>
        </p:spPr>
      </p:sp>
      <p:sp>
        <p:nvSpPr>
          <p:cNvPr id="23" name="Text 20"/>
          <p:cNvSpPr txBox="1"/>
          <p:nvPr/>
        </p:nvSpPr>
        <p:spPr>
          <a:xfrm>
            <a:off x="5559552" y="1097280"/>
            <a:ext cx="1325880" cy="256032"/>
          </a:xfrm>
          <a:prstGeom prst="rect">
            <a:avLst/>
          </a:prstGeom>
          <a:noFill/>
          <a:ln/>
        </p:spPr>
        <p:txBody>
          <a:bodyPr wrap="square" lIns="0" tIns="0" rIns="0" bIns="0" rtlCol="0" anchor="t"/>
          <a:lstStyle/>
          <a:p>
            <a:pPr indent="0" marL="0">
              <a:buNone/>
            </a:pPr>
            <a:r>
              <a:rPr lang="en-US" sz="1000" b="1" dirty="0">
                <a:solidFill>
                  <a:schemeClr val="accent2"/>
                </a:solidFill>
              </a:rPr>
              <a:t>Stage 3</a:t>
            </a:r>
            <a:endParaRPr lang="en-US" sz="1000" dirty="0"/>
          </a:p>
        </p:txBody>
      </p:sp>
      <p:sp>
        <p:nvSpPr>
          <p:cNvPr id="24" name="Text 21"/>
          <p:cNvSpPr txBox="1"/>
          <p:nvPr/>
        </p:nvSpPr>
        <p:spPr>
          <a:xfrm>
            <a:off x="5559552" y="1353312"/>
            <a:ext cx="1325880" cy="457200"/>
          </a:xfrm>
          <a:prstGeom prst="rect">
            <a:avLst/>
          </a:prstGeom>
          <a:noFill/>
          <a:ln/>
        </p:spPr>
        <p:txBody>
          <a:bodyPr wrap="square" lIns="0" tIns="0" rIns="0" bIns="0" rtlCol="0" anchor="t"/>
          <a:lstStyle/>
          <a:p>
            <a:pPr indent="0" marL="0">
              <a:buNone/>
            </a:pPr>
            <a:r>
              <a:rPr lang="en-US" sz="1300" b="1" dirty="0">
                <a:solidFill>
                  <a:schemeClr val="tx2"/>
                </a:solidFill>
              </a:rPr>
              <a:t>Growing multi-org</a:t>
            </a:r>
            <a:endParaRPr lang="en-US" sz="1300" dirty="0"/>
          </a:p>
        </p:txBody>
      </p:sp>
      <p:sp>
        <p:nvSpPr>
          <p:cNvPr id="25" name="Text 22"/>
          <p:cNvSpPr txBox="1"/>
          <p:nvPr/>
        </p:nvSpPr>
        <p:spPr>
          <a:xfrm>
            <a:off x="5559552" y="1874520"/>
            <a:ext cx="1325880" cy="411480"/>
          </a:xfrm>
          <a:prstGeom prst="rect">
            <a:avLst/>
          </a:prstGeom>
          <a:noFill/>
          <a:ln/>
        </p:spPr>
        <p:txBody>
          <a:bodyPr wrap="square" lIns="0" tIns="0" rIns="0" bIns="0" rtlCol="0" anchor="t"/>
          <a:lstStyle/>
          <a:p>
            <a:pPr indent="0" marL="0">
              <a:buNone/>
            </a:pPr>
            <a:r>
              <a:rPr lang="en-US" sz="1500" b="1" dirty="0">
                <a:solidFill>
                  <a:schemeClr val="accent1"/>
                </a:solidFill>
              </a:rPr>
              <a:t>≈ $70–110/mo</a:t>
            </a:r>
            <a:endParaRPr lang="en-US" sz="1500" dirty="0"/>
          </a:p>
        </p:txBody>
      </p:sp>
      <p:sp>
        <p:nvSpPr>
          <p:cNvPr id="26" name="Text 23"/>
          <p:cNvSpPr txBox="1"/>
          <p:nvPr/>
        </p:nvSpPr>
        <p:spPr>
          <a:xfrm>
            <a:off x="5559552" y="2377440"/>
            <a:ext cx="1325880" cy="1051560"/>
          </a:xfrm>
          <a:prstGeom prst="rect">
            <a:avLst/>
          </a:prstGeom>
          <a:noFill/>
          <a:ln/>
        </p:spPr>
        <p:txBody>
          <a:bodyPr wrap="square" lIns="0" tIns="0" rIns="0" bIns="0" rtlCol="0" anchor="t"/>
          <a:lstStyle/>
          <a:p>
            <a:pPr indent="0" marL="0">
              <a:buNone/>
            </a:pPr>
            <a:r>
              <a:rPr lang="en-US" sz="1050" dirty="0">
                <a:solidFill>
                  <a:srgbClr val="475569"/>
                </a:solidFill>
              </a:rPr>
              <a:t>Render Standard · Pro workspace · Resend Pro (if needed)</a:t>
            </a:r>
            <a:endParaRPr lang="en-US" sz="1050" dirty="0"/>
          </a:p>
        </p:txBody>
      </p:sp>
      <p:sp>
        <p:nvSpPr>
          <p:cNvPr id="27" name="Text 24"/>
          <p:cNvSpPr txBox="1"/>
          <p:nvPr/>
        </p:nvSpPr>
        <p:spPr>
          <a:xfrm>
            <a:off x="5559552" y="3474720"/>
            <a:ext cx="1325880" cy="685800"/>
          </a:xfrm>
          <a:prstGeom prst="rect">
            <a:avLst/>
          </a:prstGeom>
          <a:noFill/>
          <a:ln/>
        </p:spPr>
        <p:txBody>
          <a:bodyPr wrap="square" lIns="0" tIns="0" rIns="0" bIns="0" rtlCol="0" anchor="t"/>
          <a:lstStyle/>
          <a:p>
            <a:pPr indent="0" marL="0">
              <a:buNone/>
            </a:pPr>
            <a:r>
              <a:rPr lang="en-US" sz="1000" i="1" dirty="0">
                <a:solidFill>
                  <a:srgbClr val="0F172A"/>
                </a:solidFill>
              </a:rPr>
              <a:t>More CPU + 25 GB outbound</a:t>
            </a:r>
            <a:endParaRPr lang="en-US" sz="1000" dirty="0"/>
          </a:p>
        </p:txBody>
      </p:sp>
      <p:sp>
        <p:nvSpPr>
          <p:cNvPr id="28" name="Shape 25"/>
          <p:cNvSpPr/>
          <p:nvPr/>
        </p:nvSpPr>
        <p:spPr>
          <a:xfrm>
            <a:off x="7114032" y="1005840"/>
            <a:ext cx="1536192" cy="3246120"/>
          </a:xfrm>
          <a:prstGeom prst="roundRect">
            <a:avLst>
              <a:gd name="adj" fmla="val 4762"/>
            </a:avLst>
          </a:prstGeom>
          <a:solidFill>
            <a:srgbClr val="F8FAFC"/>
          </a:solidFill>
          <a:ln w="9525">
            <a:solidFill>
              <a:srgbClr val="CBD5E1"/>
            </a:solidFill>
            <a:prstDash val="solid"/>
          </a:ln>
        </p:spPr>
      </p:sp>
      <p:sp>
        <p:nvSpPr>
          <p:cNvPr id="29" name="Text 26"/>
          <p:cNvSpPr txBox="1"/>
          <p:nvPr/>
        </p:nvSpPr>
        <p:spPr>
          <a:xfrm>
            <a:off x="7223760" y="1097280"/>
            <a:ext cx="1325880" cy="256032"/>
          </a:xfrm>
          <a:prstGeom prst="rect">
            <a:avLst/>
          </a:prstGeom>
          <a:noFill/>
          <a:ln/>
        </p:spPr>
        <p:txBody>
          <a:bodyPr wrap="square" lIns="0" tIns="0" rIns="0" bIns="0" rtlCol="0" anchor="t"/>
          <a:lstStyle/>
          <a:p>
            <a:pPr indent="0" marL="0">
              <a:buNone/>
            </a:pPr>
            <a:r>
              <a:rPr lang="en-US" sz="1000" b="1" dirty="0">
                <a:solidFill>
                  <a:schemeClr val="accent2"/>
                </a:solidFill>
              </a:rPr>
              <a:t>Stage 4</a:t>
            </a:r>
            <a:endParaRPr lang="en-US" sz="1000" dirty="0"/>
          </a:p>
        </p:txBody>
      </p:sp>
      <p:sp>
        <p:nvSpPr>
          <p:cNvPr id="30" name="Text 27"/>
          <p:cNvSpPr txBox="1"/>
          <p:nvPr/>
        </p:nvSpPr>
        <p:spPr>
          <a:xfrm>
            <a:off x="7223760" y="1353312"/>
            <a:ext cx="1325880" cy="457200"/>
          </a:xfrm>
          <a:prstGeom prst="rect">
            <a:avLst/>
          </a:prstGeom>
          <a:noFill/>
          <a:ln/>
        </p:spPr>
        <p:txBody>
          <a:bodyPr wrap="square" lIns="0" tIns="0" rIns="0" bIns="0" rtlCol="0" anchor="t"/>
          <a:lstStyle/>
          <a:p>
            <a:pPr indent="0" marL="0">
              <a:buNone/>
            </a:pPr>
            <a:r>
              <a:rPr lang="en-US" sz="1300" b="1" dirty="0">
                <a:solidFill>
                  <a:schemeClr val="tx2"/>
                </a:solidFill>
              </a:rPr>
              <a:t>High concurrency</a:t>
            </a:r>
            <a:endParaRPr lang="en-US" sz="1300" dirty="0"/>
          </a:p>
        </p:txBody>
      </p:sp>
      <p:sp>
        <p:nvSpPr>
          <p:cNvPr id="31" name="Text 28"/>
          <p:cNvSpPr txBox="1"/>
          <p:nvPr/>
        </p:nvSpPr>
        <p:spPr>
          <a:xfrm>
            <a:off x="7223760" y="1874520"/>
            <a:ext cx="1325880" cy="411480"/>
          </a:xfrm>
          <a:prstGeom prst="rect">
            <a:avLst/>
          </a:prstGeom>
          <a:noFill/>
          <a:ln/>
        </p:spPr>
        <p:txBody>
          <a:bodyPr wrap="square" lIns="0" tIns="0" rIns="0" bIns="0" rtlCol="0" anchor="t"/>
          <a:lstStyle/>
          <a:p>
            <a:pPr indent="0" marL="0">
              <a:buNone/>
            </a:pPr>
            <a:r>
              <a:rPr lang="en-US" sz="1500" b="1" dirty="0">
                <a:solidFill>
                  <a:schemeClr val="accent1"/>
                </a:solidFill>
              </a:rPr>
              <a:t>Size after load test</a:t>
            </a:r>
            <a:endParaRPr lang="en-US" sz="1500" dirty="0"/>
          </a:p>
        </p:txBody>
      </p:sp>
      <p:sp>
        <p:nvSpPr>
          <p:cNvPr id="32" name="Text 29"/>
          <p:cNvSpPr txBox="1"/>
          <p:nvPr/>
        </p:nvSpPr>
        <p:spPr>
          <a:xfrm>
            <a:off x="7223760" y="2377440"/>
            <a:ext cx="1325880" cy="1051560"/>
          </a:xfrm>
          <a:prstGeom prst="rect">
            <a:avLst/>
          </a:prstGeom>
          <a:noFill/>
          <a:ln/>
        </p:spPr>
        <p:txBody>
          <a:bodyPr wrap="square" lIns="0" tIns="0" rIns="0" bIns="0" rtlCol="0" anchor="t"/>
          <a:lstStyle/>
          <a:p>
            <a:pPr indent="0" marL="0">
              <a:buNone/>
            </a:pPr>
            <a:r>
              <a:rPr lang="en-US" sz="1050" dirty="0">
                <a:solidFill>
                  <a:srgbClr val="475569"/>
                </a:solidFill>
              </a:rPr>
              <a:t>Replicas · Redis · Socket.io adapter · metrics</a:t>
            </a:r>
            <a:endParaRPr lang="en-US" sz="1050" dirty="0"/>
          </a:p>
        </p:txBody>
      </p:sp>
      <p:sp>
        <p:nvSpPr>
          <p:cNvPr id="33" name="Text 30"/>
          <p:cNvSpPr txBox="1"/>
          <p:nvPr/>
        </p:nvSpPr>
        <p:spPr>
          <a:xfrm>
            <a:off x="7223760" y="3474720"/>
            <a:ext cx="1325880" cy="685800"/>
          </a:xfrm>
          <a:prstGeom prst="rect">
            <a:avLst/>
          </a:prstGeom>
          <a:noFill/>
          <a:ln/>
        </p:spPr>
        <p:txBody>
          <a:bodyPr wrap="square" lIns="0" tIns="0" rIns="0" bIns="0" rtlCol="0" anchor="t"/>
          <a:lstStyle/>
          <a:p>
            <a:pPr indent="0" marL="0">
              <a:buNone/>
            </a:pPr>
            <a:r>
              <a:rPr lang="en-US" sz="1000" i="1" dirty="0">
                <a:solidFill>
                  <a:srgbClr val="0F172A"/>
                </a:solidFill>
              </a:rPr>
              <a:t>Horizontal realtime</a:t>
            </a:r>
            <a:endParaRPr lang="en-US" sz="1000" dirty="0"/>
          </a:p>
        </p:txBody>
      </p:sp>
      <p:sp>
        <p:nvSpPr>
          <p:cNvPr id="34" name="Text 31"/>
          <p:cNvSpPr txBox="1"/>
          <p:nvPr/>
        </p:nvSpPr>
        <p:spPr>
          <a:xfrm>
            <a:off x="457200" y="4389120"/>
            <a:ext cx="8229600" cy="365760"/>
          </a:xfrm>
          <a:prstGeom prst="rect">
            <a:avLst/>
          </a:prstGeom>
          <a:noFill/>
          <a:ln/>
        </p:spPr>
        <p:txBody>
          <a:bodyPr wrap="square" lIns="0" tIns="0" rIns="0" bIns="0" rtlCol="0" anchor="t"/>
          <a:lstStyle/>
          <a:p>
            <a:pPr indent="0" marL="0">
              <a:buNone/>
            </a:pPr>
            <a:r>
              <a:rPr lang="en-US" sz="950" dirty="0">
                <a:solidFill>
                  <a:srgbClr val="64748B"/>
                </a:solidFill>
              </a:rPr>
              <a:t>ESTIMATES, not load-test validated. Fixed vs usage-based: Render plans fixed; Neon Launch usage-based. Domain cost separate. Quotas checked on: 2026-10-08 · production state: 2026-10-09</a:t>
            </a:r>
            <a:endParaRPr lang="en-US" sz="9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Known limitations and future development</a:t>
            </a:r>
            <a:endParaRPr lang="en-US" sz="2400" dirty="0"/>
          </a:p>
        </p:txBody>
      </p:sp>
      <p:sp>
        <p:nvSpPr>
          <p:cNvPr id="4" name="Text 1"/>
          <p:cNvSpPr txBox="1"/>
          <p:nvPr/>
        </p:nvSpPr>
        <p:spPr>
          <a:xfrm>
            <a:off x="457200" y="960120"/>
            <a:ext cx="4023360" cy="274320"/>
          </a:xfrm>
          <a:prstGeom prst="rect">
            <a:avLst/>
          </a:prstGeom>
          <a:noFill/>
          <a:ln/>
        </p:spPr>
        <p:txBody>
          <a:bodyPr wrap="square" lIns="0" tIns="0" rIns="0" bIns="0" rtlCol="0" anchor="t"/>
          <a:lstStyle/>
          <a:p>
            <a:pPr indent="0" marL="0">
              <a:buNone/>
            </a:pPr>
            <a:r>
              <a:rPr lang="en-US" sz="1400" b="1" dirty="0">
                <a:solidFill>
                  <a:srgbClr val="B45309"/>
                </a:solidFill>
              </a:rPr>
              <a:t>Limitations today</a:t>
            </a:r>
            <a:endParaRPr lang="en-US" sz="1400" dirty="0"/>
          </a:p>
        </p:txBody>
      </p:sp>
      <p:sp>
        <p:nvSpPr>
          <p:cNvPr id="5" name="Text 2"/>
          <p:cNvSpPr txBox="1"/>
          <p:nvPr/>
        </p:nvSpPr>
        <p:spPr>
          <a:xfrm>
            <a:off x="457200" y="1371600"/>
            <a:ext cx="4023360" cy="32004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Single backend instance; no Socket.io adapter</a:t>
            </a:r>
            <a:endParaRPr lang="en-US" sz="1400" dirty="0"/>
          </a:p>
          <a:p>
            <a:pPr marL="177800" indent="-177800">
              <a:spcAft>
                <a:spcPts val="500"/>
              </a:spcAft>
              <a:buSzPct val="100000"/>
              <a:buChar char="•"/>
            </a:pPr>
            <a:r>
              <a:rPr lang="en-US" sz="1400" dirty="0">
                <a:solidFill>
                  <a:schemeClr val="tx1"/>
                </a:solidFill>
              </a:rPr>
              <a:t>Free-tier cold start (~1 minute after 15 idle minutes)</a:t>
            </a:r>
            <a:endParaRPr lang="en-US" sz="1400" dirty="0"/>
          </a:p>
          <a:p>
            <a:pPr marL="177800" indent="-177800">
              <a:spcAft>
                <a:spcPts val="500"/>
              </a:spcAft>
              <a:buSzPct val="100000"/>
              <a:buChar char="•"/>
            </a:pPr>
            <a:r>
              <a:rPr lang="en-US" sz="1400" dirty="0">
                <a:solidFill>
                  <a:schemeClr val="tx1"/>
                </a:solidFill>
              </a:rPr>
              <a:t>Per-person socket fan-out (grows with waiting × staff tabs)</a:t>
            </a:r>
            <a:endParaRPr lang="en-US" sz="1400" dirty="0"/>
          </a:p>
          <a:p>
            <a:pPr marL="177800" indent="-177800">
              <a:spcAft>
                <a:spcPts val="500"/>
              </a:spcAft>
              <a:buSzPct val="100000"/>
              <a:buChar char="•"/>
            </a:pPr>
            <a:r>
              <a:rPr lang="en-US" sz="1400" dirty="0">
                <a:solidFill>
                  <a:schemeClr val="tx1"/>
                </a:solidFill>
              </a:rPr>
              <a:t>In-memory rate limits; a shared NAT shares one limit</a:t>
            </a:r>
            <a:endParaRPr lang="en-US" sz="1400" dirty="0"/>
          </a:p>
          <a:p>
            <a:pPr marL="177800" indent="-177800">
              <a:spcAft>
                <a:spcPts val="500"/>
              </a:spcAft>
              <a:buSzPct val="100000"/>
              <a:buChar char="•"/>
            </a:pPr>
            <a:r>
              <a:rPr lang="en-US" sz="1400" dirty="0">
                <a:solidFill>
                  <a:schemeClr val="tx1"/>
                </a:solidFill>
              </a:rPr>
              <a:t>No formal load test; no central metrics/alerts</a:t>
            </a:r>
            <a:endParaRPr lang="en-US" sz="1400" dirty="0"/>
          </a:p>
          <a:p>
            <a:pPr marL="177800" indent="-177800">
              <a:spcAft>
                <a:spcPts val="500"/>
              </a:spcAft>
              <a:buSzPct val="100000"/>
              <a:buChar char="•"/>
            </a:pPr>
            <a:r>
              <a:rPr lang="en-US" sz="1400" dirty="0">
                <a:solidFill>
                  <a:schemeClr val="tx1"/>
                </a:solidFill>
              </a:rPr>
              <a:t>Physical iPhone push and Android QA pending</a:t>
            </a:r>
            <a:endParaRPr lang="en-US" sz="1400" dirty="0"/>
          </a:p>
        </p:txBody>
      </p:sp>
      <p:sp>
        <p:nvSpPr>
          <p:cNvPr id="6" name="Text 3"/>
          <p:cNvSpPr txBox="1"/>
          <p:nvPr/>
        </p:nvSpPr>
        <p:spPr>
          <a:xfrm>
            <a:off x="4754880" y="960120"/>
            <a:ext cx="3931920" cy="274320"/>
          </a:xfrm>
          <a:prstGeom prst="rect">
            <a:avLst/>
          </a:prstGeom>
          <a:noFill/>
          <a:ln/>
        </p:spPr>
        <p:txBody>
          <a:bodyPr wrap="square" lIns="0" tIns="0" rIns="0" bIns="0" rtlCol="0" anchor="t"/>
          <a:lstStyle/>
          <a:p>
            <a:pPr indent="0" marL="0">
              <a:buNone/>
            </a:pPr>
            <a:r>
              <a:rPr lang="en-US" sz="1400" b="1" dirty="0">
                <a:solidFill>
                  <a:schemeClr val="accent1"/>
                </a:solidFill>
              </a:rPr>
              <a:t>Future (not implemented)</a:t>
            </a:r>
            <a:endParaRPr lang="en-US" sz="1400" dirty="0"/>
          </a:p>
        </p:txBody>
      </p:sp>
      <p:sp>
        <p:nvSpPr>
          <p:cNvPr id="7" name="Text 4"/>
          <p:cNvSpPr txBox="1"/>
          <p:nvPr/>
        </p:nvSpPr>
        <p:spPr>
          <a:xfrm>
            <a:off x="4754880" y="1371600"/>
            <a:ext cx="3931920" cy="32004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Queue-level realtime updates instead of one per person</a:t>
            </a:r>
            <a:endParaRPr lang="en-US" sz="1400" dirty="0"/>
          </a:p>
          <a:p>
            <a:pPr marL="177800" indent="-177800">
              <a:spcAft>
                <a:spcPts val="500"/>
              </a:spcAft>
              <a:buSzPct val="100000"/>
              <a:buChar char="•"/>
            </a:pPr>
            <a:r>
              <a:rPr lang="en-US" sz="1400" dirty="0">
                <a:solidFill>
                  <a:schemeClr val="tx1"/>
                </a:solidFill>
              </a:rPr>
              <a:t>Redis + Socket.io adapter + horizontal replicas</a:t>
            </a:r>
            <a:endParaRPr lang="en-US" sz="1400" dirty="0"/>
          </a:p>
          <a:p>
            <a:pPr marL="177800" indent="-177800">
              <a:spcAft>
                <a:spcPts val="500"/>
              </a:spcAft>
              <a:buSzPct val="100000"/>
              <a:buChar char="•"/>
            </a:pPr>
            <a:r>
              <a:rPr lang="en-US" sz="1400" dirty="0">
                <a:solidFill>
                  <a:schemeClr val="tx1"/>
                </a:solidFill>
              </a:rPr>
              <a:t>Observability: metrics, central logs, alerts</a:t>
            </a:r>
            <a:endParaRPr lang="en-US" sz="1400" dirty="0"/>
          </a:p>
          <a:p>
            <a:pPr marL="177800" indent="-177800">
              <a:spcAft>
                <a:spcPts val="500"/>
              </a:spcAft>
              <a:buSzPct val="100000"/>
              <a:buChar char="•"/>
            </a:pPr>
            <a:r>
              <a:rPr lang="en-US" sz="1400" dirty="0">
                <a:solidFill>
                  <a:schemeClr val="tx1"/>
                </a:solidFill>
              </a:rPr>
              <a:t>Analytics and predictive wait times</a:t>
            </a:r>
            <a:endParaRPr lang="en-US" sz="1400" dirty="0"/>
          </a:p>
          <a:p>
            <a:pPr marL="177800" indent="-177800">
              <a:spcAft>
                <a:spcPts val="500"/>
              </a:spcAft>
              <a:buSzPct val="100000"/>
              <a:buChar char="•"/>
            </a:pPr>
            <a:r>
              <a:rPr lang="en-US" sz="1400" dirty="0">
                <a:solidFill>
                  <a:schemeClr val="tx1"/>
                </a:solidFill>
              </a:rPr>
              <a:t>Kiosk mode and institutional integrations</a:t>
            </a:r>
            <a:endParaRPr lang="en-US" sz="1400" dirty="0"/>
          </a:p>
          <a:p>
            <a:pPr marL="177800" indent="-177800">
              <a:spcAft>
                <a:spcPts val="500"/>
              </a:spcAft>
              <a:buSzPct val="100000"/>
              <a:buChar char="•"/>
            </a:pPr>
            <a:r>
              <a:rPr lang="en-US" sz="1400" dirty="0">
                <a:solidFill>
                  <a:schemeClr val="tx1"/>
                </a:solidFill>
              </a:rPr>
              <a:t>Optional desktop (Tauri/Electron) counter companion</a:t>
            </a:r>
            <a:endParaRPr lang="en-US" sz="14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rPr>
              <a:t>Live demo plan (≈ 5 minutes)</a:t>
            </a:r>
            <a:endParaRPr lang="en-US" sz="2400" dirty="0"/>
          </a:p>
        </p:txBody>
      </p:sp>
      <p:sp>
        <p:nvSpPr>
          <p:cNvPr id="4" name="Shape 1"/>
          <p:cNvSpPr/>
          <p:nvPr/>
        </p:nvSpPr>
        <p:spPr>
          <a:xfrm>
            <a:off x="457200" y="1078992"/>
            <a:ext cx="384048" cy="384048"/>
          </a:xfrm>
          <a:prstGeom prst="ellipse">
            <a:avLst/>
          </a:prstGeom>
          <a:solidFill>
            <a:srgbClr val="0F539E"/>
          </a:solidFill>
          <a:ln w="12700">
            <a:solidFill>
              <a:srgbClr val="0F539E"/>
            </a:solidFill>
            <a:prstDash val="solid"/>
          </a:ln>
        </p:spPr>
      </p:sp>
      <p:sp>
        <p:nvSpPr>
          <p:cNvPr id="5" name="Text 2"/>
          <p:cNvSpPr txBox="1"/>
          <p:nvPr/>
        </p:nvSpPr>
        <p:spPr>
          <a:xfrm>
            <a:off x="457200" y="10789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3"/>
          <p:cNvSpPr txBox="1"/>
          <p:nvPr/>
        </p:nvSpPr>
        <p:spPr>
          <a:xfrm>
            <a:off x="960120" y="1005840"/>
            <a:ext cx="3474720" cy="548640"/>
          </a:xfrm>
          <a:prstGeom prst="rect">
            <a:avLst/>
          </a:prstGeom>
          <a:noFill/>
          <a:ln/>
        </p:spPr>
        <p:txBody>
          <a:bodyPr wrap="square" lIns="0" tIns="0" rIns="0" bIns="0" rtlCol="0" anchor="ctr"/>
          <a:lstStyle/>
          <a:p>
            <a:pPr indent="0" marL="0">
              <a:buNone/>
            </a:pPr>
            <a:r>
              <a:rPr lang="en-US" sz="1200" dirty="0">
                <a:solidFill>
                  <a:schemeClr val="tx1"/>
                </a:solidFill>
              </a:rPr>
              <a:t>Log in as Head: dashboard, queue, counters, services</a:t>
            </a:r>
            <a:endParaRPr lang="en-US" sz="1200" dirty="0"/>
          </a:p>
        </p:txBody>
      </p:sp>
      <p:sp>
        <p:nvSpPr>
          <p:cNvPr id="7" name="Shape 4"/>
          <p:cNvSpPr/>
          <p:nvPr/>
        </p:nvSpPr>
        <p:spPr>
          <a:xfrm>
            <a:off x="457200" y="1828800"/>
            <a:ext cx="384048" cy="384048"/>
          </a:xfrm>
          <a:prstGeom prst="ellipse">
            <a:avLst/>
          </a:prstGeom>
          <a:solidFill>
            <a:srgbClr val="0F539E"/>
          </a:solidFill>
          <a:ln w="12700">
            <a:solidFill>
              <a:srgbClr val="0F539E"/>
            </a:solidFill>
            <a:prstDash val="solid"/>
          </a:ln>
        </p:spPr>
      </p:sp>
      <p:sp>
        <p:nvSpPr>
          <p:cNvPr id="8" name="Text 5"/>
          <p:cNvSpPr txBox="1"/>
          <p:nvPr/>
        </p:nvSpPr>
        <p:spPr>
          <a:xfrm>
            <a:off x="457200" y="1828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Text 6"/>
          <p:cNvSpPr txBox="1"/>
          <p:nvPr/>
        </p:nvSpPr>
        <p:spPr>
          <a:xfrm>
            <a:off x="960120" y="1755648"/>
            <a:ext cx="3474720" cy="548640"/>
          </a:xfrm>
          <a:prstGeom prst="rect">
            <a:avLst/>
          </a:prstGeom>
          <a:noFill/>
          <a:ln/>
        </p:spPr>
        <p:txBody>
          <a:bodyPr wrap="square" lIns="0" tIns="0" rIns="0" bIns="0" rtlCol="0" anchor="ctr"/>
          <a:lstStyle/>
          <a:p>
            <a:pPr indent="0" marL="0">
              <a:buNone/>
            </a:pPr>
            <a:r>
              <a:rPr lang="en-US" sz="1200" dirty="0">
                <a:solidFill>
                  <a:schemeClr val="tx1"/>
                </a:solidFill>
              </a:rPr>
              <a:t>Visitor scans the organization QR on a phone</a:t>
            </a:r>
            <a:endParaRPr lang="en-US" sz="1200" dirty="0"/>
          </a:p>
        </p:txBody>
      </p:sp>
      <p:sp>
        <p:nvSpPr>
          <p:cNvPr id="10" name="Shape 7"/>
          <p:cNvSpPr/>
          <p:nvPr/>
        </p:nvSpPr>
        <p:spPr>
          <a:xfrm>
            <a:off x="457200" y="2578608"/>
            <a:ext cx="384048" cy="384048"/>
          </a:xfrm>
          <a:prstGeom prst="ellipse">
            <a:avLst/>
          </a:prstGeom>
          <a:solidFill>
            <a:srgbClr val="0F539E"/>
          </a:solidFill>
          <a:ln w="12700">
            <a:solidFill>
              <a:srgbClr val="0F539E"/>
            </a:solidFill>
            <a:prstDash val="solid"/>
          </a:ln>
        </p:spPr>
      </p:sp>
      <p:sp>
        <p:nvSpPr>
          <p:cNvPr id="11" name="Text 8"/>
          <p:cNvSpPr txBox="1"/>
          <p:nvPr/>
        </p:nvSpPr>
        <p:spPr>
          <a:xfrm>
            <a:off x="457200" y="257860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Text 9"/>
          <p:cNvSpPr txBox="1"/>
          <p:nvPr/>
        </p:nvSpPr>
        <p:spPr>
          <a:xfrm>
            <a:off x="960120" y="2505456"/>
            <a:ext cx="3474720" cy="548640"/>
          </a:xfrm>
          <a:prstGeom prst="rect">
            <a:avLst/>
          </a:prstGeom>
          <a:noFill/>
          <a:ln/>
        </p:spPr>
        <p:txBody>
          <a:bodyPr wrap="square" lIns="0" tIns="0" rIns="0" bIns="0" rtlCol="0" anchor="ctr"/>
          <a:lstStyle/>
          <a:p>
            <a:pPr indent="0" marL="0">
              <a:buNone/>
            </a:pPr>
            <a:r>
              <a:rPr lang="en-US" sz="1200" dirty="0">
                <a:solidFill>
                  <a:schemeClr val="tx1"/>
                </a:solidFill>
              </a:rPr>
              <a:t>Build a 2-step journey; get a token</a:t>
            </a:r>
            <a:endParaRPr lang="en-US" sz="1200" dirty="0"/>
          </a:p>
        </p:txBody>
      </p:sp>
      <p:sp>
        <p:nvSpPr>
          <p:cNvPr id="13" name="Shape 10"/>
          <p:cNvSpPr/>
          <p:nvPr/>
        </p:nvSpPr>
        <p:spPr>
          <a:xfrm>
            <a:off x="457200" y="3328416"/>
            <a:ext cx="384048" cy="384048"/>
          </a:xfrm>
          <a:prstGeom prst="ellipse">
            <a:avLst/>
          </a:prstGeom>
          <a:solidFill>
            <a:srgbClr val="0F539E"/>
          </a:solidFill>
          <a:ln w="12700">
            <a:solidFill>
              <a:srgbClr val="0F539E"/>
            </a:solidFill>
            <a:prstDash val="solid"/>
          </a:ln>
        </p:spPr>
      </p:sp>
      <p:sp>
        <p:nvSpPr>
          <p:cNvPr id="14" name="Text 11"/>
          <p:cNvSpPr txBox="1"/>
          <p:nvPr/>
        </p:nvSpPr>
        <p:spPr>
          <a:xfrm>
            <a:off x="457200" y="332841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Text 12"/>
          <p:cNvSpPr txBox="1"/>
          <p:nvPr/>
        </p:nvSpPr>
        <p:spPr>
          <a:xfrm>
            <a:off x="960120" y="3255264"/>
            <a:ext cx="3474720" cy="548640"/>
          </a:xfrm>
          <a:prstGeom prst="rect">
            <a:avLst/>
          </a:prstGeom>
          <a:noFill/>
          <a:ln/>
        </p:spPr>
        <p:txBody>
          <a:bodyPr wrap="square" lIns="0" tIns="0" rIns="0" bIns="0" rtlCol="0" anchor="ctr"/>
          <a:lstStyle/>
          <a:p>
            <a:pPr indent="0" marL="0">
              <a:buNone/>
            </a:pPr>
            <a:r>
              <a:rPr lang="en-US" sz="1200" dirty="0">
                <a:solidFill>
                  <a:schemeClr val="tx1"/>
                </a:solidFill>
              </a:rPr>
              <a:t>Executive presses Serve next — phone updates live</a:t>
            </a:r>
            <a:endParaRPr lang="en-US" sz="1200" dirty="0"/>
          </a:p>
        </p:txBody>
      </p:sp>
      <p:sp>
        <p:nvSpPr>
          <p:cNvPr id="16" name="Shape 13"/>
          <p:cNvSpPr/>
          <p:nvPr/>
        </p:nvSpPr>
        <p:spPr>
          <a:xfrm>
            <a:off x="4617720" y="1078992"/>
            <a:ext cx="384048" cy="384048"/>
          </a:xfrm>
          <a:prstGeom prst="ellipse">
            <a:avLst/>
          </a:prstGeom>
          <a:solidFill>
            <a:srgbClr val="0F539E"/>
          </a:solidFill>
          <a:ln w="12700">
            <a:solidFill>
              <a:srgbClr val="0F539E"/>
            </a:solidFill>
            <a:prstDash val="solid"/>
          </a:ln>
        </p:spPr>
      </p:sp>
      <p:sp>
        <p:nvSpPr>
          <p:cNvPr id="17" name="Text 14"/>
          <p:cNvSpPr txBox="1"/>
          <p:nvPr/>
        </p:nvSpPr>
        <p:spPr>
          <a:xfrm>
            <a:off x="4617720" y="10789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Text 15"/>
          <p:cNvSpPr txBox="1"/>
          <p:nvPr/>
        </p:nvSpPr>
        <p:spPr>
          <a:xfrm>
            <a:off x="5120640" y="1005840"/>
            <a:ext cx="3474720" cy="548640"/>
          </a:xfrm>
          <a:prstGeom prst="rect">
            <a:avLst/>
          </a:prstGeom>
          <a:noFill/>
          <a:ln/>
        </p:spPr>
        <p:txBody>
          <a:bodyPr wrap="square" lIns="0" tIns="0" rIns="0" bIns="0" rtlCol="0" anchor="ctr"/>
          <a:lstStyle/>
          <a:p>
            <a:pPr indent="0" marL="0">
              <a:buNone/>
            </a:pPr>
            <a:r>
              <a:rPr lang="en-US" sz="1200" dirty="0">
                <a:solidFill>
                  <a:schemeClr val="tx1"/>
                </a:solidFill>
              </a:rPr>
              <a:t>Start → Complete step → person returns for step 2</a:t>
            </a:r>
            <a:endParaRPr lang="en-US" sz="1200" dirty="0"/>
          </a:p>
        </p:txBody>
      </p:sp>
      <p:sp>
        <p:nvSpPr>
          <p:cNvPr id="19" name="Shape 16"/>
          <p:cNvSpPr/>
          <p:nvPr/>
        </p:nvSpPr>
        <p:spPr>
          <a:xfrm>
            <a:off x="4617720" y="1828800"/>
            <a:ext cx="384048" cy="384048"/>
          </a:xfrm>
          <a:prstGeom prst="ellipse">
            <a:avLst/>
          </a:prstGeom>
          <a:solidFill>
            <a:srgbClr val="0F539E"/>
          </a:solidFill>
          <a:ln w="12700">
            <a:solidFill>
              <a:srgbClr val="0F539E"/>
            </a:solidFill>
            <a:prstDash val="solid"/>
          </a:ln>
        </p:spPr>
      </p:sp>
      <p:sp>
        <p:nvSpPr>
          <p:cNvPr id="20" name="Text 17"/>
          <p:cNvSpPr txBox="1"/>
          <p:nvPr/>
        </p:nvSpPr>
        <p:spPr>
          <a:xfrm>
            <a:off x="4617720" y="1828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1" name="Text 18"/>
          <p:cNvSpPr txBox="1"/>
          <p:nvPr/>
        </p:nvSpPr>
        <p:spPr>
          <a:xfrm>
            <a:off x="5120640" y="1755648"/>
            <a:ext cx="3474720" cy="548640"/>
          </a:xfrm>
          <a:prstGeom prst="rect">
            <a:avLst/>
          </a:prstGeom>
          <a:noFill/>
          <a:ln/>
        </p:spPr>
        <p:txBody>
          <a:bodyPr wrap="square" lIns="0" tIns="0" rIns="0" bIns="0" rtlCol="0" anchor="ctr"/>
          <a:lstStyle/>
          <a:p>
            <a:pPr indent="0" marL="0">
              <a:buNone/>
            </a:pPr>
            <a:r>
              <a:rPr lang="en-US" sz="1200" dirty="0">
                <a:solidFill>
                  <a:schemeClr val="tx1"/>
                </a:solidFill>
              </a:rPr>
              <a:t>Referral to another counter (if time allows)</a:t>
            </a:r>
            <a:endParaRPr lang="en-US" sz="1200" dirty="0"/>
          </a:p>
        </p:txBody>
      </p:sp>
      <p:sp>
        <p:nvSpPr>
          <p:cNvPr id="22" name="Shape 19"/>
          <p:cNvSpPr/>
          <p:nvPr/>
        </p:nvSpPr>
        <p:spPr>
          <a:xfrm>
            <a:off x="4617720" y="2578608"/>
            <a:ext cx="384048" cy="384048"/>
          </a:xfrm>
          <a:prstGeom prst="ellipse">
            <a:avLst/>
          </a:prstGeom>
          <a:solidFill>
            <a:srgbClr val="0F539E"/>
          </a:solidFill>
          <a:ln w="12700">
            <a:solidFill>
              <a:srgbClr val="0F539E"/>
            </a:solidFill>
            <a:prstDash val="solid"/>
          </a:ln>
        </p:spPr>
      </p:sp>
      <p:sp>
        <p:nvSpPr>
          <p:cNvPr id="23" name="Text 20"/>
          <p:cNvSpPr txBox="1"/>
          <p:nvPr/>
        </p:nvSpPr>
        <p:spPr>
          <a:xfrm>
            <a:off x="4617720" y="257860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24" name="Text 21"/>
          <p:cNvSpPr txBox="1"/>
          <p:nvPr/>
        </p:nvSpPr>
        <p:spPr>
          <a:xfrm>
            <a:off x="5120640" y="2505456"/>
            <a:ext cx="3474720" cy="548640"/>
          </a:xfrm>
          <a:prstGeom prst="rect">
            <a:avLst/>
          </a:prstGeom>
          <a:noFill/>
          <a:ln/>
        </p:spPr>
        <p:txBody>
          <a:bodyPr wrap="square" lIns="0" tIns="0" rIns="0" bIns="0" rtlCol="0" anchor="ctr"/>
          <a:lstStyle/>
          <a:p>
            <a:pPr indent="0" marL="0">
              <a:buNone/>
            </a:pPr>
            <a:r>
              <a:rPr lang="en-US" sz="1200" dirty="0">
                <a:solidFill>
                  <a:schemeClr val="tx1"/>
                </a:solidFill>
              </a:rPr>
              <a:t>Open the Floating Counter Console (local build)</a:t>
            </a:r>
            <a:endParaRPr lang="en-US" sz="1200" dirty="0"/>
          </a:p>
        </p:txBody>
      </p:sp>
      <p:sp>
        <p:nvSpPr>
          <p:cNvPr id="25" name="Shape 22"/>
          <p:cNvSpPr/>
          <p:nvPr/>
        </p:nvSpPr>
        <p:spPr>
          <a:xfrm>
            <a:off x="4617720" y="3328416"/>
            <a:ext cx="384048" cy="384048"/>
          </a:xfrm>
          <a:prstGeom prst="ellipse">
            <a:avLst/>
          </a:prstGeom>
          <a:solidFill>
            <a:srgbClr val="0F539E"/>
          </a:solidFill>
          <a:ln w="12700">
            <a:solidFill>
              <a:srgbClr val="0F539E"/>
            </a:solidFill>
            <a:prstDash val="solid"/>
          </a:ln>
        </p:spPr>
      </p:sp>
      <p:sp>
        <p:nvSpPr>
          <p:cNvPr id="26" name="Text 23"/>
          <p:cNvSpPr txBox="1"/>
          <p:nvPr/>
        </p:nvSpPr>
        <p:spPr>
          <a:xfrm>
            <a:off x="4617720" y="332841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27" name="Text 24"/>
          <p:cNvSpPr txBox="1"/>
          <p:nvPr/>
        </p:nvSpPr>
        <p:spPr>
          <a:xfrm>
            <a:off x="5120640" y="3255264"/>
            <a:ext cx="3474720" cy="548640"/>
          </a:xfrm>
          <a:prstGeom prst="rect">
            <a:avLst/>
          </a:prstGeom>
          <a:noFill/>
          <a:ln/>
        </p:spPr>
        <p:txBody>
          <a:bodyPr wrap="square" lIns="0" tIns="0" rIns="0" bIns="0" rtlCol="0" anchor="ctr"/>
          <a:lstStyle/>
          <a:p>
            <a:pPr indent="0" marL="0">
              <a:buNone/>
            </a:pPr>
            <a:r>
              <a:rPr lang="en-US" sz="1200" dirty="0">
                <a:solidFill>
                  <a:schemeClr val="tx1"/>
                </a:solidFill>
              </a:rPr>
              <a:t>Show Associates, audit log and service history</a:t>
            </a:r>
            <a:endParaRPr lang="en-US" sz="1200" dirty="0"/>
          </a:p>
        </p:txBody>
      </p:sp>
      <p:sp>
        <p:nvSpPr>
          <p:cNvPr id="28" name="Shape 25"/>
          <p:cNvSpPr/>
          <p:nvPr/>
        </p:nvSpPr>
        <p:spPr>
          <a:xfrm>
            <a:off x="457200" y="4023360"/>
            <a:ext cx="8229600" cy="594360"/>
          </a:xfrm>
          <a:prstGeom prst="roundRect">
            <a:avLst>
              <a:gd name="adj" fmla="val 12308"/>
            </a:avLst>
          </a:prstGeom>
          <a:solidFill>
            <a:srgbClr val="FEF3C7"/>
          </a:solidFill>
          <a:ln w="9525">
            <a:solidFill>
              <a:srgbClr val="FDE68A"/>
            </a:solidFill>
            <a:prstDash val="solid"/>
          </a:ln>
        </p:spPr>
      </p:sp>
      <p:sp>
        <p:nvSpPr>
          <p:cNvPr id="29" name="Text 26"/>
          <p:cNvSpPr txBox="1"/>
          <p:nvPr/>
        </p:nvSpPr>
        <p:spPr>
          <a:xfrm>
            <a:off x="640080" y="4050792"/>
            <a:ext cx="7863840" cy="548640"/>
          </a:xfrm>
          <a:prstGeom prst="rect">
            <a:avLst/>
          </a:prstGeom>
          <a:noFill/>
          <a:ln/>
        </p:spPr>
        <p:txBody>
          <a:bodyPr wrap="square" lIns="0" tIns="0" rIns="0" bIns="0" rtlCol="0" anchor="ctr"/>
          <a:lstStyle/>
          <a:p>
            <a:pPr indent="0" marL="0">
              <a:buNone/>
            </a:pPr>
            <a:r>
              <a:rPr lang="en-US" sz="1150" b="1" dirty="0">
                <a:solidFill>
                  <a:srgbClr val="B45309"/>
                </a:solidFill>
              </a:rPr>
              <a:t>Fallback: </a:t>
            </a:r>
            <a:pPr indent="0" marL="0">
              <a:buNone/>
            </a:pPr>
            <a:r>
              <a:rPr lang="en-US" sz="1150" dirty="0">
                <a:solidFill>
                  <a:schemeClr val="tx1"/>
                </a:solidFill>
              </a:rPr>
              <a:t>wake Render 5 minutes early · keep a local build ready · use the screenshots in this deck if a provider is down.</a:t>
            </a:r>
            <a:endParaRPr lang="en-US" sz="11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457200"/>
            <a:ext cx="8046720" cy="640080"/>
          </a:xfrm>
          <a:prstGeom prst="rect">
            <a:avLst/>
          </a:prstGeom>
          <a:noFill/>
          <a:ln/>
        </p:spPr>
        <p:txBody>
          <a:bodyPr wrap="square" lIns="0" tIns="0" rIns="0" bIns="0" rtlCol="0" anchor="t"/>
          <a:lstStyle/>
          <a:p>
            <a:pPr indent="0" marL="0">
              <a:buNone/>
            </a:pPr>
            <a:r>
              <a:rPr lang="en-US" sz="3400" b="1" dirty="0">
                <a:solidFill>
                  <a:schemeClr val="bg1"/>
                </a:solidFill>
              </a:rPr>
              <a:t>Conclusion</a:t>
            </a:r>
            <a:endParaRPr lang="en-US" sz="3400" dirty="0"/>
          </a:p>
        </p:txBody>
      </p:sp>
      <p:sp>
        <p:nvSpPr>
          <p:cNvPr id="3" name="Text 1"/>
          <p:cNvSpPr txBox="1"/>
          <p:nvPr/>
        </p:nvSpPr>
        <p:spPr>
          <a:xfrm>
            <a:off x="548640" y="1280160"/>
            <a:ext cx="1828800" cy="457200"/>
          </a:xfrm>
          <a:prstGeom prst="rect">
            <a:avLst/>
          </a:prstGeom>
          <a:noFill/>
          <a:ln/>
        </p:spPr>
        <p:txBody>
          <a:bodyPr wrap="square" lIns="0" tIns="0" rIns="0" bIns="0" rtlCol="0" anchor="ctr"/>
          <a:lstStyle/>
          <a:p>
            <a:pPr indent="0" marL="0">
              <a:buNone/>
            </a:pPr>
            <a:r>
              <a:rPr lang="en-US" sz="1400" b="1" dirty="0">
                <a:solidFill>
                  <a:srgbClr val="68CFC0"/>
                </a:solidFill>
              </a:rPr>
              <a:t>Real problem</a:t>
            </a:r>
            <a:endParaRPr lang="en-US" sz="1400" dirty="0"/>
          </a:p>
        </p:txBody>
      </p:sp>
      <p:sp>
        <p:nvSpPr>
          <p:cNvPr id="4" name="Text 2"/>
          <p:cNvSpPr txBox="1"/>
          <p:nvPr/>
        </p:nvSpPr>
        <p:spPr>
          <a:xfrm>
            <a:off x="2468880" y="1280160"/>
            <a:ext cx="6217920" cy="457200"/>
          </a:xfrm>
          <a:prstGeom prst="rect">
            <a:avLst/>
          </a:prstGeom>
          <a:noFill/>
          <a:ln/>
        </p:spPr>
        <p:txBody>
          <a:bodyPr wrap="square" lIns="0" tIns="0" rIns="0" bIns="0" rtlCol="0" anchor="ctr"/>
          <a:lstStyle/>
          <a:p>
            <a:pPr indent="0" marL="0">
              <a:buNone/>
            </a:pPr>
            <a:r>
              <a:rPr lang="en-US" sz="1400" dirty="0">
                <a:solidFill>
                  <a:schemeClr val="bg1"/>
                </a:solidFill>
              </a:rPr>
              <a:t>Physical, uncertain queues → live, multi-counter, multi-service</a:t>
            </a:r>
            <a:endParaRPr lang="en-US" sz="1400" dirty="0"/>
          </a:p>
        </p:txBody>
      </p:sp>
      <p:sp>
        <p:nvSpPr>
          <p:cNvPr id="5" name="Text 3"/>
          <p:cNvSpPr txBox="1"/>
          <p:nvPr/>
        </p:nvSpPr>
        <p:spPr>
          <a:xfrm>
            <a:off x="548640" y="1828800"/>
            <a:ext cx="1828800" cy="457200"/>
          </a:xfrm>
          <a:prstGeom prst="rect">
            <a:avLst/>
          </a:prstGeom>
          <a:noFill/>
          <a:ln/>
        </p:spPr>
        <p:txBody>
          <a:bodyPr wrap="square" lIns="0" tIns="0" rIns="0" bIns="0" rtlCol="0" anchor="ctr"/>
          <a:lstStyle/>
          <a:p>
            <a:pPr indent="0" marL="0">
              <a:buNone/>
            </a:pPr>
            <a:r>
              <a:rPr lang="en-US" sz="1400" b="1" dirty="0">
                <a:solidFill>
                  <a:srgbClr val="68CFC0"/>
                </a:solidFill>
              </a:rPr>
              <a:t>Engineering</a:t>
            </a:r>
            <a:endParaRPr lang="en-US" sz="1400" dirty="0"/>
          </a:p>
        </p:txBody>
      </p:sp>
      <p:sp>
        <p:nvSpPr>
          <p:cNvPr id="6" name="Text 4"/>
          <p:cNvSpPr txBox="1"/>
          <p:nvPr/>
        </p:nvSpPr>
        <p:spPr>
          <a:xfrm>
            <a:off x="2468880" y="1828800"/>
            <a:ext cx="6217920" cy="457200"/>
          </a:xfrm>
          <a:prstGeom prst="rect">
            <a:avLst/>
          </a:prstGeom>
          <a:noFill/>
          <a:ln/>
        </p:spPr>
        <p:txBody>
          <a:bodyPr wrap="square" lIns="0" tIns="0" rIns="0" bIns="0" rtlCol="0" anchor="ctr"/>
          <a:lstStyle/>
          <a:p>
            <a:pPr indent="0" marL="0">
              <a:buNone/>
            </a:pPr>
            <a:r>
              <a:rPr lang="en-US" sz="1400" dirty="0">
                <a:solidFill>
                  <a:schemeClr val="bg1"/>
                </a:solidFill>
              </a:rPr>
              <a:t>Server-authoritative dispatch · transactions · DB-enforced rules</a:t>
            </a:r>
            <a:endParaRPr lang="en-US" sz="1400" dirty="0"/>
          </a:p>
        </p:txBody>
      </p:sp>
      <p:sp>
        <p:nvSpPr>
          <p:cNvPr id="7" name="Text 5"/>
          <p:cNvSpPr txBox="1"/>
          <p:nvPr/>
        </p:nvSpPr>
        <p:spPr>
          <a:xfrm>
            <a:off x="548640" y="2377440"/>
            <a:ext cx="1828800" cy="457200"/>
          </a:xfrm>
          <a:prstGeom prst="rect">
            <a:avLst/>
          </a:prstGeom>
          <a:noFill/>
          <a:ln/>
        </p:spPr>
        <p:txBody>
          <a:bodyPr wrap="square" lIns="0" tIns="0" rIns="0" bIns="0" rtlCol="0" anchor="ctr"/>
          <a:lstStyle/>
          <a:p>
            <a:pPr indent="0" marL="0">
              <a:buNone/>
            </a:pPr>
            <a:r>
              <a:rPr lang="en-US" sz="1400" b="1" dirty="0">
                <a:solidFill>
                  <a:srgbClr val="68CFC0"/>
                </a:solidFill>
              </a:rPr>
              <a:t>Realtime</a:t>
            </a:r>
            <a:endParaRPr lang="en-US" sz="1400" dirty="0"/>
          </a:p>
        </p:txBody>
      </p:sp>
      <p:sp>
        <p:nvSpPr>
          <p:cNvPr id="8" name="Text 6"/>
          <p:cNvSpPr txBox="1"/>
          <p:nvPr/>
        </p:nvSpPr>
        <p:spPr>
          <a:xfrm>
            <a:off x="2468880" y="2377440"/>
            <a:ext cx="6217920" cy="457200"/>
          </a:xfrm>
          <a:prstGeom prst="rect">
            <a:avLst/>
          </a:prstGeom>
          <a:noFill/>
          <a:ln/>
        </p:spPr>
        <p:txBody>
          <a:bodyPr wrap="square" lIns="0" tIns="0" rIns="0" bIns="0" rtlCol="0" anchor="ctr"/>
          <a:lstStyle/>
          <a:p>
            <a:pPr indent="0" marL="0">
              <a:buNone/>
            </a:pPr>
            <a:r>
              <a:rPr lang="en-US" sz="1400" dirty="0">
                <a:solidFill>
                  <a:schemeClr val="bg1"/>
                </a:solidFill>
              </a:rPr>
              <a:t>Socket.io across Android, iPhone and the dashboard</a:t>
            </a:r>
            <a:endParaRPr lang="en-US" sz="1400" dirty="0"/>
          </a:p>
        </p:txBody>
      </p:sp>
      <p:sp>
        <p:nvSpPr>
          <p:cNvPr id="9" name="Text 7"/>
          <p:cNvSpPr txBox="1"/>
          <p:nvPr/>
        </p:nvSpPr>
        <p:spPr>
          <a:xfrm>
            <a:off x="548640" y="2926080"/>
            <a:ext cx="1828800" cy="457200"/>
          </a:xfrm>
          <a:prstGeom prst="rect">
            <a:avLst/>
          </a:prstGeom>
          <a:noFill/>
          <a:ln/>
        </p:spPr>
        <p:txBody>
          <a:bodyPr wrap="square" lIns="0" tIns="0" rIns="0" bIns="0" rtlCol="0" anchor="ctr"/>
          <a:lstStyle/>
          <a:p>
            <a:pPr indent="0" marL="0">
              <a:buNone/>
            </a:pPr>
            <a:r>
              <a:rPr lang="en-US" sz="1400" b="1" dirty="0">
                <a:solidFill>
                  <a:srgbClr val="68CFC0"/>
                </a:solidFill>
              </a:rPr>
              <a:t>Trust</a:t>
            </a:r>
            <a:endParaRPr lang="en-US" sz="1400" dirty="0"/>
          </a:p>
        </p:txBody>
      </p:sp>
      <p:sp>
        <p:nvSpPr>
          <p:cNvPr id="10" name="Text 8"/>
          <p:cNvSpPr txBox="1"/>
          <p:nvPr/>
        </p:nvSpPr>
        <p:spPr>
          <a:xfrm>
            <a:off x="2468880" y="2926080"/>
            <a:ext cx="6217920" cy="457200"/>
          </a:xfrm>
          <a:prstGeom prst="rect">
            <a:avLst/>
          </a:prstGeom>
          <a:noFill/>
          <a:ln/>
        </p:spPr>
        <p:txBody>
          <a:bodyPr wrap="square" lIns="0" tIns="0" rIns="0" bIns="0" rtlCol="0" anchor="ctr"/>
          <a:lstStyle/>
          <a:p>
            <a:pPr indent="0" marL="0">
              <a:buNone/>
            </a:pPr>
            <a:r>
              <a:rPr lang="en-US" sz="1400" dirty="0">
                <a:solidFill>
                  <a:schemeClr val="bg1"/>
                </a:solidFill>
              </a:rPr>
              <a:t>Instant revocation · immutable audit · governance &amp; succession</a:t>
            </a:r>
            <a:endParaRPr lang="en-US" sz="1400" dirty="0"/>
          </a:p>
        </p:txBody>
      </p:sp>
      <p:sp>
        <p:nvSpPr>
          <p:cNvPr id="11" name="Text 9"/>
          <p:cNvSpPr txBox="1"/>
          <p:nvPr/>
        </p:nvSpPr>
        <p:spPr>
          <a:xfrm>
            <a:off x="548640" y="3474720"/>
            <a:ext cx="1828800" cy="457200"/>
          </a:xfrm>
          <a:prstGeom prst="rect">
            <a:avLst/>
          </a:prstGeom>
          <a:noFill/>
          <a:ln/>
        </p:spPr>
        <p:txBody>
          <a:bodyPr wrap="square" lIns="0" tIns="0" rIns="0" bIns="0" rtlCol="0" anchor="ctr"/>
          <a:lstStyle/>
          <a:p>
            <a:pPr indent="0" marL="0">
              <a:buNone/>
            </a:pPr>
            <a:r>
              <a:rPr lang="en-US" sz="1400" b="1" dirty="0">
                <a:solidFill>
                  <a:srgbClr val="68CFC0"/>
                </a:solidFill>
              </a:rPr>
              <a:t>Honest scale</a:t>
            </a:r>
            <a:endParaRPr lang="en-US" sz="1400" dirty="0"/>
          </a:p>
        </p:txBody>
      </p:sp>
      <p:sp>
        <p:nvSpPr>
          <p:cNvPr id="12" name="Text 10"/>
          <p:cNvSpPr txBox="1"/>
          <p:nvPr/>
        </p:nvSpPr>
        <p:spPr>
          <a:xfrm>
            <a:off x="2468880" y="3474720"/>
            <a:ext cx="6217920" cy="457200"/>
          </a:xfrm>
          <a:prstGeom prst="rect">
            <a:avLst/>
          </a:prstGeom>
          <a:noFill/>
          <a:ln/>
        </p:spPr>
        <p:txBody>
          <a:bodyPr wrap="square" lIns="0" tIns="0" rIns="0" bIns="0" rtlCol="0" anchor="ctr"/>
          <a:lstStyle/>
          <a:p>
            <a:pPr indent="0" marL="0">
              <a:buNone/>
            </a:pPr>
            <a:r>
              <a:rPr lang="en-US" sz="1400" dirty="0">
                <a:solidFill>
                  <a:schemeClr val="bg1"/>
                </a:solidFill>
              </a:rPr>
              <a:t>Free today; first limit is egress (fixable); clear upgrade path</a:t>
            </a:r>
            <a:endParaRPr lang="en-US" sz="1400" dirty="0"/>
          </a:p>
        </p:txBody>
      </p:sp>
      <p:sp>
        <p:nvSpPr>
          <p:cNvPr id="13" name="Text 11"/>
          <p:cNvSpPr txBox="1"/>
          <p:nvPr/>
        </p:nvSpPr>
        <p:spPr>
          <a:xfrm>
            <a:off x="548640" y="4206240"/>
            <a:ext cx="8046720" cy="548640"/>
          </a:xfrm>
          <a:prstGeom prst="rect">
            <a:avLst/>
          </a:prstGeom>
          <a:noFill/>
          <a:ln/>
        </p:spPr>
        <p:txBody>
          <a:bodyPr wrap="square" lIns="0" tIns="0" rIns="0" bIns="0" rtlCol="0" anchor="t"/>
          <a:lstStyle/>
          <a:p>
            <a:pPr indent="0" marL="0">
              <a:buNone/>
            </a:pPr>
            <a:r>
              <a:rPr lang="en-US" sz="3000" b="1" dirty="0">
                <a:solidFill>
                  <a:schemeClr val="bg1"/>
                </a:solidFill>
              </a:rPr>
              <a:t>Questions?</a:t>
            </a:r>
            <a:endParaRPr lang="en-US" sz="3000" dirty="0"/>
          </a:p>
        </p:txBody>
      </p:sp>
    </p:spTree>
  </p:cSld>
  <p:clrMapOvr>
    <a:masterClrMapping/>
  </p:clrMapOvr>
</p:sld>
</file>

<file path=ppt/theme/theme1.xml><?xml version="1.0" encoding="utf-8"?>
<a:theme xmlns:a="http://schemas.openxmlformats.org/drawingml/2006/main" name="LiveQueue">
  <a:themeElements>
    <a:clrScheme name="LiveQueue">
      <a:dk1>
        <a:srgbClr val="0F172A"/>
      </a:dk1>
      <a:lt1>
        <a:srgbClr val="FFFFFF"/>
      </a:lt1>
      <a:dk2>
        <a:srgbClr val="0C2B4B"/>
      </a:dk2>
      <a:lt2>
        <a:srgbClr val="EEF5FC"/>
      </a:lt2>
      <a:accent1>
        <a:srgbClr val="0F539E"/>
      </a:accent1>
      <a:accent2>
        <a:srgbClr val="25A596"/>
      </a:accent2>
      <a:accent3>
        <a:srgbClr val="B45309"/>
      </a:accent3>
      <a:accent4>
        <a:srgbClr val="475569"/>
      </a:accent4>
      <a:accent5>
        <a:srgbClr val="B91C1C"/>
      </a:accent5>
      <a:accent6>
        <a:srgbClr val="15803D"/>
      </a:accent6>
      <a:hlink>
        <a:srgbClr val="0F539E"/>
      </a:hlink>
      <a:folHlink>
        <a:srgbClr val="0C2B4B"/>
      </a:folHlink>
    </a:clrScheme>
    <a:fontScheme name="LiveQueu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LiveQueue — A Real-Time Digital Queue Management Platform</dc:title>
  <dc:subject>PptxGenJS Presentation</dc:subject>
  <dc:creator>LiveQueue</dc:creator>
  <cp:lastModifiedBy>LiveQueue</cp:lastModifiedBy>
  <cp:revision>1</cp:revision>
  <dcterms:created xsi:type="dcterms:W3CDTF">2026-10-09T01:52:51Z</dcterms:created>
  <dcterms:modified xsi:type="dcterms:W3CDTF">2026-10-09T01:52:51Z</dcterms:modified>
</cp:coreProperties>
</file>